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4" r:id="rId5"/>
  </p:sldMasterIdLst>
  <p:notesMasterIdLst>
    <p:notesMasterId r:id="rId33"/>
  </p:notesMasterIdLst>
  <p:sldIdLst>
    <p:sldId id="376" r:id="rId6"/>
    <p:sldId id="457" r:id="rId7"/>
    <p:sldId id="8449" r:id="rId8"/>
    <p:sldId id="5535" r:id="rId9"/>
    <p:sldId id="8448" r:id="rId10"/>
    <p:sldId id="5942" r:id="rId11"/>
    <p:sldId id="6147" r:id="rId12"/>
    <p:sldId id="6353" r:id="rId13"/>
    <p:sldId id="6560" r:id="rId14"/>
    <p:sldId id="6768" r:id="rId15"/>
    <p:sldId id="6977" r:id="rId16"/>
    <p:sldId id="7187" r:id="rId17"/>
    <p:sldId id="7398" r:id="rId18"/>
    <p:sldId id="7610" r:id="rId19"/>
    <p:sldId id="8037" r:id="rId20"/>
    <p:sldId id="8246" r:id="rId21"/>
    <p:sldId id="8447" r:id="rId22"/>
    <p:sldId id="383" r:id="rId23"/>
    <p:sldId id="3161" r:id="rId24"/>
    <p:sldId id="3376" r:id="rId25"/>
    <p:sldId id="7823" r:id="rId26"/>
    <p:sldId id="3592" r:id="rId27"/>
    <p:sldId id="3809" r:id="rId28"/>
    <p:sldId id="2147483646" r:id="rId29"/>
    <p:sldId id="4466" r:id="rId30"/>
    <p:sldId id="4687" r:id="rId31"/>
    <p:sldId id="490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DCDA3C-9043-AC20-B172-32E16A38973D}" name="Archana Ramesh" initials="AR" userId="S::arramesh@microsoft.com::3f0eb4b7-fb6e-4e0d-9af9-e7e0cd2e4676" providerId="AD"/>
  <p188:author id="{6610B59E-FCF4-B09A-340A-CFC8B8C923CB}" name="Dina Zukic" initials="DZ" userId="S::dinazukic@microsoft.com::56482eeb-7dfb-4467-8c50-64bfb747cc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DD5"/>
    <a:srgbClr val="A224FF"/>
    <a:srgbClr val="00B397"/>
    <a:srgbClr val="9BC72A"/>
    <a:srgbClr val="FF32A3"/>
    <a:srgbClr val="CB85FF"/>
    <a:srgbClr val="0097F4"/>
    <a:srgbClr val="FFA200"/>
    <a:srgbClr val="D6D6FF"/>
    <a:srgbClr val="FFD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25"/>
    <p:restoredTop sz="96098"/>
  </p:normalViewPr>
  <p:slideViewPr>
    <p:cSldViewPr snapToGrid="0">
      <p:cViewPr varScale="1">
        <p:scale>
          <a:sx n="120" d="100"/>
          <a:sy n="120" d="100"/>
        </p:scale>
        <p:origin x="47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85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4E41-54C1-B64A-DEE5-96C0C9E3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2E09A-A0DF-0A42-7BFA-427C79B3E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29275" cy="316706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D44F3-2798-2ACF-7E59-647C561DF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4684" y="4516497"/>
            <a:ext cx="5629932" cy="14927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2452A-9CA1-438F-C438-FDCA9D1142A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 October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B9E7D-5450-13DE-9F30-E9BD1C94A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027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C94C-6D78-306C-5E6D-3E542DE9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0688B-46C2-FB9F-6F6C-9EE96A8BA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3620B-34E3-8FBA-F1F3-205BD65AE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9C076-F28C-F528-93BC-1B76C8915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20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F91A-BE0B-5C0B-18CC-07C159FA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3DD9E-3963-0FFF-D602-E5715FD50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47D18-1B5D-91CA-1743-96B2D2283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727E5-F753-B60E-839C-3CF4383E3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59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9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80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23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43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58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42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27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3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30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4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9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00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E8E9-90DC-0C76-6CF1-F7D9DDFC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38201-59A3-763E-43C5-992844CDB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84BAB-F872-0AD7-DCBD-E5145517D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A306-42D2-8B74-9065-2A984D8FCD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 October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F8EF8-8F7F-6827-7E69-B4557EB07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082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8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24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C556AB-7EE5-48F9-9889-1587351E20F9}" type="slidenum"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71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C3C0-7F79-8FF7-828B-77F681208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BA791-2654-B7F3-71A7-7E6C3AF27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495F4-E667-E1B8-4887-D0E0FFE27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A4923-ED0A-8454-39FE-BD6337F8F72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 October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A3167-4C03-1585-DA70-021F4EEF4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868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61342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3152F8-D861-BE2B-0DC7-5F256EE8ED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9ABCAE-7407-D85E-A5D8-4DDC1F08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subTitle" sz="quarter" idx="10" hasCustomPrompt="1"/>
          </p:nvPr>
        </p:nvSpPr>
        <p:spPr>
          <a:xfrm>
            <a:off x="585215" y="960120"/>
            <a:ext cx="10995660" cy="27699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800">
                <a:solidFill>
                  <a:srgbClr val="0D0619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4932DBB-F080-15CB-A13D-007A0E2A014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5215" y="2019300"/>
            <a:ext cx="2538413" cy="16312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938577-3A2E-46CB-D2B1-D166C5AC6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035" y="2019300"/>
            <a:ext cx="2538413" cy="16312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DD4D02B-0D3E-763A-5400-E1F68FD84E2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50855" y="2019300"/>
            <a:ext cx="2538413" cy="16312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B98F0C-553F-45EF-0EA3-DE4DAD8760A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9083676" y="2019300"/>
            <a:ext cx="2498724" cy="16312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0CC8A979-8AB8-4200-42E7-0B13DA457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1" y="6456459"/>
            <a:ext cx="11025188" cy="10785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8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tabLst>
                <a:tab pos="11029950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8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74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 (NEW)">
    <p:bg>
      <p:bgPr>
        <a:gradFill>
          <a:gsLst>
            <a:gs pos="100000">
              <a:schemeClr val="accent1"/>
            </a:gs>
            <a:gs pos="23000">
              <a:srgbClr val="5647E5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6B06EEA-E77B-13B6-0AD4-1892C3D624A5}"/>
              </a:ext>
            </a:extLst>
          </p:cNvPr>
          <p:cNvSpPr/>
          <p:nvPr/>
        </p:nvSpPr>
        <p:spPr bwMode="auto">
          <a:xfrm>
            <a:off x="1524" y="0"/>
            <a:ext cx="12188952" cy="6858000"/>
          </a:xfrm>
          <a:prstGeom prst="rect">
            <a:avLst/>
          </a:prstGeom>
          <a:gradFill>
            <a:gsLst>
              <a:gs pos="100000">
                <a:srgbClr val="01062E"/>
              </a:gs>
              <a:gs pos="23000">
                <a:srgbClr val="350E60"/>
              </a:gs>
            </a:gsLst>
            <a:path path="circle">
              <a:fillToRect r="100000" b="100000"/>
            </a:path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ABFD58E-B5AD-504F-0A65-7E10B34D3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7963" b="18027"/>
          <a:stretch>
            <a:fillRect/>
          </a:stretch>
        </p:blipFill>
        <p:spPr>
          <a:xfrm>
            <a:off x="0" y="3839803"/>
            <a:ext cx="12192000" cy="301819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17BA38C-A4B6-60AE-CCFD-BCC899865AED}"/>
              </a:ext>
            </a:extLst>
          </p:cNvPr>
          <p:cNvSpPr/>
          <p:nvPr/>
        </p:nvSpPr>
        <p:spPr bwMode="auto">
          <a:xfrm>
            <a:off x="2221562" y="6643837"/>
            <a:ext cx="64768" cy="64768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>
            <a:glow rad="50800">
              <a:srgbClr val="97DDF7">
                <a:alpha val="35000"/>
              </a:srgbClr>
            </a:glow>
            <a:softEdge rad="127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75CB8B-15C6-FC03-6604-F92058EF8210}"/>
              </a:ext>
            </a:extLst>
          </p:cNvPr>
          <p:cNvSpPr/>
          <p:nvPr/>
        </p:nvSpPr>
        <p:spPr bwMode="auto">
          <a:xfrm>
            <a:off x="7345761" y="4331927"/>
            <a:ext cx="64768" cy="64768"/>
          </a:xfrm>
          <a:prstGeom prst="ellipse">
            <a:avLst/>
          </a:prstGeom>
          <a:solidFill>
            <a:srgbClr val="C0FFF8"/>
          </a:solidFill>
          <a:ln>
            <a:noFill/>
            <a:headEnd type="none" w="med" len="med"/>
            <a:tailEnd type="none" w="med" len="med"/>
          </a:ln>
          <a:effectLst>
            <a:glow rad="50800">
              <a:srgbClr val="97DDF7">
                <a:alpha val="35000"/>
              </a:srgbClr>
            </a:glow>
            <a:softEdge rad="127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BF69D8-F718-83FB-B442-B4C94FFCAA9E}"/>
              </a:ext>
            </a:extLst>
          </p:cNvPr>
          <p:cNvSpPr/>
          <p:nvPr/>
        </p:nvSpPr>
        <p:spPr bwMode="auto">
          <a:xfrm>
            <a:off x="11542016" y="4770708"/>
            <a:ext cx="64768" cy="64768"/>
          </a:xfrm>
          <a:prstGeom prst="ellipse">
            <a:avLst/>
          </a:prstGeom>
          <a:solidFill>
            <a:srgbClr val="C0FFF8"/>
          </a:solidFill>
          <a:ln>
            <a:noFill/>
            <a:headEnd type="none" w="med" len="med"/>
            <a:tailEnd type="none" w="med" len="med"/>
          </a:ln>
          <a:effectLst>
            <a:glow rad="50800">
              <a:srgbClr val="97DDF7">
                <a:alpha val="35000"/>
              </a:srgbClr>
            </a:glow>
            <a:softEdge rad="127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D53ED849-6A79-83F3-5810-47E57ADA8376}"/>
              </a:ext>
            </a:extLst>
          </p:cNvPr>
          <p:cNvSpPr/>
          <p:nvPr/>
        </p:nvSpPr>
        <p:spPr>
          <a:xfrm>
            <a:off x="9923442" y="730250"/>
            <a:ext cx="2268558" cy="53975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7862C3F4-EC0F-0198-461E-0010839B5062}"/>
              </a:ext>
            </a:extLst>
          </p:cNvPr>
          <p:cNvSpPr/>
          <p:nvPr/>
        </p:nvSpPr>
        <p:spPr>
          <a:xfrm>
            <a:off x="0" y="-3278"/>
            <a:ext cx="4832848" cy="4848328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85216" y="2309020"/>
            <a:ext cx="4062984" cy="498598"/>
          </a:xfrm>
          <a:noFill/>
        </p:spPr>
        <p:txBody>
          <a:bodyPr wrap="square" lIns="0" tIns="0" rIns="0" bIns="0" anchor="ctr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173" name="Picture 172" hidden="1">
            <a:extLst>
              <a:ext uri="{FF2B5EF4-FFF2-40B4-BE49-F238E27FC236}">
                <a16:creationId xmlns:a16="http://schemas.microsoft.com/office/drawing/2014/main" id="{F741FD38-AEB1-C145-4B9B-3FE9140171B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3600000">
            <a:off x="7375639" y="-4025458"/>
            <a:ext cx="7168414" cy="107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69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85215" y="529233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85215" y="1435503"/>
            <a:ext cx="11018520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+mn-ea"/>
              <a:cs typeface="+mn-cs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69A61-4C59-6F15-B81F-71261F0C27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957194" y="-193277"/>
            <a:ext cx="102271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A3A3A3"/>
                </a:solidFill>
              </a:defRPr>
            </a:lvl1pPr>
          </a:lstStyle>
          <a:p>
            <a:pPr lvl="0" algn="r"/>
            <a:r>
              <a:rPr lang="en-US" sz="800"/>
              <a:t>AITP-GTM - DE 8.19.26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FDEA6507-BC3E-3BA3-1872-798F3322AECA}"/>
              </a:ext>
            </a:extLst>
          </p:cNvPr>
          <p:cNvSpPr/>
          <p:nvPr userDrawn="1"/>
        </p:nvSpPr>
        <p:spPr bwMode="auto">
          <a:xfrm>
            <a:off x="12012095" y="-221674"/>
            <a:ext cx="179905" cy="179905"/>
          </a:xfrm>
          <a:prstGeom prst="star5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23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+mn-cs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18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600" kern="1200" spc="0" baseline="0">
          <a:solidFill>
            <a:schemeClr val="accent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40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00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6858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100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28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11" Type="http://schemas.openxmlformats.org/officeDocument/2006/relationships/slide" Target="slide14.xml"/><Relationship Id="rId5" Type="http://schemas.openxmlformats.org/officeDocument/2006/relationships/slide" Target="slide8.xml"/><Relationship Id="rId10" Type="http://schemas.openxmlformats.org/officeDocument/2006/relationships/slide" Target="slide13.xml"/><Relationship Id="rId4" Type="http://schemas.openxmlformats.org/officeDocument/2006/relationships/slide" Target="slide7.xml"/><Relationship Id="rId9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7" Type="http://schemas.openxmlformats.org/officeDocument/2006/relationships/hyperlink" Target="https://aka.ms/CopilotCoworkDoc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killing-hub.com/en-US/search" TargetMode="External"/><Relationship Id="rId5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Community%20Calls%20and%20Sessions%2FDecks%20and%20Recordings%2FCowork%20Micro%2DLearning%20Series%2FSession%204%20%2D%20September%208%2C%202026%20Cowork%20Micro%2DLearning%20Series&amp;p=true&amp;share=cgr8vvdFUSmKSL%2DjworIymGfEgUC%2DyDMM1T0k7%5FNqTaWi966ig" TargetMode="External"/><Relationship Id="rId4" Type="http://schemas.openxmlformats.org/officeDocument/2006/relationships/hyperlink" Target="https://aka.ms/CopilotPartnerGuid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WhyMicrosoftForPartn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ka.ms/CopilotCoworkDocs" TargetMode="External"/><Relationship Id="rId4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Office%20Hours%20and%20Sessions%2FDecks%20and%20Recordings%2FCowork%20Micro%2DLearning%20Series%2FSession%203%20%2D%20September%202%2C%202026%20Cowork%20Micro%2DLearning%20Series&amp;p=true&amp;share=cgre2K%5F7qeVkSIk07bl1PC72EgUC6Kdo38%2DKBrnuXHSROPcBNg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CoworkPartnerKit" TargetMode="External"/><Relationship Id="rId3" Type="http://schemas.openxmlformats.org/officeDocument/2006/relationships/hyperlink" Target="https://aka.ms/CopilotCreditPlanningModel" TargetMode="External"/><Relationship Id="rId7" Type="http://schemas.openxmlformats.org/officeDocument/2006/relationships/hyperlink" Target="https://nptnlopppecostweb.azurewebsites.n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Office%20Hours%20and%20Sessions%2FDecks%20and%20Recordings%2FCowork%20Micro%2DLearning%20Series%2FSession%202%20%2D%20August%2026%2C%202026%20Cowork%20Micro%2DLearning%20Series&amp;p=true&amp;share=cgoZH%5FYBWndsT5i2b1Gu%2D3xhEgUChrnlMED50N0E2%5Ff5XduBaw" TargetMode="External"/><Relationship Id="rId5" Type="http://schemas.openxmlformats.org/officeDocument/2006/relationships/hyperlink" Target="https://learn.microsoft.com/en-us/microsoft-365/copilot/usage-based-billing-overview-copilot-credits" TargetMode="External"/><Relationship Id="rId4" Type="http://schemas.openxmlformats.org/officeDocument/2006/relationships/hyperlink" Target="https://aka.ms/CopilotCredits/LicensingGuide" TargetMode="External"/><Relationship Id="rId9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Community%20Calls%20and%20Sessions%2FDecks%20and%20Recordings%2FCowork%20Micro%2DLearning%20Series%2FSession%204%20%2D%20September%208%2C%202026%20Cowork%20Micro%2DLearning%20Series&amp;p=true&amp;share=cgr8vvdFUSmKSL%2DjworIymGfEgUC%2DyDMM1T0k7%5FNqTaWi966i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ka.ms/ABSTrialsRequest" TargetMode="External"/><Relationship Id="rId5" Type="http://schemas.openxmlformats.org/officeDocument/2006/relationships/hyperlink" Target="https://aka.ms/CopilotPartnerGuide" TargetMode="External"/><Relationship Id="rId4" Type="http://schemas.openxmlformats.org/officeDocument/2006/relationships/hyperlink" Target="https://aka.ms/CopilotCreditPlanningMode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Community%20Calls%20and%20Sessions%2FDecks%20and%20Recordings%2FCowork%20Micro%2DLearning%20Series%2FSession%204%20%2D%20September%208%2C%202026%20Cowork%20Micro%2DLearning%20Series&amp;p=true&amp;share=cgr8vvdFUSmKSL%2DjworIymGfEgUC%2DyDMM1T0k7%5FNqTaWi966ig" TargetMode="External"/><Relationship Id="rId5" Type="http://schemas.openxmlformats.org/officeDocument/2006/relationships/hyperlink" Target="https://learn.microsoft.com/en-us/microsoft-365/copilot/cowork/cowork-faq" TargetMode="External"/><Relationship Id="rId4" Type="http://schemas.openxmlformats.org/officeDocument/2006/relationships/hyperlink" Target="https://adoption.microsoft.com/copilot/cowor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7" Type="http://schemas.openxmlformats.org/officeDocument/2006/relationships/hyperlink" Target="https://aka.ms/MicroSkillingCowor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doption.microsoft.com/copilot/cowork" TargetMode="External"/><Relationship Id="rId5" Type="http://schemas.openxmlformats.org/officeDocument/2006/relationships/hyperlink" Target="https://aka.ms/CopilotCoworkDocs" TargetMode="External"/><Relationship Id="rId4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Office%20Hours%20and%20Sessions%2FDecks%20and%20Recordings%2FCowork%20Micro%2DLearning%20Series%2FSession%201%20%2D%20August%2020%2C%202026%20Cowork%20Micro%2DLearning%20Series&amp;p=true&amp;share=cgq10%5Fr18GPvSYQiE2kwRLJDEgUCJkt8dXCm4FL5mROZ9BHUV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7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Other%20Resources%2FCopilot%20Analytics%20Enablement%20Resources&amp;p=true&amp;share=cgr5WHuYxN4GT5X7NN6YYq4lEgUCDc8Ybc4c6IgNvk5A9IQ6x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rosoft.github.io/Analytics-Hub/cowork-billing/" TargetMode="External"/><Relationship Id="rId5" Type="http://schemas.openxmlformats.org/officeDocument/2006/relationships/hyperlink" Target="https://microsoft.github.io/Analytics-Hub/choose-report/" TargetMode="External"/><Relationship Id="rId4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Office%20Hours%20and%20Sessions%2FDecks%20and%20Recordings%2FCowork%20Micro%2DLearning%20Series%2FSession%202%20%2D%20August%2026%2C%202026%20Cowork%20Micro%2DLearning%20Series&amp;p=true&amp;share=cgoZH%5FYBWndsT5i2b1Gu%2D3xhEgUChrnlMED50N0E2%5Ff5XduBaw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CopilotCreditPlanningModel" TargetMode="External"/><Relationship Id="rId3" Type="http://schemas.openxmlformats.org/officeDocument/2006/relationships/hyperlink" Target="https://aka.ms/CostManagementDemo" TargetMode="External"/><Relationship Id="rId7" Type="http://schemas.openxmlformats.org/officeDocument/2006/relationships/hyperlink" Target="https://microsoft.github.io/Analytics-Hub/cowork-billin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Community%20Calls%20and%20Sessions%2FDecks%20and%20Recordings%2FCowork%20Micro%2DLearning%20Series%2FSession%202%20%2D%20August%2026%2C%202026%20Cowork%20Micro%2DLearning%20Series&amp;p=true&amp;share=cgoZH%5FYBWndsT5i2b1Gu%2D3xhEgUChrnlMED50N0E2%5Ff5XduBaw" TargetMode="External"/><Relationship Id="rId5" Type="http://schemas.openxmlformats.org/officeDocument/2006/relationships/hyperlink" Target="https://aka.ms/CoworkPartnerLaunchKit" TargetMode="External"/><Relationship Id="rId4" Type="http://schemas.openxmlformats.org/officeDocument/2006/relationships/hyperlink" Target="https://aka.ms/CoworkPartnerKit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.github.io/Analytics-Hub/cowork-billing/" TargetMode="External"/><Relationship Id="rId3" Type="http://schemas.openxmlformats.org/officeDocument/2006/relationships/hyperlink" Target="https://aka.ms/CopilotCoworkDocs" TargetMode="External"/><Relationship Id="rId7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Community%20Calls%20and%20Sessions%2FDecks%20and%20Recordings%2FCowork%20Micro%2DLearning%20Series%2FSession%202%20%2D%20August%2026%2C%202026%20Cowork%20Micro%2DLearning%20Series&amp;p=true&amp;share=cgoZH%5FYBWndsT5i2b1Gu%2D3xhEgUChrnlMED50N0E2%5Ff5XduBa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ka.ms/CoworkPartnerKit" TargetMode="External"/><Relationship Id="rId5" Type="http://schemas.openxmlformats.org/officeDocument/2006/relationships/hyperlink" Target="https://aka.ms/CostManagementDemo" TargetMode="External"/><Relationship Id="rId4" Type="http://schemas.openxmlformats.org/officeDocument/2006/relationships/hyperlink" Target="https://aka.ms/CopilotCredits/Learn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CoworkOfferTemplates" TargetMode="External"/><Relationship Id="rId3" Type="http://schemas.openxmlformats.org/officeDocument/2006/relationships/hyperlink" Target="https://aka.ms/CoworkPartnerKit" TargetMode="External"/><Relationship Id="rId7" Type="http://schemas.openxmlformats.org/officeDocument/2006/relationships/hyperlink" Target="https://aka.ms/CoworkPartnerLaunchKi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ka.ms/CopilotCredits/Learn" TargetMode="External"/><Relationship Id="rId5" Type="http://schemas.openxmlformats.org/officeDocument/2006/relationships/hyperlink" Target="https://aka.ms/FY27PartnerGTMPlaybooks" TargetMode="External"/><Relationship Id="rId4" Type="http://schemas.openxmlformats.org/officeDocument/2006/relationships/hyperlink" Target="https://aka.ms/CopilotPartnerGuid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OfferTemplat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ka.ms/FY27PartnerGTMPlaybooks" TargetMode="External"/><Relationship Id="rId4" Type="http://schemas.openxmlformats.org/officeDocument/2006/relationships/hyperlink" Target="https://aka.ms/CopilotPartnerGuid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OfferTemplat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pilotPartnerGuide" TargetMode="External"/><Relationship Id="rId7" Type="http://schemas.openxmlformats.org/officeDocument/2006/relationships/hyperlink" Target="https://www.skilling-hub.com/en-US/program/microskilli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killing-hub.com/en-US/search" TargetMode="External"/><Relationship Id="rId5" Type="http://schemas.openxmlformats.org/officeDocument/2006/relationships/hyperlink" Target="https://forms.cloud.microsoft/r/RrfKr7dYuA" TargetMode="External"/><Relationship Id="rId4" Type="http://schemas.openxmlformats.org/officeDocument/2006/relationships/hyperlink" Target="https://www.finops.org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.sharepoint.com/:f:/r/teams/FY27CopilotAgentsPartnerCommunity-EPC/Shared%20Documents/Forms/AllItems.aspx?id=%2Fteams%2FFY27CopilotAgentsPartnerCommunity%2DEPC%2FShared%20Documents%2FCopilot%20and%20Agents%20Partners%2FOffice%20Hours%20and%20Sessions%2FDecks%20and%20Recordings%2FCowork%20Micro%2DLearning%20Series&amp;p=true&amp;share=cgqMxFFxx9sHRZ7WOzMVy8FPEgUC1sGszYw0zcHn1qgOOZb6t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artnerKi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CopilotCoworkDocs" TargetMode="External"/><Relationship Id="rId3" Type="http://schemas.openxmlformats.org/officeDocument/2006/relationships/hyperlink" Target="https://aka.ms/CoworkPartnerKit" TargetMode="External"/><Relationship Id="rId7" Type="http://schemas.openxmlformats.org/officeDocument/2006/relationships/hyperlink" Target="https://aka.ms/CostManagementDemo" TargetMode="External"/><Relationship Id="rId2" Type="http://schemas.openxmlformats.org/officeDocument/2006/relationships/hyperlink" Target="https://aka.ms/CopilotCreditPlanningMode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ka.ms/CopilotCredits/Learn" TargetMode="External"/><Relationship Id="rId5" Type="http://schemas.openxmlformats.org/officeDocument/2006/relationships/hyperlink" Target="https://aka.ms/CopilotCredits/LicensingGuide" TargetMode="External"/><Relationship Id="rId4" Type="http://schemas.openxmlformats.org/officeDocument/2006/relationships/hyperlink" Target="http://aka.ms/CustomerCoworkEstimator" TargetMode="External"/><Relationship Id="rId9" Type="http://schemas.openxmlformats.org/officeDocument/2006/relationships/hyperlink" Target="https://microsoft.github.io/Analytics-Hub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MicroSkillingCowork" TargetMode="External"/><Relationship Id="rId3" Type="http://schemas.openxmlformats.org/officeDocument/2006/relationships/hyperlink" Target="https://aka.ms/CoworkPartnerKit" TargetMode="External"/><Relationship Id="rId7" Type="http://schemas.openxmlformats.org/officeDocument/2006/relationships/hyperlink" Target="https://aka.ms/SMBPartnerPlaybook" TargetMode="External"/><Relationship Id="rId12" Type="http://schemas.openxmlformats.org/officeDocument/2006/relationships/hyperlink" Target="https://aka.ms/CoworkOfferTemplate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ka.ms/FY27PartnerGTMPlaybooks" TargetMode="External"/><Relationship Id="rId11" Type="http://schemas.openxmlformats.org/officeDocument/2006/relationships/hyperlink" Target="https://aka.ms/ABSTrialsRequest" TargetMode="External"/><Relationship Id="rId5" Type="http://schemas.openxmlformats.org/officeDocument/2006/relationships/hyperlink" Target="https://aka.ms/CopilotPartnerGuide" TargetMode="External"/><Relationship Id="rId10" Type="http://schemas.openxmlformats.org/officeDocument/2006/relationships/hyperlink" Target="https://aka.ms/WhyMicrosoftForPartners" TargetMode="External"/><Relationship Id="rId4" Type="http://schemas.openxmlformats.org/officeDocument/2006/relationships/hyperlink" Target="https://aka.ms/CoworkPartnerLaunchKit" TargetMode="External"/><Relationship Id="rId9" Type="http://schemas.openxmlformats.org/officeDocument/2006/relationships/hyperlink" Target="https://aka.ms/PartnerSkilling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0E55-72FB-272F-2883-FB3F59CC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70214E-3C0A-61A1-E853-1F77D2B7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l="33545" t="18274" r="3" b="15275"/>
          <a:stretch>
            <a:fillRect/>
          </a:stretch>
        </p:blipFill>
        <p:spPr>
          <a:xfrm>
            <a:off x="692" y="1"/>
            <a:ext cx="12190615" cy="6858000"/>
          </a:xfrm>
          <a:prstGeom prst="rect">
            <a:avLst/>
          </a:prstGeom>
        </p:spPr>
      </p:pic>
      <p:sp>
        <p:nvSpPr>
          <p:cNvPr id="2" name="2. Slide Title">
            <a:extLst>
              <a:ext uri="{FF2B5EF4-FFF2-40B4-BE49-F238E27FC236}">
                <a16:creationId xmlns:a16="http://schemas.microsoft.com/office/drawing/2014/main" id="{9AAB42E7-0CB6-2ACF-B308-F1F256D7504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7265" y="5599340"/>
            <a:ext cx="4266184" cy="16619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t" anchorCtr="0">
            <a:spAutoFit/>
          </a:bodyPr>
          <a:lstStyle/>
          <a:p>
            <a:r>
              <a:rPr lang="en-US" sz="1200" spc="0" dirty="0">
                <a:solidFill>
                  <a:schemeClr val="accent2"/>
                </a:solidFill>
              </a:rPr>
              <a:t>FRONTIER PARTNER INCUBATION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6D9ADD-8498-B442-BED2-48E81BFA8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995638" y="5464097"/>
            <a:ext cx="776172" cy="776172"/>
          </a:xfrm>
          <a:prstGeom prst="ellipse">
            <a:avLst/>
          </a:prstGeom>
          <a:gradFill flip="none" rotWithShape="1">
            <a:gsLst>
              <a:gs pos="50000">
                <a:schemeClr val="accent6">
                  <a:alpha val="66000"/>
                </a:schemeClr>
              </a:gs>
              <a:gs pos="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softEdge rad="1778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959FEE-875C-01B6-0317-D793A109E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38077" y="3952648"/>
            <a:ext cx="712430" cy="712430"/>
          </a:xfrm>
          <a:prstGeom prst="ellipse">
            <a:avLst/>
          </a:prstGeom>
          <a:gradFill flip="none" rotWithShape="1">
            <a:gsLst>
              <a:gs pos="37000">
                <a:schemeClr val="accent3"/>
              </a:gs>
              <a:gs pos="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softEdge rad="1778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81A477-3302-AE70-9904-0F9F0D803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356407" y="2217157"/>
            <a:ext cx="824120" cy="824120"/>
          </a:xfrm>
          <a:prstGeom prst="ellipse">
            <a:avLst/>
          </a:prstGeom>
          <a:gradFill flip="none" rotWithShape="1">
            <a:gsLst>
              <a:gs pos="34000">
                <a:schemeClr val="accent5"/>
              </a:gs>
              <a:gs pos="4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softEdge rad="1778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02FA36-B106-6E5F-F989-847D7405D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998741" y="465114"/>
            <a:ext cx="1043068" cy="1043068"/>
          </a:xfrm>
          <a:prstGeom prst="ellipse">
            <a:avLst/>
          </a:prstGeom>
          <a:gradFill flip="none" rotWithShape="1">
            <a:gsLst>
              <a:gs pos="50000">
                <a:schemeClr val="accent6">
                  <a:alpha val="66000"/>
                </a:schemeClr>
              </a:gs>
              <a:gs pos="0">
                <a:schemeClr val="bg1">
                  <a:alpha val="9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  <a:headEnd type="none" w="med" len="med"/>
            <a:tailEnd type="none" w="med" len="med"/>
          </a:ln>
          <a:effectLst>
            <a:softEdge rad="1778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" name="Rectangle 8" descr="Abstract illustration of rising usage bars, credit flow and a forecast-govern-optimize cycle.">
            <a:extLst>
              <a:ext uri="{FF2B5EF4-FFF2-40B4-BE49-F238E27FC236}">
                <a16:creationId xmlns:a16="http://schemas.microsoft.com/office/drawing/2014/main" id="{3EAD15AC-2102-A843-7068-88A6C8260C0B}"/>
              </a:ext>
            </a:extLst>
          </p:cNvPr>
          <p:cNvSpPr/>
          <p:nvPr/>
        </p:nvSpPr>
        <p:spPr>
          <a:xfrm>
            <a:off x="468461" y="1194362"/>
            <a:ext cx="7569615" cy="1356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Trebuchet MS"/>
              </a:rPr>
              <a:t>Resource Guide: AI</a:t>
            </a:r>
            <a:r>
              <a:rPr lang="en-US" sz="4000" b="1" dirty="0">
                <a:solidFill>
                  <a:srgbClr val="FFFFFF"/>
                </a:solidFill>
                <a:effectLst/>
                <a:latin typeface="Trebuchet MS"/>
              </a:rPr>
              <a:t> Advisory</a:t>
            </a:r>
            <a:r>
              <a:rPr lang="en-US" sz="4000" b="1" dirty="0">
                <a:solidFill>
                  <a:srgbClr val="FFFFFF"/>
                </a:solidFill>
                <a:latin typeface="Trebuchet MS"/>
              </a:rPr>
              <a:t> Practice Development </a:t>
            </a:r>
            <a:endParaRPr lang="en-US" sz="4000" b="1" dirty="0">
              <a:latin typeface="Trebuchet M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DB7B2-556A-2FBB-DF3C-DB236A89A9AA}"/>
              </a:ext>
            </a:extLst>
          </p:cNvPr>
          <p:cNvSpPr/>
          <p:nvPr/>
        </p:nvSpPr>
        <p:spPr>
          <a:xfrm>
            <a:off x="569170" y="2678317"/>
            <a:ext cx="1280160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830E4-50CD-4E98-98CC-15C37B7BEAA0}"/>
              </a:ext>
            </a:extLst>
          </p:cNvPr>
          <p:cNvSpPr/>
          <p:nvPr/>
        </p:nvSpPr>
        <p:spPr>
          <a:xfrm>
            <a:off x="468462" y="3154453"/>
            <a:ext cx="6629400" cy="1051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Find the capability you need to build.</a:t>
            </a:r>
          </a:p>
          <a:p>
            <a:pPr>
              <a:buNone/>
            </a:pPr>
            <a:r>
              <a:rPr lang="en-US" sz="20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Then find the exact resource that closes the gap.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180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03472 L 3.33333E-6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5" grpId="0" animBg="1"/>
      <p:bldP spid="5" grpId="1" animBg="1"/>
      <p:bldP spid="8" grpId="0" animBg="1"/>
      <p:bldP spid="8" grpId="1" animBg="1"/>
      <p:bldP spid="10" grpId="0" animBg="1"/>
      <p:bldP spid="10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43E5E32-14EB-9AD4-E837-A44D022E1480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Start with the gap you feel, not with the resource list.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F5A088-BE4D-A090-0FCB-3ED6828A5F13}"/>
              </a:ext>
            </a:extLst>
          </p:cNvPr>
          <p:cNvSpPr/>
          <p:nvPr/>
        </p:nvSpPr>
        <p:spPr>
          <a:xfrm>
            <a:off x="457200" y="112776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This deck is a </a:t>
            </a:r>
            <a:r>
              <a:rPr lang="en-US" sz="1600" b="1" i="1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router</a:t>
            </a:r>
            <a:r>
              <a:rPr lang="en-US" sz="16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. Three steps take you from a symptom to the one asset that fixes it.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A99DBE-8586-817C-1651-CB4BA59CE30C}"/>
              </a:ext>
            </a:extLst>
          </p:cNvPr>
          <p:cNvSpPr/>
          <p:nvPr/>
        </p:nvSpPr>
        <p:spPr>
          <a:xfrm>
            <a:off x="457200" y="2231929"/>
            <a:ext cx="3530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113506-1F5A-1546-62D7-B6DCA37C034A}"/>
              </a:ext>
            </a:extLst>
          </p:cNvPr>
          <p:cNvSpPr/>
          <p:nvPr/>
        </p:nvSpPr>
        <p:spPr>
          <a:xfrm>
            <a:off x="457200" y="2231929"/>
            <a:ext cx="3530600" cy="91440"/>
          </a:xfrm>
          <a:prstGeom prst="rect">
            <a:avLst/>
          </a:prstGeom>
          <a:solidFill>
            <a:srgbClr val="FFA20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A4A443-C7FF-B80B-1AB2-05A8B65753C0}"/>
              </a:ext>
            </a:extLst>
          </p:cNvPr>
          <p:cNvSpPr/>
          <p:nvPr/>
        </p:nvSpPr>
        <p:spPr>
          <a:xfrm>
            <a:off x="731520" y="2551969"/>
            <a:ext cx="29819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effectLst/>
                <a:latin typeface="Trebuchet MS" panose="020B0603020202020204" pitchFamily="34" charset="0"/>
              </a:rPr>
              <a:t>01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D0A95D-F969-3001-890D-98654700972F}"/>
              </a:ext>
            </a:extLst>
          </p:cNvPr>
          <p:cNvSpPr/>
          <p:nvPr/>
        </p:nvSpPr>
        <p:spPr>
          <a:xfrm>
            <a:off x="731520" y="2902489"/>
            <a:ext cx="2981960" cy="441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Spot the gap</a:t>
            </a:r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329FFDA-9421-3562-9166-745346859D45}"/>
              </a:ext>
            </a:extLst>
          </p:cNvPr>
          <p:cNvSpPr/>
          <p:nvPr/>
        </p:nvSpPr>
        <p:spPr>
          <a:xfrm>
            <a:off x="731520" y="3344449"/>
            <a:ext cx="2981960" cy="1356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82880" indent="-182880">
              <a:buAutoNum type="arabicPeriod"/>
            </a:pPr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Read the advisory 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components</a:t>
            </a:r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+ capabilities on </a:t>
            </a:r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slide 3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and 4</a:t>
            </a:r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endParaRPr lang="en-US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buAutoNum type="arabicPeriod"/>
            </a:pPr>
            <a:r>
              <a:rPr lang="en-US" sz="1600" b="1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Optional: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Take the self-assessment to identify your weakest category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DA32130-3E7F-87F6-042B-3DD147B85E15}"/>
              </a:ext>
            </a:extLst>
          </p:cNvPr>
          <p:cNvSpPr/>
          <p:nvPr/>
        </p:nvSpPr>
        <p:spPr>
          <a:xfrm>
            <a:off x="4330700" y="2231929"/>
            <a:ext cx="3530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5466B2-9D04-02CE-4F51-608443E4F3DD}"/>
              </a:ext>
            </a:extLst>
          </p:cNvPr>
          <p:cNvSpPr/>
          <p:nvPr/>
        </p:nvSpPr>
        <p:spPr>
          <a:xfrm>
            <a:off x="4330700" y="2231929"/>
            <a:ext cx="3530600" cy="91440"/>
          </a:xfrm>
          <a:prstGeom prst="rect">
            <a:avLst/>
          </a:prstGeom>
          <a:solidFill>
            <a:srgbClr val="9BC72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EF947A2-A8DD-84FE-54DC-F9B717C8308C}"/>
              </a:ext>
            </a:extLst>
          </p:cNvPr>
          <p:cNvSpPr/>
          <p:nvPr/>
        </p:nvSpPr>
        <p:spPr>
          <a:xfrm>
            <a:off x="4605020" y="2551969"/>
            <a:ext cx="29819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B050"/>
                </a:solidFill>
                <a:effectLst/>
                <a:latin typeface="Trebuchet MS" panose="020B0603020202020204" pitchFamily="34" charset="0"/>
              </a:rPr>
              <a:t>02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BB3EB92-7C20-EAC3-675E-DCDF698C8AC9}"/>
              </a:ext>
            </a:extLst>
          </p:cNvPr>
          <p:cNvSpPr/>
          <p:nvPr/>
        </p:nvSpPr>
        <p:spPr>
          <a:xfrm>
            <a:off x="4605020" y="2902489"/>
            <a:ext cx="2981960" cy="441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Open that category</a:t>
            </a:r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1A07E7F-547B-523C-87C9-CD88614815BB}"/>
              </a:ext>
            </a:extLst>
          </p:cNvPr>
          <p:cNvSpPr/>
          <p:nvPr/>
        </p:nvSpPr>
        <p:spPr>
          <a:xfrm>
            <a:off x="4605020" y="3344449"/>
            <a:ext cx="2981960" cy="1356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Every category slide carries a self-check and only the resources that close that specific gap.</a:t>
            </a:r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FEEE632-2762-4E13-BA75-2518C89967FA}"/>
              </a:ext>
            </a:extLst>
          </p:cNvPr>
          <p:cNvSpPr/>
          <p:nvPr/>
        </p:nvSpPr>
        <p:spPr>
          <a:xfrm>
            <a:off x="8204200" y="2231929"/>
            <a:ext cx="3530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072385C-F7F4-CBDC-3738-29A609BAFC3B}"/>
              </a:ext>
            </a:extLst>
          </p:cNvPr>
          <p:cNvSpPr/>
          <p:nvPr/>
        </p:nvSpPr>
        <p:spPr>
          <a:xfrm>
            <a:off x="8204200" y="2231929"/>
            <a:ext cx="3530600" cy="91440"/>
          </a:xfrm>
          <a:prstGeom prst="rect">
            <a:avLst/>
          </a:prstGeom>
          <a:solidFill>
            <a:srgbClr val="FF32A3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A14BC64-6D62-90DE-353E-232B95ADD087}"/>
              </a:ext>
            </a:extLst>
          </p:cNvPr>
          <p:cNvSpPr/>
          <p:nvPr/>
        </p:nvSpPr>
        <p:spPr>
          <a:xfrm>
            <a:off x="8478520" y="2551969"/>
            <a:ext cx="29819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4006B"/>
                </a:solidFill>
                <a:effectLst/>
                <a:latin typeface="Trebuchet MS" panose="020B0603020202020204" pitchFamily="34" charset="0"/>
              </a:rPr>
              <a:t>03</a:t>
            </a:r>
            <a:endParaRPr lang="en-US" dirty="0">
              <a:solidFill>
                <a:srgbClr val="C4006B"/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FCD8A3A-3600-A58E-8525-652B8EDFE023}"/>
              </a:ext>
            </a:extLst>
          </p:cNvPr>
          <p:cNvSpPr/>
          <p:nvPr/>
        </p:nvSpPr>
        <p:spPr>
          <a:xfrm>
            <a:off x="8478520" y="2902489"/>
            <a:ext cx="2981960" cy="441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Go deeper</a:t>
            </a:r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9F5A1521-9A1B-80BF-61ED-4F0872927751}"/>
              </a:ext>
            </a:extLst>
          </p:cNvPr>
          <p:cNvSpPr/>
          <p:nvPr/>
        </p:nvSpPr>
        <p:spPr>
          <a:xfrm>
            <a:off x="8478520" y="3344449"/>
            <a:ext cx="2981960" cy="1356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The index slides at the back list every kit, playbook and aka.ms </a:t>
            </a:r>
            <a:r>
              <a:rPr lang="en-US" sz="16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link</a:t>
            </a:r>
            <a:r>
              <a:rPr lang="en-US" sz="16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in once place.</a:t>
            </a:r>
          </a:p>
        </p:txBody>
      </p:sp>
    </p:spTree>
    <p:extLst>
      <p:ext uri="{BB962C8B-B14F-4D97-AF65-F5344CB8AC3E}">
        <p14:creationId xmlns:p14="http://schemas.microsoft.com/office/powerpoint/2010/main" val="272560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703D1-CCAC-030F-AC5E-0A43243F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1" name="Rectangle 28220">
            <a:extLst>
              <a:ext uri="{FF2B5EF4-FFF2-40B4-BE49-F238E27FC236}">
                <a16:creationId xmlns:a16="http://schemas.microsoft.com/office/drawing/2014/main" id="{89E7DD4B-F204-8343-D4C9-6D57DCA03892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Six components form the advisory engine.</a:t>
            </a:r>
            <a:endParaRPr lang="en-US"/>
          </a:p>
        </p:txBody>
      </p:sp>
      <p:sp>
        <p:nvSpPr>
          <p:cNvPr id="28223" name="Rectangle 28222">
            <a:extLst>
              <a:ext uri="{FF2B5EF4-FFF2-40B4-BE49-F238E27FC236}">
                <a16:creationId xmlns:a16="http://schemas.microsoft.com/office/drawing/2014/main" id="{65468158-B113-5EF3-A3DB-BF82FB602C5A}"/>
              </a:ext>
            </a:extLst>
          </p:cNvPr>
          <p:cNvSpPr/>
          <p:nvPr/>
        </p:nvSpPr>
        <p:spPr>
          <a:xfrm>
            <a:off x="457200" y="112776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Every capability category in this deck sits inside one of these six components.</a:t>
            </a:r>
            <a:endParaRPr lang="en-US"/>
          </a:p>
        </p:txBody>
      </p:sp>
      <p:sp>
        <p:nvSpPr>
          <p:cNvPr id="28230" name="Rounded Rectangle 28229">
            <a:extLst>
              <a:ext uri="{FF2B5EF4-FFF2-40B4-BE49-F238E27FC236}">
                <a16:creationId xmlns:a16="http://schemas.microsoft.com/office/drawing/2014/main" id="{A8C7AD27-5C53-2F11-5FD6-4DC60F64436B}"/>
              </a:ext>
            </a:extLst>
          </p:cNvPr>
          <p:cNvSpPr/>
          <p:nvPr/>
        </p:nvSpPr>
        <p:spPr>
          <a:xfrm>
            <a:off x="480350" y="1783080"/>
            <a:ext cx="411480" cy="2118360"/>
          </a:xfrm>
          <a:prstGeom prst="round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</a:t>
            </a:r>
            <a:endParaRPr lang="en-US"/>
          </a:p>
        </p:txBody>
      </p:sp>
      <p:sp>
        <p:nvSpPr>
          <p:cNvPr id="28235" name="Rectangle 28234">
            <a:extLst>
              <a:ext uri="{FF2B5EF4-FFF2-40B4-BE49-F238E27FC236}">
                <a16:creationId xmlns:a16="http://schemas.microsoft.com/office/drawing/2014/main" id="{BD679A9D-7F0F-6750-502C-72E64AFB29E7}"/>
              </a:ext>
            </a:extLst>
          </p:cNvPr>
          <p:cNvSpPr/>
          <p:nvPr/>
        </p:nvSpPr>
        <p:spPr>
          <a:xfrm>
            <a:off x="1074420" y="1920240"/>
            <a:ext cx="275336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Executive &amp; business discovery</a:t>
            </a:r>
            <a:endParaRPr lang="en-US"/>
          </a:p>
        </p:txBody>
      </p:sp>
      <p:sp>
        <p:nvSpPr>
          <p:cNvPr id="28241" name="Rectangle 28240">
            <a:extLst>
              <a:ext uri="{FF2B5EF4-FFF2-40B4-BE49-F238E27FC236}">
                <a16:creationId xmlns:a16="http://schemas.microsoft.com/office/drawing/2014/main" id="{34641D35-3C00-1826-478D-422B888A784E}"/>
              </a:ext>
            </a:extLst>
          </p:cNvPr>
          <p:cNvSpPr/>
          <p:nvPr/>
        </p:nvSpPr>
        <p:spPr>
          <a:xfrm>
            <a:off x="1074420" y="2545080"/>
            <a:ext cx="275336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C-suite interviews, opportunity mapping, AI vision and roadmap.</a:t>
            </a:r>
            <a:endParaRPr lang="en-US"/>
          </a:p>
        </p:txBody>
      </p:sp>
      <p:sp>
        <p:nvSpPr>
          <p:cNvPr id="28248" name="Rectangle 28247">
            <a:extLst>
              <a:ext uri="{FF2B5EF4-FFF2-40B4-BE49-F238E27FC236}">
                <a16:creationId xmlns:a16="http://schemas.microsoft.com/office/drawing/2014/main" id="{8A791DDC-F983-7DD5-19E5-DB0A2EE3721C}"/>
              </a:ext>
            </a:extLst>
          </p:cNvPr>
          <p:cNvSpPr/>
          <p:nvPr/>
        </p:nvSpPr>
        <p:spPr>
          <a:xfrm>
            <a:off x="1074420" y="3413760"/>
            <a:ext cx="2753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→ Categories 1 and 2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28256" name="Rectangle 28255">
            <a:extLst>
              <a:ext uri="{FF2B5EF4-FFF2-40B4-BE49-F238E27FC236}">
                <a16:creationId xmlns:a16="http://schemas.microsoft.com/office/drawing/2014/main" id="{437CB587-FC0B-44F4-3CCC-C2337C1F14F4}"/>
              </a:ext>
            </a:extLst>
          </p:cNvPr>
          <p:cNvSpPr/>
          <p:nvPr/>
        </p:nvSpPr>
        <p:spPr>
          <a:xfrm>
            <a:off x="911411" y="4159318"/>
            <a:ext cx="3080448" cy="2118360"/>
          </a:xfrm>
          <a:prstGeom prst="roundRect">
            <a:avLst>
              <a:gd name="adj" fmla="val 3633"/>
            </a:avLst>
          </a:prstGeom>
          <a:solidFill>
            <a:srgbClr val="FFFFFF"/>
          </a:solidFill>
          <a:ln w="15875">
            <a:gradFill flip="none" rotWithShape="1">
              <a:gsLst>
                <a:gs pos="92000">
                  <a:srgbClr val="16876A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65" name="Rectangle 28264">
            <a:extLst>
              <a:ext uri="{FF2B5EF4-FFF2-40B4-BE49-F238E27FC236}">
                <a16:creationId xmlns:a16="http://schemas.microsoft.com/office/drawing/2014/main" id="{6B4E9E30-B1F3-3875-4175-D64E41078836}"/>
              </a:ext>
            </a:extLst>
          </p:cNvPr>
          <p:cNvSpPr/>
          <p:nvPr/>
        </p:nvSpPr>
        <p:spPr>
          <a:xfrm>
            <a:off x="480885" y="4159317"/>
            <a:ext cx="411480" cy="2118360"/>
          </a:xfrm>
          <a:prstGeom prst="round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</a:t>
            </a:r>
            <a:endParaRPr lang="en-US"/>
          </a:p>
        </p:txBody>
      </p:sp>
      <p:sp>
        <p:nvSpPr>
          <p:cNvPr id="28275" name="Rectangle 28274">
            <a:extLst>
              <a:ext uri="{FF2B5EF4-FFF2-40B4-BE49-F238E27FC236}">
                <a16:creationId xmlns:a16="http://schemas.microsoft.com/office/drawing/2014/main" id="{70322EEB-AB72-B179-201A-01245CF6D6DB}"/>
              </a:ext>
            </a:extLst>
          </p:cNvPr>
          <p:cNvSpPr/>
          <p:nvPr/>
        </p:nvSpPr>
        <p:spPr>
          <a:xfrm>
            <a:off x="1074955" y="4296477"/>
            <a:ext cx="275336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Business value &amp; case</a:t>
            </a:r>
            <a:endParaRPr lang="en-US"/>
          </a:p>
        </p:txBody>
      </p:sp>
      <p:sp>
        <p:nvSpPr>
          <p:cNvPr id="28286" name="Rectangle 28285">
            <a:extLst>
              <a:ext uri="{FF2B5EF4-FFF2-40B4-BE49-F238E27FC236}">
                <a16:creationId xmlns:a16="http://schemas.microsoft.com/office/drawing/2014/main" id="{87347215-98BA-681E-9698-D78F39B678B7}"/>
              </a:ext>
            </a:extLst>
          </p:cNvPr>
          <p:cNvSpPr/>
          <p:nvPr/>
        </p:nvSpPr>
        <p:spPr>
          <a:xfrm>
            <a:off x="1074955" y="4921317"/>
            <a:ext cx="275336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Baselines, value hypotheses, ROI, KPIs and success measures.</a:t>
            </a:r>
            <a:endParaRPr lang="en-US"/>
          </a:p>
        </p:txBody>
      </p:sp>
      <p:sp>
        <p:nvSpPr>
          <p:cNvPr id="28298" name="Rectangle 28297">
            <a:extLst>
              <a:ext uri="{FF2B5EF4-FFF2-40B4-BE49-F238E27FC236}">
                <a16:creationId xmlns:a16="http://schemas.microsoft.com/office/drawing/2014/main" id="{6AE352C4-9C39-5D59-E908-FDD25BF5FB16}"/>
              </a:ext>
            </a:extLst>
          </p:cNvPr>
          <p:cNvSpPr/>
          <p:nvPr/>
        </p:nvSpPr>
        <p:spPr>
          <a:xfrm>
            <a:off x="1074955" y="5789997"/>
            <a:ext cx="2753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→ Categories 3 and 4</a:t>
            </a:r>
            <a:endParaRPr lang="en-US">
              <a:solidFill>
                <a:srgbClr val="064DD5"/>
              </a:solidFill>
            </a:endParaRPr>
          </a:p>
        </p:txBody>
      </p:sp>
      <p:sp>
        <p:nvSpPr>
          <p:cNvPr id="28311" name="Rectangle 28310">
            <a:extLst>
              <a:ext uri="{FF2B5EF4-FFF2-40B4-BE49-F238E27FC236}">
                <a16:creationId xmlns:a16="http://schemas.microsoft.com/office/drawing/2014/main" id="{223B635E-C788-D5E4-39E7-D91A479544D4}"/>
              </a:ext>
            </a:extLst>
          </p:cNvPr>
          <p:cNvSpPr/>
          <p:nvPr/>
        </p:nvSpPr>
        <p:spPr>
          <a:xfrm>
            <a:off x="4711919" y="1783081"/>
            <a:ext cx="3080448" cy="2118360"/>
          </a:xfrm>
          <a:prstGeom prst="roundRect">
            <a:avLst>
              <a:gd name="adj" fmla="val 3633"/>
            </a:avLst>
          </a:prstGeom>
          <a:solidFill>
            <a:srgbClr val="FFFFFF"/>
          </a:solidFill>
          <a:ln w="15875">
            <a:gradFill flip="none" rotWithShape="1">
              <a:gsLst>
                <a:gs pos="92000">
                  <a:srgbClr val="16876A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25" name="Rectangle 28324">
            <a:extLst>
              <a:ext uri="{FF2B5EF4-FFF2-40B4-BE49-F238E27FC236}">
                <a16:creationId xmlns:a16="http://schemas.microsoft.com/office/drawing/2014/main" id="{81993860-FA92-87A0-B0C3-09C9BD4AC4F9}"/>
              </a:ext>
            </a:extLst>
          </p:cNvPr>
          <p:cNvSpPr/>
          <p:nvPr/>
        </p:nvSpPr>
        <p:spPr>
          <a:xfrm>
            <a:off x="4281393" y="1783080"/>
            <a:ext cx="411480" cy="2118360"/>
          </a:xfrm>
          <a:prstGeom prst="roundRect">
            <a:avLst/>
          </a:prstGeom>
          <a:solidFill>
            <a:srgbClr val="00B29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</a:t>
            </a:r>
            <a:endParaRPr lang="en-US"/>
          </a:p>
        </p:txBody>
      </p:sp>
      <p:sp>
        <p:nvSpPr>
          <p:cNvPr id="28340" name="Rectangle 28339">
            <a:extLst>
              <a:ext uri="{FF2B5EF4-FFF2-40B4-BE49-F238E27FC236}">
                <a16:creationId xmlns:a16="http://schemas.microsoft.com/office/drawing/2014/main" id="{AF63B42D-3BAF-BC2C-AE58-818B40897E69}"/>
              </a:ext>
            </a:extLst>
          </p:cNvPr>
          <p:cNvSpPr/>
          <p:nvPr/>
        </p:nvSpPr>
        <p:spPr>
          <a:xfrm>
            <a:off x="4875463" y="1920240"/>
            <a:ext cx="275336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Process transformation</a:t>
            </a:r>
            <a:endParaRPr lang="en-US"/>
          </a:p>
        </p:txBody>
      </p:sp>
      <p:sp>
        <p:nvSpPr>
          <p:cNvPr id="28356" name="Rectangle 28355">
            <a:extLst>
              <a:ext uri="{FF2B5EF4-FFF2-40B4-BE49-F238E27FC236}">
                <a16:creationId xmlns:a16="http://schemas.microsoft.com/office/drawing/2014/main" id="{1166BAE5-9D3A-C504-73FD-9BE490A979C9}"/>
              </a:ext>
            </a:extLst>
          </p:cNvPr>
          <p:cNvSpPr/>
          <p:nvPr/>
        </p:nvSpPr>
        <p:spPr>
          <a:xfrm>
            <a:off x="4875463" y="2545080"/>
            <a:ext cx="275336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Workflow redesign, scenario prioritisation and agent opportunities.</a:t>
            </a:r>
            <a:endParaRPr lang="en-US"/>
          </a:p>
        </p:txBody>
      </p:sp>
      <p:sp>
        <p:nvSpPr>
          <p:cNvPr id="28373" name="Rectangle 28372">
            <a:extLst>
              <a:ext uri="{FF2B5EF4-FFF2-40B4-BE49-F238E27FC236}">
                <a16:creationId xmlns:a16="http://schemas.microsoft.com/office/drawing/2014/main" id="{8BC7B88E-BDCB-AFF9-4936-9499150C1B54}"/>
              </a:ext>
            </a:extLst>
          </p:cNvPr>
          <p:cNvSpPr/>
          <p:nvPr/>
        </p:nvSpPr>
        <p:spPr>
          <a:xfrm>
            <a:off x="4875463" y="3413760"/>
            <a:ext cx="2753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16876A"/>
                </a:solidFill>
                <a:effectLst/>
                <a:latin typeface="Calibri" panose="020F0502020204030204" pitchFamily="34" charset="0"/>
              </a:rPr>
              <a:t>→ Categories 5 and 6</a:t>
            </a:r>
            <a:endParaRPr lang="en-US" dirty="0">
              <a:solidFill>
                <a:srgbClr val="16876A"/>
              </a:solidFill>
            </a:endParaRPr>
          </a:p>
        </p:txBody>
      </p:sp>
      <p:sp>
        <p:nvSpPr>
          <p:cNvPr id="28391" name="Rectangle 28390">
            <a:extLst>
              <a:ext uri="{FF2B5EF4-FFF2-40B4-BE49-F238E27FC236}">
                <a16:creationId xmlns:a16="http://schemas.microsoft.com/office/drawing/2014/main" id="{D59B42E3-35AA-B651-6940-35075904F4F6}"/>
              </a:ext>
            </a:extLst>
          </p:cNvPr>
          <p:cNvSpPr/>
          <p:nvPr/>
        </p:nvSpPr>
        <p:spPr>
          <a:xfrm>
            <a:off x="4720876" y="4127233"/>
            <a:ext cx="3080448" cy="2118360"/>
          </a:xfrm>
          <a:prstGeom prst="roundRect">
            <a:avLst>
              <a:gd name="adj" fmla="val 3633"/>
            </a:avLst>
          </a:prstGeom>
          <a:solidFill>
            <a:srgbClr val="FFFFFF"/>
          </a:solidFill>
          <a:ln w="15875">
            <a:gradFill flip="none" rotWithShape="1">
              <a:gsLst>
                <a:gs pos="92000">
                  <a:srgbClr val="16876A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10" name="Rectangle 28409">
            <a:extLst>
              <a:ext uri="{FF2B5EF4-FFF2-40B4-BE49-F238E27FC236}">
                <a16:creationId xmlns:a16="http://schemas.microsoft.com/office/drawing/2014/main" id="{E154DBDC-054F-CC27-C93C-A1E21B7285F0}"/>
              </a:ext>
            </a:extLst>
          </p:cNvPr>
          <p:cNvSpPr/>
          <p:nvPr/>
        </p:nvSpPr>
        <p:spPr>
          <a:xfrm>
            <a:off x="4290350" y="4127232"/>
            <a:ext cx="411480" cy="2118360"/>
          </a:xfrm>
          <a:prstGeom prst="roundRect">
            <a:avLst/>
          </a:prstGeom>
          <a:solidFill>
            <a:srgbClr val="00B29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</a:t>
            </a:r>
            <a:endParaRPr lang="en-US"/>
          </a:p>
        </p:txBody>
      </p:sp>
      <p:sp>
        <p:nvSpPr>
          <p:cNvPr id="28430" name="Rectangle 28429">
            <a:extLst>
              <a:ext uri="{FF2B5EF4-FFF2-40B4-BE49-F238E27FC236}">
                <a16:creationId xmlns:a16="http://schemas.microsoft.com/office/drawing/2014/main" id="{6080B042-FF85-2383-26B6-1C82C62536FE}"/>
              </a:ext>
            </a:extLst>
          </p:cNvPr>
          <p:cNvSpPr/>
          <p:nvPr/>
        </p:nvSpPr>
        <p:spPr>
          <a:xfrm>
            <a:off x="4884420" y="4264392"/>
            <a:ext cx="275336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Measurement &amp; proof</a:t>
            </a:r>
            <a:endParaRPr lang="en-US"/>
          </a:p>
        </p:txBody>
      </p:sp>
      <p:sp>
        <p:nvSpPr>
          <p:cNvPr id="28451" name="Rectangle 28450">
            <a:extLst>
              <a:ext uri="{FF2B5EF4-FFF2-40B4-BE49-F238E27FC236}">
                <a16:creationId xmlns:a16="http://schemas.microsoft.com/office/drawing/2014/main" id="{B3990E10-5527-A078-3011-539642D09004}"/>
              </a:ext>
            </a:extLst>
          </p:cNvPr>
          <p:cNvSpPr/>
          <p:nvPr/>
        </p:nvSpPr>
        <p:spPr>
          <a:xfrm>
            <a:off x="4884420" y="4889232"/>
            <a:ext cx="275336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Interpret analytics, link usage to KPIs and tell the value story.</a:t>
            </a:r>
            <a:endParaRPr lang="en-US"/>
          </a:p>
        </p:txBody>
      </p:sp>
      <p:sp>
        <p:nvSpPr>
          <p:cNvPr id="28496" name="Rectangle 28495">
            <a:extLst>
              <a:ext uri="{FF2B5EF4-FFF2-40B4-BE49-F238E27FC236}">
                <a16:creationId xmlns:a16="http://schemas.microsoft.com/office/drawing/2014/main" id="{E99375D7-BCDE-EC5F-B59F-FDBD92C8B3B8}"/>
              </a:ext>
            </a:extLst>
          </p:cNvPr>
          <p:cNvSpPr/>
          <p:nvPr/>
        </p:nvSpPr>
        <p:spPr>
          <a:xfrm>
            <a:off x="8591569" y="1771049"/>
            <a:ext cx="3080448" cy="2118360"/>
          </a:xfrm>
          <a:prstGeom prst="roundRect">
            <a:avLst>
              <a:gd name="adj" fmla="val 3633"/>
            </a:avLst>
          </a:prstGeom>
          <a:solidFill>
            <a:srgbClr val="FFFFFF"/>
          </a:solidFill>
          <a:ln w="15875">
            <a:gradFill flip="none" rotWithShape="1">
              <a:gsLst>
                <a:gs pos="92000">
                  <a:srgbClr val="16876A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20" name="Rectangle 28519">
            <a:extLst>
              <a:ext uri="{FF2B5EF4-FFF2-40B4-BE49-F238E27FC236}">
                <a16:creationId xmlns:a16="http://schemas.microsoft.com/office/drawing/2014/main" id="{0ED1AEC4-88D5-F0E9-11CD-0D600CCE6241}"/>
              </a:ext>
            </a:extLst>
          </p:cNvPr>
          <p:cNvSpPr/>
          <p:nvPr/>
        </p:nvSpPr>
        <p:spPr>
          <a:xfrm>
            <a:off x="8161043" y="1771048"/>
            <a:ext cx="411480" cy="2118360"/>
          </a:xfrm>
          <a:prstGeom prst="round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5</a:t>
            </a:r>
            <a:endParaRPr lang="en-US"/>
          </a:p>
        </p:txBody>
      </p:sp>
      <p:sp>
        <p:nvSpPr>
          <p:cNvPr id="28545" name="Rectangle 28544">
            <a:extLst>
              <a:ext uri="{FF2B5EF4-FFF2-40B4-BE49-F238E27FC236}">
                <a16:creationId xmlns:a16="http://schemas.microsoft.com/office/drawing/2014/main" id="{8F20C02B-9A2D-EAC5-E840-EBF15F280EAB}"/>
              </a:ext>
            </a:extLst>
          </p:cNvPr>
          <p:cNvSpPr/>
          <p:nvPr/>
        </p:nvSpPr>
        <p:spPr>
          <a:xfrm>
            <a:off x="8755113" y="1908208"/>
            <a:ext cx="275336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Governance &amp; economics</a:t>
            </a:r>
            <a:endParaRPr lang="en-US"/>
          </a:p>
        </p:txBody>
      </p:sp>
      <p:sp>
        <p:nvSpPr>
          <p:cNvPr id="28571" name="Rectangle 28570">
            <a:extLst>
              <a:ext uri="{FF2B5EF4-FFF2-40B4-BE49-F238E27FC236}">
                <a16:creationId xmlns:a16="http://schemas.microsoft.com/office/drawing/2014/main" id="{D810BC97-2928-B1D2-70F5-34C03F8FC977}"/>
              </a:ext>
            </a:extLst>
          </p:cNvPr>
          <p:cNvSpPr/>
          <p:nvPr/>
        </p:nvSpPr>
        <p:spPr>
          <a:xfrm>
            <a:off x="8755113" y="2533048"/>
            <a:ext cx="275336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Responsible AI, </a:t>
            </a: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cost </a:t>
            </a:r>
            <a:r>
              <a:rPr lang="en-US" sz="14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forecasting, guardrails, risk and unit economics.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8598" name="Rectangle 28597">
            <a:extLst>
              <a:ext uri="{FF2B5EF4-FFF2-40B4-BE49-F238E27FC236}">
                <a16:creationId xmlns:a16="http://schemas.microsoft.com/office/drawing/2014/main" id="{97C5EA35-D03F-011B-560E-E3203B73D7CB}"/>
              </a:ext>
            </a:extLst>
          </p:cNvPr>
          <p:cNvSpPr/>
          <p:nvPr/>
        </p:nvSpPr>
        <p:spPr>
          <a:xfrm>
            <a:off x="8755113" y="3401728"/>
            <a:ext cx="2753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→ Categories 8 and 9</a:t>
            </a:r>
            <a:endParaRPr lang="en-US"/>
          </a:p>
        </p:txBody>
      </p:sp>
      <p:sp>
        <p:nvSpPr>
          <p:cNvPr id="28626" name="Rectangle 28625">
            <a:extLst>
              <a:ext uri="{FF2B5EF4-FFF2-40B4-BE49-F238E27FC236}">
                <a16:creationId xmlns:a16="http://schemas.microsoft.com/office/drawing/2014/main" id="{86228A73-9A1F-D1BB-930A-48BECAE91B23}"/>
              </a:ext>
            </a:extLst>
          </p:cNvPr>
          <p:cNvSpPr/>
          <p:nvPr/>
        </p:nvSpPr>
        <p:spPr>
          <a:xfrm>
            <a:off x="8612156" y="4107181"/>
            <a:ext cx="3080448" cy="2118360"/>
          </a:xfrm>
          <a:prstGeom prst="roundRect">
            <a:avLst>
              <a:gd name="adj" fmla="val 3633"/>
            </a:avLst>
          </a:prstGeom>
          <a:solidFill>
            <a:srgbClr val="FFFFFF"/>
          </a:solidFill>
          <a:ln w="15875">
            <a:gradFill flip="none" rotWithShape="1">
              <a:gsLst>
                <a:gs pos="92000">
                  <a:srgbClr val="16876A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55" name="Rectangle 28654">
            <a:extLst>
              <a:ext uri="{FF2B5EF4-FFF2-40B4-BE49-F238E27FC236}">
                <a16:creationId xmlns:a16="http://schemas.microsoft.com/office/drawing/2014/main" id="{98EB9E1F-41EA-2B7A-9899-A3027FA62E33}"/>
              </a:ext>
            </a:extLst>
          </p:cNvPr>
          <p:cNvSpPr/>
          <p:nvPr/>
        </p:nvSpPr>
        <p:spPr>
          <a:xfrm>
            <a:off x="8181630" y="4107180"/>
            <a:ext cx="411480" cy="2118360"/>
          </a:xfrm>
          <a:prstGeom prst="round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6</a:t>
            </a:r>
            <a:endParaRPr lang="en-US"/>
          </a:p>
        </p:txBody>
      </p:sp>
      <p:sp>
        <p:nvSpPr>
          <p:cNvPr id="28685" name="Rectangle 28684">
            <a:extLst>
              <a:ext uri="{FF2B5EF4-FFF2-40B4-BE49-F238E27FC236}">
                <a16:creationId xmlns:a16="http://schemas.microsoft.com/office/drawing/2014/main" id="{2271B332-4823-847D-A926-B184F47C0370}"/>
              </a:ext>
            </a:extLst>
          </p:cNvPr>
          <p:cNvSpPr/>
          <p:nvPr/>
        </p:nvSpPr>
        <p:spPr>
          <a:xfrm>
            <a:off x="8775700" y="4244340"/>
            <a:ext cx="275336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Ongoing strategic advisory</a:t>
            </a:r>
            <a:endParaRPr lang="en-US"/>
          </a:p>
        </p:txBody>
      </p:sp>
      <p:sp>
        <p:nvSpPr>
          <p:cNvPr id="28716" name="Rectangle 28715">
            <a:extLst>
              <a:ext uri="{FF2B5EF4-FFF2-40B4-BE49-F238E27FC236}">
                <a16:creationId xmlns:a16="http://schemas.microsoft.com/office/drawing/2014/main" id="{B0509927-7D82-77CA-80C5-392AC26A31A5}"/>
              </a:ext>
            </a:extLst>
          </p:cNvPr>
          <p:cNvSpPr/>
          <p:nvPr/>
        </p:nvSpPr>
        <p:spPr>
          <a:xfrm>
            <a:off x="8775700" y="4869180"/>
            <a:ext cx="275336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Quarterly value reviews, roadmap refresh and expansion planning.</a:t>
            </a:r>
            <a:endParaRPr lang="en-US"/>
          </a:p>
        </p:txBody>
      </p:sp>
      <p:sp>
        <p:nvSpPr>
          <p:cNvPr id="28748" name="Rectangle 28747">
            <a:extLst>
              <a:ext uri="{FF2B5EF4-FFF2-40B4-BE49-F238E27FC236}">
                <a16:creationId xmlns:a16="http://schemas.microsoft.com/office/drawing/2014/main" id="{84E4829C-2003-B4EC-DF64-2A9290EC2DEE}"/>
              </a:ext>
            </a:extLst>
          </p:cNvPr>
          <p:cNvSpPr/>
          <p:nvPr/>
        </p:nvSpPr>
        <p:spPr>
          <a:xfrm>
            <a:off x="8775700" y="5737860"/>
            <a:ext cx="2753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→ Category 10</a:t>
            </a:r>
            <a:endParaRPr lang="en-US"/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583CEA56-CE7F-0EC4-451B-5D475F8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876" y="1783081"/>
            <a:ext cx="3080448" cy="2118360"/>
          </a:xfrm>
          <a:prstGeom prst="roundRect">
            <a:avLst>
              <a:gd name="adj" fmla="val 3633"/>
            </a:avLst>
          </a:prstGeom>
          <a:noFill/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5D915-6C05-364D-B2B8-322F2DAC65BF}"/>
              </a:ext>
            </a:extLst>
          </p:cNvPr>
          <p:cNvSpPr txBox="1"/>
          <p:nvPr/>
        </p:nvSpPr>
        <p:spPr>
          <a:xfrm>
            <a:off x="4828978" y="5802144"/>
            <a:ext cx="2397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→ Category 7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5316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1" name="Rectangle 28780">
            <a:extLst>
              <a:ext uri="{FF2B5EF4-FFF2-40B4-BE49-F238E27FC236}">
                <a16:creationId xmlns:a16="http://schemas.microsoft.com/office/drawing/2014/main" id="{C351CF64-90CD-718D-E8DE-A185CFE513BB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Ten capability categories, each owned by one component.</a:t>
            </a:r>
            <a:endParaRPr lang="en-US"/>
          </a:p>
        </p:txBody>
      </p:sp>
      <p:sp>
        <p:nvSpPr>
          <p:cNvPr id="28815" name="Rectangle 28814">
            <a:extLst>
              <a:ext uri="{FF2B5EF4-FFF2-40B4-BE49-F238E27FC236}">
                <a16:creationId xmlns:a16="http://schemas.microsoft.com/office/drawing/2014/main" id="{9C05922D-EF92-1253-2401-8B92BA9ECD21}"/>
              </a:ext>
            </a:extLst>
          </p:cNvPr>
          <p:cNvSpPr/>
          <p:nvPr/>
        </p:nvSpPr>
        <p:spPr>
          <a:xfrm>
            <a:off x="457200" y="112776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Find the sentence that sounds like your team, then jump to its slide.</a:t>
            </a:r>
            <a:endParaRPr lang="en-US"/>
          </a:p>
        </p:txBody>
      </p:sp>
      <p:sp>
        <p:nvSpPr>
          <p:cNvPr id="28850" name="Rounded Rectangle 28849">
            <a:extLst>
              <a:ext uri="{FF2B5EF4-FFF2-40B4-BE49-F238E27FC236}">
                <a16:creationId xmlns:a16="http://schemas.microsoft.com/office/drawing/2014/main" id="{4B4EF20C-A454-7459-E198-3FBCD0480A8A}"/>
              </a:ext>
            </a:extLst>
          </p:cNvPr>
          <p:cNvSpPr/>
          <p:nvPr/>
        </p:nvSpPr>
        <p:spPr>
          <a:xfrm>
            <a:off x="457200" y="178308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86" name="Rectangle 28885">
            <a:extLst>
              <a:ext uri="{FF2B5EF4-FFF2-40B4-BE49-F238E27FC236}">
                <a16:creationId xmlns:a16="http://schemas.microsoft.com/office/drawing/2014/main" id="{77331C8B-220D-40AB-1B48-767C5EB82382}"/>
              </a:ext>
            </a:extLst>
          </p:cNvPr>
          <p:cNvSpPr/>
          <p:nvPr/>
        </p:nvSpPr>
        <p:spPr>
          <a:xfrm>
            <a:off x="457200" y="1783080"/>
            <a:ext cx="502920" cy="39624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</a:t>
            </a:r>
            <a:endParaRPr lang="en-US"/>
          </a:p>
        </p:txBody>
      </p:sp>
      <p:sp>
        <p:nvSpPr>
          <p:cNvPr id="28923" name="Rounded Rectangle 28922">
            <a:extLst>
              <a:ext uri="{FF2B5EF4-FFF2-40B4-BE49-F238E27FC236}">
                <a16:creationId xmlns:a16="http://schemas.microsoft.com/office/drawing/2014/main" id="{66EB6029-90B3-9C92-C8D2-3DBDC7ED6CCA}"/>
              </a:ext>
            </a:extLst>
          </p:cNvPr>
          <p:cNvSpPr/>
          <p:nvPr/>
        </p:nvSpPr>
        <p:spPr>
          <a:xfrm>
            <a:off x="1005840" y="1805940"/>
            <a:ext cx="3657600" cy="350520"/>
          </a:xfrm>
          <a:prstGeom prst="round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Advisory &amp; Discovery Skills</a:t>
            </a:r>
            <a:endParaRPr lang="en-US"/>
          </a:p>
        </p:txBody>
      </p:sp>
      <p:sp>
        <p:nvSpPr>
          <p:cNvPr id="28961" name="Rectangle 28960">
            <a:extLst>
              <a:ext uri="{FF2B5EF4-FFF2-40B4-BE49-F238E27FC236}">
                <a16:creationId xmlns:a16="http://schemas.microsoft.com/office/drawing/2014/main" id="{7A1CA565-6ACE-D6D6-A0CD-16FB4A0B411C}"/>
              </a:ext>
            </a:extLst>
          </p:cNvPr>
          <p:cNvSpPr/>
          <p:nvPr/>
        </p:nvSpPr>
        <p:spPr>
          <a:xfrm>
            <a:off x="4663440" y="180594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 demo when I should be running discovery.</a:t>
            </a:r>
            <a:endParaRPr lang="en-US"/>
          </a:p>
        </p:txBody>
      </p:sp>
      <p:sp>
        <p:nvSpPr>
          <p:cNvPr id="29000" name="Rectangle 28999">
            <a:hlinkClick r:id="rId2" action="ppaction://hlinksldjump"/>
            <a:extLst>
              <a:ext uri="{FF2B5EF4-FFF2-40B4-BE49-F238E27FC236}">
                <a16:creationId xmlns:a16="http://schemas.microsoft.com/office/drawing/2014/main" id="{FA3ADD59-5FFA-D234-AF0A-86D447B67E46}"/>
              </a:ext>
            </a:extLst>
          </p:cNvPr>
          <p:cNvSpPr/>
          <p:nvPr/>
        </p:nvSpPr>
        <p:spPr>
          <a:xfrm>
            <a:off x="10180320" y="180594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Slide 5</a:t>
            </a:r>
            <a:endParaRPr lang="en-US" u="sng" dirty="0"/>
          </a:p>
        </p:txBody>
      </p:sp>
      <p:sp>
        <p:nvSpPr>
          <p:cNvPr id="29040" name="Rounded Rectangle 29039">
            <a:extLst>
              <a:ext uri="{FF2B5EF4-FFF2-40B4-BE49-F238E27FC236}">
                <a16:creationId xmlns:a16="http://schemas.microsoft.com/office/drawing/2014/main" id="{B18EB165-81DB-9CB5-2B61-0F56DC4D7F5F}"/>
              </a:ext>
            </a:extLst>
          </p:cNvPr>
          <p:cNvSpPr/>
          <p:nvPr/>
        </p:nvSpPr>
        <p:spPr>
          <a:xfrm>
            <a:off x="457200" y="222504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81" name="Rectangle 29080">
            <a:extLst>
              <a:ext uri="{FF2B5EF4-FFF2-40B4-BE49-F238E27FC236}">
                <a16:creationId xmlns:a16="http://schemas.microsoft.com/office/drawing/2014/main" id="{B71E6F36-0870-CC8A-77B1-DA2FE5260400}"/>
              </a:ext>
            </a:extLst>
          </p:cNvPr>
          <p:cNvSpPr/>
          <p:nvPr/>
        </p:nvSpPr>
        <p:spPr>
          <a:xfrm>
            <a:off x="457200" y="2225040"/>
            <a:ext cx="502920" cy="39624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</a:t>
            </a:r>
            <a:endParaRPr lang="en-US"/>
          </a:p>
        </p:txBody>
      </p:sp>
      <p:sp>
        <p:nvSpPr>
          <p:cNvPr id="29123" name="Rectangle 29122">
            <a:extLst>
              <a:ext uri="{FF2B5EF4-FFF2-40B4-BE49-F238E27FC236}">
                <a16:creationId xmlns:a16="http://schemas.microsoft.com/office/drawing/2014/main" id="{E9F6C3F4-B30B-D980-20C5-DA011B15A409}"/>
              </a:ext>
            </a:extLst>
          </p:cNvPr>
          <p:cNvSpPr/>
          <p:nvPr/>
        </p:nvSpPr>
        <p:spPr>
          <a:xfrm>
            <a:off x="1005840" y="224790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Compete &amp; Positioning</a:t>
            </a:r>
            <a:endParaRPr lang="en-US"/>
          </a:p>
        </p:txBody>
      </p:sp>
      <p:sp>
        <p:nvSpPr>
          <p:cNvPr id="29166" name="Rectangle 29165">
            <a:extLst>
              <a:ext uri="{FF2B5EF4-FFF2-40B4-BE49-F238E27FC236}">
                <a16:creationId xmlns:a16="http://schemas.microsoft.com/office/drawing/2014/main" id="{D065C541-FD11-7790-9480-78D8E091A09F}"/>
              </a:ext>
            </a:extLst>
          </p:cNvPr>
          <p:cNvSpPr/>
          <p:nvPr/>
        </p:nvSpPr>
        <p:spPr>
          <a:xfrm>
            <a:off x="4663440" y="224790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 defend features instead of the platform.</a:t>
            </a:r>
            <a:endParaRPr lang="en-US"/>
          </a:p>
        </p:txBody>
      </p:sp>
      <p:sp>
        <p:nvSpPr>
          <p:cNvPr id="29210" name="Rectangle 29209">
            <a:hlinkClick r:id="rId3" action="ppaction://hlinksldjump"/>
            <a:extLst>
              <a:ext uri="{FF2B5EF4-FFF2-40B4-BE49-F238E27FC236}">
                <a16:creationId xmlns:a16="http://schemas.microsoft.com/office/drawing/2014/main" id="{EA2A1B89-8A00-F660-97F0-D0DC730B6932}"/>
              </a:ext>
            </a:extLst>
          </p:cNvPr>
          <p:cNvSpPr/>
          <p:nvPr/>
        </p:nvSpPr>
        <p:spPr>
          <a:xfrm>
            <a:off x="10180320" y="224790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Slide 6</a:t>
            </a:r>
            <a:endParaRPr lang="en-US" u="sng" dirty="0">
              <a:solidFill>
                <a:srgbClr val="064DD5"/>
              </a:solidFill>
            </a:endParaRPr>
          </a:p>
        </p:txBody>
      </p:sp>
      <p:sp>
        <p:nvSpPr>
          <p:cNvPr id="29255" name="Rounded Rectangle 29254">
            <a:extLst>
              <a:ext uri="{FF2B5EF4-FFF2-40B4-BE49-F238E27FC236}">
                <a16:creationId xmlns:a16="http://schemas.microsoft.com/office/drawing/2014/main" id="{453B8FE4-6B1A-99FE-1912-0076E4969F2F}"/>
              </a:ext>
            </a:extLst>
          </p:cNvPr>
          <p:cNvSpPr/>
          <p:nvPr/>
        </p:nvSpPr>
        <p:spPr>
          <a:xfrm>
            <a:off x="457200" y="266700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01" name="Rectangle 29300">
            <a:extLst>
              <a:ext uri="{FF2B5EF4-FFF2-40B4-BE49-F238E27FC236}">
                <a16:creationId xmlns:a16="http://schemas.microsoft.com/office/drawing/2014/main" id="{086C43F9-B9EE-6DAE-4F12-471B9B601796}"/>
              </a:ext>
            </a:extLst>
          </p:cNvPr>
          <p:cNvSpPr/>
          <p:nvPr/>
        </p:nvSpPr>
        <p:spPr>
          <a:xfrm>
            <a:off x="457200" y="2667000"/>
            <a:ext cx="502920" cy="39624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</a:t>
            </a:r>
            <a:endParaRPr lang="en-US"/>
          </a:p>
        </p:txBody>
      </p:sp>
      <p:sp>
        <p:nvSpPr>
          <p:cNvPr id="29348" name="Rectangle 29347">
            <a:extLst>
              <a:ext uri="{FF2B5EF4-FFF2-40B4-BE49-F238E27FC236}">
                <a16:creationId xmlns:a16="http://schemas.microsoft.com/office/drawing/2014/main" id="{37A4E6D4-5685-C6E1-D33E-885AC250ABF7}"/>
              </a:ext>
            </a:extLst>
          </p:cNvPr>
          <p:cNvSpPr/>
          <p:nvPr/>
        </p:nvSpPr>
        <p:spPr>
          <a:xfrm>
            <a:off x="1005840" y="268986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Cost &amp; Credit Modeling</a:t>
            </a:r>
            <a:endParaRPr lang="en-US"/>
          </a:p>
        </p:txBody>
      </p:sp>
      <p:sp>
        <p:nvSpPr>
          <p:cNvPr id="29396" name="Rectangle 29395">
            <a:extLst>
              <a:ext uri="{FF2B5EF4-FFF2-40B4-BE49-F238E27FC236}">
                <a16:creationId xmlns:a16="http://schemas.microsoft.com/office/drawing/2014/main" id="{D84758D4-2F5D-CB0B-DA4E-D114D8CCC636}"/>
              </a:ext>
            </a:extLst>
          </p:cNvPr>
          <p:cNvSpPr/>
          <p:nvPr/>
        </p:nvSpPr>
        <p:spPr>
          <a:xfrm>
            <a:off x="4663440" y="268986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Usage won't turn into a credible forecast.</a:t>
            </a:r>
            <a:endParaRPr lang="en-US"/>
          </a:p>
        </p:txBody>
      </p:sp>
      <p:sp>
        <p:nvSpPr>
          <p:cNvPr id="29445" name="Rectangle 29444">
            <a:hlinkClick r:id="rId4" action="ppaction://hlinksldjump"/>
            <a:extLst>
              <a:ext uri="{FF2B5EF4-FFF2-40B4-BE49-F238E27FC236}">
                <a16:creationId xmlns:a16="http://schemas.microsoft.com/office/drawing/2014/main" id="{F7E1752D-5F7A-B6B8-DF27-E51C1CAB9315}"/>
              </a:ext>
            </a:extLst>
          </p:cNvPr>
          <p:cNvSpPr/>
          <p:nvPr/>
        </p:nvSpPr>
        <p:spPr>
          <a:xfrm>
            <a:off x="10180320" y="268986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Slide 7</a:t>
            </a:r>
            <a:endParaRPr lang="en-US" u="sng" dirty="0">
              <a:solidFill>
                <a:srgbClr val="064DD5"/>
              </a:solidFill>
            </a:endParaRPr>
          </a:p>
        </p:txBody>
      </p:sp>
      <p:sp>
        <p:nvSpPr>
          <p:cNvPr id="29495" name="Rounded Rectangle 29494">
            <a:extLst>
              <a:ext uri="{FF2B5EF4-FFF2-40B4-BE49-F238E27FC236}">
                <a16:creationId xmlns:a16="http://schemas.microsoft.com/office/drawing/2014/main" id="{D7E0E959-5245-FE48-1D86-DCF6A393FF25}"/>
              </a:ext>
            </a:extLst>
          </p:cNvPr>
          <p:cNvSpPr/>
          <p:nvPr/>
        </p:nvSpPr>
        <p:spPr>
          <a:xfrm>
            <a:off x="457200" y="310896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46" name="Rectangle 29545">
            <a:extLst>
              <a:ext uri="{FF2B5EF4-FFF2-40B4-BE49-F238E27FC236}">
                <a16:creationId xmlns:a16="http://schemas.microsoft.com/office/drawing/2014/main" id="{4E831756-C0ED-9B41-F8F2-7919DE823EDE}"/>
              </a:ext>
            </a:extLst>
          </p:cNvPr>
          <p:cNvSpPr/>
          <p:nvPr/>
        </p:nvSpPr>
        <p:spPr>
          <a:xfrm>
            <a:off x="457200" y="3108960"/>
            <a:ext cx="502920" cy="39624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</a:t>
            </a:r>
            <a:endParaRPr lang="en-US"/>
          </a:p>
        </p:txBody>
      </p:sp>
      <p:sp>
        <p:nvSpPr>
          <p:cNvPr id="29598" name="Rectangle 29597">
            <a:extLst>
              <a:ext uri="{FF2B5EF4-FFF2-40B4-BE49-F238E27FC236}">
                <a16:creationId xmlns:a16="http://schemas.microsoft.com/office/drawing/2014/main" id="{EC634839-F5E2-C02A-AA59-2DAE5E5C7582}"/>
              </a:ext>
            </a:extLst>
          </p:cNvPr>
          <p:cNvSpPr/>
          <p:nvPr/>
        </p:nvSpPr>
        <p:spPr>
          <a:xfrm>
            <a:off x="1005840" y="313182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Business Case &amp; ROI Development</a:t>
            </a:r>
            <a:endParaRPr lang="en-US"/>
          </a:p>
        </p:txBody>
      </p:sp>
      <p:sp>
        <p:nvSpPr>
          <p:cNvPr id="29651" name="Rectangle 29650">
            <a:extLst>
              <a:ext uri="{FF2B5EF4-FFF2-40B4-BE49-F238E27FC236}">
                <a16:creationId xmlns:a16="http://schemas.microsoft.com/office/drawing/2014/main" id="{1C730071-E58B-CF68-7F7D-E9F6C650A7EF}"/>
              </a:ext>
            </a:extLst>
          </p:cNvPr>
          <p:cNvSpPr/>
          <p:nvPr/>
        </p:nvSpPr>
        <p:spPr>
          <a:xfrm>
            <a:off x="4663440" y="313182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We start before anyone captured the baseline.</a:t>
            </a:r>
            <a:endParaRPr lang="en-US"/>
          </a:p>
        </p:txBody>
      </p:sp>
      <p:sp>
        <p:nvSpPr>
          <p:cNvPr id="29705" name="Rectangle 29704">
            <a:hlinkClick r:id="rId5" action="ppaction://hlinksldjump"/>
            <a:extLst>
              <a:ext uri="{FF2B5EF4-FFF2-40B4-BE49-F238E27FC236}">
                <a16:creationId xmlns:a16="http://schemas.microsoft.com/office/drawing/2014/main" id="{2806078D-DB7F-7218-39E7-F555AC4122C4}"/>
              </a:ext>
            </a:extLst>
          </p:cNvPr>
          <p:cNvSpPr/>
          <p:nvPr/>
        </p:nvSpPr>
        <p:spPr>
          <a:xfrm>
            <a:off x="10180320" y="313182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Slide 8</a:t>
            </a:r>
            <a:endParaRPr lang="en-US" u="sng" dirty="0">
              <a:solidFill>
                <a:srgbClr val="064DD5"/>
              </a:solidFill>
            </a:endParaRPr>
          </a:p>
        </p:txBody>
      </p:sp>
      <p:sp>
        <p:nvSpPr>
          <p:cNvPr id="29760" name="Rounded Rectangle 29759">
            <a:extLst>
              <a:ext uri="{FF2B5EF4-FFF2-40B4-BE49-F238E27FC236}">
                <a16:creationId xmlns:a16="http://schemas.microsoft.com/office/drawing/2014/main" id="{A5293B77-A67F-79CE-DD17-23F867187805}"/>
              </a:ext>
            </a:extLst>
          </p:cNvPr>
          <p:cNvSpPr/>
          <p:nvPr/>
        </p:nvSpPr>
        <p:spPr>
          <a:xfrm>
            <a:off x="457200" y="355092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16" name="Rectangle 29815">
            <a:extLst>
              <a:ext uri="{FF2B5EF4-FFF2-40B4-BE49-F238E27FC236}">
                <a16:creationId xmlns:a16="http://schemas.microsoft.com/office/drawing/2014/main" id="{3F3D7B1C-F0DF-E977-E244-49699B3CD9B5}"/>
              </a:ext>
            </a:extLst>
          </p:cNvPr>
          <p:cNvSpPr/>
          <p:nvPr/>
        </p:nvSpPr>
        <p:spPr>
          <a:xfrm>
            <a:off x="457200" y="3550920"/>
            <a:ext cx="502920" cy="39624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5</a:t>
            </a:r>
            <a:endParaRPr lang="en-US"/>
          </a:p>
        </p:txBody>
      </p:sp>
      <p:sp>
        <p:nvSpPr>
          <p:cNvPr id="29873" name="Rectangle 29872">
            <a:extLst>
              <a:ext uri="{FF2B5EF4-FFF2-40B4-BE49-F238E27FC236}">
                <a16:creationId xmlns:a16="http://schemas.microsoft.com/office/drawing/2014/main" id="{08F76810-9438-9689-0741-E692783E3C05}"/>
              </a:ext>
            </a:extLst>
          </p:cNvPr>
          <p:cNvSpPr/>
          <p:nvPr/>
        </p:nvSpPr>
        <p:spPr>
          <a:xfrm>
            <a:off x="1005840" y="357378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Use Case Fit</a:t>
            </a:r>
            <a:endParaRPr lang="en-US"/>
          </a:p>
        </p:txBody>
      </p:sp>
      <p:sp>
        <p:nvSpPr>
          <p:cNvPr id="29931" name="Rectangle 29930">
            <a:extLst>
              <a:ext uri="{FF2B5EF4-FFF2-40B4-BE49-F238E27FC236}">
                <a16:creationId xmlns:a16="http://schemas.microsoft.com/office/drawing/2014/main" id="{CA084B56-0BEE-5E21-17C2-34B09D273772}"/>
              </a:ext>
            </a:extLst>
          </p:cNvPr>
          <p:cNvSpPr/>
          <p:nvPr/>
        </p:nvSpPr>
        <p:spPr>
          <a:xfrm>
            <a:off x="4663440" y="357378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 am unsure which workflows deliver real value.</a:t>
            </a:r>
            <a:endParaRPr lang="en-US"/>
          </a:p>
        </p:txBody>
      </p:sp>
      <p:sp>
        <p:nvSpPr>
          <p:cNvPr id="29990" name="Rectangle 29989">
            <a:hlinkClick r:id="rId6" action="ppaction://hlinksldjump"/>
            <a:extLst>
              <a:ext uri="{FF2B5EF4-FFF2-40B4-BE49-F238E27FC236}">
                <a16:creationId xmlns:a16="http://schemas.microsoft.com/office/drawing/2014/main" id="{C77E3AA9-29B0-02D8-6698-6A93ED20EEC5}"/>
              </a:ext>
            </a:extLst>
          </p:cNvPr>
          <p:cNvSpPr/>
          <p:nvPr/>
        </p:nvSpPr>
        <p:spPr>
          <a:xfrm>
            <a:off x="10180320" y="357378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Slide 9</a:t>
            </a:r>
            <a:endParaRPr lang="en-US" u="sng" dirty="0"/>
          </a:p>
        </p:txBody>
      </p:sp>
      <p:sp>
        <p:nvSpPr>
          <p:cNvPr id="30050" name="Rounded Rectangle 30049">
            <a:extLst>
              <a:ext uri="{FF2B5EF4-FFF2-40B4-BE49-F238E27FC236}">
                <a16:creationId xmlns:a16="http://schemas.microsoft.com/office/drawing/2014/main" id="{5B4E83B0-C61B-3E96-44AD-BB1ED6CF6A14}"/>
              </a:ext>
            </a:extLst>
          </p:cNvPr>
          <p:cNvSpPr/>
          <p:nvPr/>
        </p:nvSpPr>
        <p:spPr>
          <a:xfrm>
            <a:off x="457200" y="399288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11" name="Rectangle 30110">
            <a:extLst>
              <a:ext uri="{FF2B5EF4-FFF2-40B4-BE49-F238E27FC236}">
                <a16:creationId xmlns:a16="http://schemas.microsoft.com/office/drawing/2014/main" id="{F4DBF4C9-8C7A-4898-8C88-817C22A3785C}"/>
              </a:ext>
            </a:extLst>
          </p:cNvPr>
          <p:cNvSpPr/>
          <p:nvPr/>
        </p:nvSpPr>
        <p:spPr>
          <a:xfrm>
            <a:off x="457200" y="3992880"/>
            <a:ext cx="502920" cy="39624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6</a:t>
            </a:r>
            <a:endParaRPr lang="en-US"/>
          </a:p>
        </p:txBody>
      </p:sp>
      <p:sp>
        <p:nvSpPr>
          <p:cNvPr id="30173" name="Rectangle 30172">
            <a:extLst>
              <a:ext uri="{FF2B5EF4-FFF2-40B4-BE49-F238E27FC236}">
                <a16:creationId xmlns:a16="http://schemas.microsoft.com/office/drawing/2014/main" id="{66B692E5-5D24-9D69-FCAE-70CE277F81C1}"/>
              </a:ext>
            </a:extLst>
          </p:cNvPr>
          <p:cNvSpPr/>
          <p:nvPr/>
        </p:nvSpPr>
        <p:spPr>
          <a:xfrm>
            <a:off x="1005840" y="401574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Task Design &amp; Scenario Build</a:t>
            </a:r>
            <a:endParaRPr lang="en-US"/>
          </a:p>
        </p:txBody>
      </p:sp>
      <p:sp>
        <p:nvSpPr>
          <p:cNvPr id="30236" name="Rectangle 30235">
            <a:extLst>
              <a:ext uri="{FF2B5EF4-FFF2-40B4-BE49-F238E27FC236}">
                <a16:creationId xmlns:a16="http://schemas.microsoft.com/office/drawing/2014/main" id="{502121E3-144D-BBAA-41A6-397EC0C3FDBA}"/>
              </a:ext>
            </a:extLst>
          </p:cNvPr>
          <p:cNvSpPr/>
          <p:nvPr/>
        </p:nvSpPr>
        <p:spPr>
          <a:xfrm>
            <a:off x="4663440" y="401574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Right scenario, but the output needs rework.</a:t>
            </a:r>
            <a:endParaRPr lang="en-US"/>
          </a:p>
        </p:txBody>
      </p:sp>
      <p:sp>
        <p:nvSpPr>
          <p:cNvPr id="30300" name="Rectangle 30299">
            <a:hlinkClick r:id="rId7" action="ppaction://hlinksldjump"/>
            <a:extLst>
              <a:ext uri="{FF2B5EF4-FFF2-40B4-BE49-F238E27FC236}">
                <a16:creationId xmlns:a16="http://schemas.microsoft.com/office/drawing/2014/main" id="{5E13DD71-406B-B36D-BA42-E300837F161B}"/>
              </a:ext>
            </a:extLst>
          </p:cNvPr>
          <p:cNvSpPr/>
          <p:nvPr/>
        </p:nvSpPr>
        <p:spPr>
          <a:xfrm>
            <a:off x="10180320" y="401574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Slide 10</a:t>
            </a:r>
            <a:endParaRPr lang="en-US" u="sng" dirty="0"/>
          </a:p>
        </p:txBody>
      </p:sp>
      <p:sp>
        <p:nvSpPr>
          <p:cNvPr id="30365" name="Rounded Rectangle 30364">
            <a:extLst>
              <a:ext uri="{FF2B5EF4-FFF2-40B4-BE49-F238E27FC236}">
                <a16:creationId xmlns:a16="http://schemas.microsoft.com/office/drawing/2014/main" id="{33B00A92-5B75-16B3-C34B-27A9A3964CCB}"/>
              </a:ext>
            </a:extLst>
          </p:cNvPr>
          <p:cNvSpPr/>
          <p:nvPr/>
        </p:nvSpPr>
        <p:spPr>
          <a:xfrm>
            <a:off x="457200" y="443484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31" name="Rectangle 30430">
            <a:extLst>
              <a:ext uri="{FF2B5EF4-FFF2-40B4-BE49-F238E27FC236}">
                <a16:creationId xmlns:a16="http://schemas.microsoft.com/office/drawing/2014/main" id="{5C47B475-5BBC-DAA9-4770-DCB2BADDE40C}"/>
              </a:ext>
            </a:extLst>
          </p:cNvPr>
          <p:cNvSpPr/>
          <p:nvPr/>
        </p:nvSpPr>
        <p:spPr>
          <a:xfrm>
            <a:off x="457200" y="4434840"/>
            <a:ext cx="502920" cy="39624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7</a:t>
            </a:r>
            <a:endParaRPr lang="en-US"/>
          </a:p>
        </p:txBody>
      </p:sp>
      <p:sp>
        <p:nvSpPr>
          <p:cNvPr id="30498" name="Rectangle 30497">
            <a:extLst>
              <a:ext uri="{FF2B5EF4-FFF2-40B4-BE49-F238E27FC236}">
                <a16:creationId xmlns:a16="http://schemas.microsoft.com/office/drawing/2014/main" id="{A14F1213-2C10-B541-03AA-1A66E952DD8D}"/>
              </a:ext>
            </a:extLst>
          </p:cNvPr>
          <p:cNvSpPr/>
          <p:nvPr/>
        </p:nvSpPr>
        <p:spPr>
          <a:xfrm>
            <a:off x="1005840" y="445770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Value Storytelling &amp; Readout</a:t>
            </a:r>
            <a:endParaRPr lang="en-US"/>
          </a:p>
        </p:txBody>
      </p:sp>
      <p:sp>
        <p:nvSpPr>
          <p:cNvPr id="30566" name="Rectangle 30565">
            <a:extLst>
              <a:ext uri="{FF2B5EF4-FFF2-40B4-BE49-F238E27FC236}">
                <a16:creationId xmlns:a16="http://schemas.microsoft.com/office/drawing/2014/main" id="{D719EBD0-3038-8614-21DE-65879A4DF9AC}"/>
              </a:ext>
            </a:extLst>
          </p:cNvPr>
          <p:cNvSpPr/>
          <p:nvPr/>
        </p:nvSpPr>
        <p:spPr>
          <a:xfrm>
            <a:off x="4663440" y="445770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Usage I can show; dollar value I cannot.</a:t>
            </a:r>
            <a:endParaRPr lang="en-US"/>
          </a:p>
        </p:txBody>
      </p:sp>
      <p:sp>
        <p:nvSpPr>
          <p:cNvPr id="30635" name="Rectangle 30634">
            <a:hlinkClick r:id="rId8" action="ppaction://hlinksldjump"/>
            <a:extLst>
              <a:ext uri="{FF2B5EF4-FFF2-40B4-BE49-F238E27FC236}">
                <a16:creationId xmlns:a16="http://schemas.microsoft.com/office/drawing/2014/main" id="{6E015AE6-F719-BD15-7D7A-295861567109}"/>
              </a:ext>
            </a:extLst>
          </p:cNvPr>
          <p:cNvSpPr/>
          <p:nvPr/>
        </p:nvSpPr>
        <p:spPr>
          <a:xfrm>
            <a:off x="10180320" y="445770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Slide 11</a:t>
            </a:r>
            <a:endParaRPr lang="en-US" u="sng" dirty="0"/>
          </a:p>
        </p:txBody>
      </p:sp>
      <p:sp>
        <p:nvSpPr>
          <p:cNvPr id="30705" name="Rounded Rectangle 30704">
            <a:extLst>
              <a:ext uri="{FF2B5EF4-FFF2-40B4-BE49-F238E27FC236}">
                <a16:creationId xmlns:a16="http://schemas.microsoft.com/office/drawing/2014/main" id="{92CA6B8C-B780-5DB1-D7D8-A62C06368A44}"/>
              </a:ext>
            </a:extLst>
          </p:cNvPr>
          <p:cNvSpPr/>
          <p:nvPr/>
        </p:nvSpPr>
        <p:spPr>
          <a:xfrm>
            <a:off x="457200" y="487680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76" name="Rectangle 30775">
            <a:extLst>
              <a:ext uri="{FF2B5EF4-FFF2-40B4-BE49-F238E27FC236}">
                <a16:creationId xmlns:a16="http://schemas.microsoft.com/office/drawing/2014/main" id="{0B732E68-34BC-A0AC-52A4-37C6622B1E78}"/>
              </a:ext>
            </a:extLst>
          </p:cNvPr>
          <p:cNvSpPr/>
          <p:nvPr/>
        </p:nvSpPr>
        <p:spPr>
          <a:xfrm>
            <a:off x="457200" y="4876800"/>
            <a:ext cx="502920" cy="39624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8</a:t>
            </a:r>
            <a:endParaRPr lang="en-US"/>
          </a:p>
        </p:txBody>
      </p:sp>
      <p:sp>
        <p:nvSpPr>
          <p:cNvPr id="30848" name="Rectangle 30847">
            <a:extLst>
              <a:ext uri="{FF2B5EF4-FFF2-40B4-BE49-F238E27FC236}">
                <a16:creationId xmlns:a16="http://schemas.microsoft.com/office/drawing/2014/main" id="{D6381597-2DB1-7DF4-C08A-D37E126CEE45}"/>
              </a:ext>
            </a:extLst>
          </p:cNvPr>
          <p:cNvSpPr/>
          <p:nvPr/>
        </p:nvSpPr>
        <p:spPr>
          <a:xfrm>
            <a:off x="1005840" y="489966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Demand Sizing &amp; Rollout</a:t>
            </a:r>
            <a:endParaRPr lang="en-US"/>
          </a:p>
        </p:txBody>
      </p:sp>
      <p:sp>
        <p:nvSpPr>
          <p:cNvPr id="30921" name="Rectangle 30920">
            <a:extLst>
              <a:ext uri="{FF2B5EF4-FFF2-40B4-BE49-F238E27FC236}">
                <a16:creationId xmlns:a16="http://schemas.microsoft.com/office/drawing/2014/main" id="{2BA79346-6A78-A1B9-7608-B680D325FA3A}"/>
              </a:ext>
            </a:extLst>
          </p:cNvPr>
          <p:cNvSpPr/>
          <p:nvPr/>
        </p:nvSpPr>
        <p:spPr>
          <a:xfrm>
            <a:off x="4663440" y="489966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 can't predict how usage scales at rollout.</a:t>
            </a:r>
            <a:endParaRPr lang="en-US"/>
          </a:p>
        </p:txBody>
      </p:sp>
      <p:sp>
        <p:nvSpPr>
          <p:cNvPr id="30995" name="Rectangle 30994">
            <a:hlinkClick r:id="rId9" action="ppaction://hlinksldjump"/>
            <a:extLst>
              <a:ext uri="{FF2B5EF4-FFF2-40B4-BE49-F238E27FC236}">
                <a16:creationId xmlns:a16="http://schemas.microsoft.com/office/drawing/2014/main" id="{41EBD2D5-78EC-3E98-114B-FCAEFAC8A219}"/>
              </a:ext>
            </a:extLst>
          </p:cNvPr>
          <p:cNvSpPr/>
          <p:nvPr/>
        </p:nvSpPr>
        <p:spPr>
          <a:xfrm>
            <a:off x="10180320" y="489966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Slide 12</a:t>
            </a:r>
            <a:endParaRPr lang="en-US" u="sng" dirty="0"/>
          </a:p>
        </p:txBody>
      </p:sp>
      <p:sp>
        <p:nvSpPr>
          <p:cNvPr id="31070" name="Rounded Rectangle 31069">
            <a:extLst>
              <a:ext uri="{FF2B5EF4-FFF2-40B4-BE49-F238E27FC236}">
                <a16:creationId xmlns:a16="http://schemas.microsoft.com/office/drawing/2014/main" id="{274100BD-5344-0185-5FC5-BBEA3B016820}"/>
              </a:ext>
            </a:extLst>
          </p:cNvPr>
          <p:cNvSpPr/>
          <p:nvPr/>
        </p:nvSpPr>
        <p:spPr>
          <a:xfrm>
            <a:off x="457200" y="531876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46" name="Rectangle 31145">
            <a:extLst>
              <a:ext uri="{FF2B5EF4-FFF2-40B4-BE49-F238E27FC236}">
                <a16:creationId xmlns:a16="http://schemas.microsoft.com/office/drawing/2014/main" id="{5B0C7766-4CBC-6560-EA58-51241641030F}"/>
              </a:ext>
            </a:extLst>
          </p:cNvPr>
          <p:cNvSpPr/>
          <p:nvPr/>
        </p:nvSpPr>
        <p:spPr>
          <a:xfrm>
            <a:off x="457200" y="5318760"/>
            <a:ext cx="502920" cy="39624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9</a:t>
            </a:r>
            <a:endParaRPr lang="en-US"/>
          </a:p>
        </p:txBody>
      </p:sp>
      <p:sp>
        <p:nvSpPr>
          <p:cNvPr id="31223" name="Rectangle 31222">
            <a:extLst>
              <a:ext uri="{FF2B5EF4-FFF2-40B4-BE49-F238E27FC236}">
                <a16:creationId xmlns:a16="http://schemas.microsoft.com/office/drawing/2014/main" id="{6E463074-2C31-E9CC-700D-D9D92A769A90}"/>
              </a:ext>
            </a:extLst>
          </p:cNvPr>
          <p:cNvSpPr/>
          <p:nvPr/>
        </p:nvSpPr>
        <p:spPr>
          <a:xfrm>
            <a:off x="1005840" y="534162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Cost Governance &amp; Chargeback</a:t>
            </a:r>
            <a:endParaRPr lang="en-US"/>
          </a:p>
        </p:txBody>
      </p:sp>
      <p:sp>
        <p:nvSpPr>
          <p:cNvPr id="31301" name="Rectangle 31300">
            <a:extLst>
              <a:ext uri="{FF2B5EF4-FFF2-40B4-BE49-F238E27FC236}">
                <a16:creationId xmlns:a16="http://schemas.microsoft.com/office/drawing/2014/main" id="{DD4089AD-D3C8-95CE-E16E-D3403DB49219}"/>
              </a:ext>
            </a:extLst>
          </p:cNvPr>
          <p:cNvSpPr/>
          <p:nvPr/>
        </p:nvSpPr>
        <p:spPr>
          <a:xfrm>
            <a:off x="4663440" y="534162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Nobody owns the budget or the guardrails.</a:t>
            </a:r>
            <a:endParaRPr lang="en-US"/>
          </a:p>
        </p:txBody>
      </p:sp>
      <p:sp>
        <p:nvSpPr>
          <p:cNvPr id="31380" name="Rectangle 31379">
            <a:hlinkClick r:id="rId10" action="ppaction://hlinksldjump"/>
            <a:extLst>
              <a:ext uri="{FF2B5EF4-FFF2-40B4-BE49-F238E27FC236}">
                <a16:creationId xmlns:a16="http://schemas.microsoft.com/office/drawing/2014/main" id="{ADBC66C4-43D1-F743-F007-F52405D71FA5}"/>
              </a:ext>
            </a:extLst>
          </p:cNvPr>
          <p:cNvSpPr/>
          <p:nvPr/>
        </p:nvSpPr>
        <p:spPr>
          <a:xfrm>
            <a:off x="10180320" y="534162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Slide 13</a:t>
            </a:r>
            <a:endParaRPr lang="en-US" u="sng" dirty="0"/>
          </a:p>
        </p:txBody>
      </p:sp>
      <p:sp>
        <p:nvSpPr>
          <p:cNvPr id="31460" name="Rounded Rectangle 31459">
            <a:extLst>
              <a:ext uri="{FF2B5EF4-FFF2-40B4-BE49-F238E27FC236}">
                <a16:creationId xmlns:a16="http://schemas.microsoft.com/office/drawing/2014/main" id="{D5BDC19B-B41E-3A11-6ED2-E543492DC5F5}"/>
              </a:ext>
            </a:extLst>
          </p:cNvPr>
          <p:cNvSpPr/>
          <p:nvPr/>
        </p:nvSpPr>
        <p:spPr>
          <a:xfrm>
            <a:off x="457200" y="5760720"/>
            <a:ext cx="11277600" cy="39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41" name="Rectangle 31540">
            <a:extLst>
              <a:ext uri="{FF2B5EF4-FFF2-40B4-BE49-F238E27FC236}">
                <a16:creationId xmlns:a16="http://schemas.microsoft.com/office/drawing/2014/main" id="{24EA5BA3-4DD8-E8DD-E756-270C728EA25A}"/>
              </a:ext>
            </a:extLst>
          </p:cNvPr>
          <p:cNvSpPr/>
          <p:nvPr/>
        </p:nvSpPr>
        <p:spPr>
          <a:xfrm>
            <a:off x="457200" y="5760720"/>
            <a:ext cx="502920" cy="39624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10</a:t>
            </a:r>
            <a:endParaRPr lang="en-US"/>
          </a:p>
        </p:txBody>
      </p:sp>
      <p:sp>
        <p:nvSpPr>
          <p:cNvPr id="31623" name="Rectangle 31622">
            <a:extLst>
              <a:ext uri="{FF2B5EF4-FFF2-40B4-BE49-F238E27FC236}">
                <a16:creationId xmlns:a16="http://schemas.microsoft.com/office/drawing/2014/main" id="{07C982CD-C91C-DC16-B5F0-CCFE818A3644}"/>
              </a:ext>
            </a:extLst>
          </p:cNvPr>
          <p:cNvSpPr/>
          <p:nvPr/>
        </p:nvSpPr>
        <p:spPr>
          <a:xfrm>
            <a:off x="1005840" y="5783580"/>
            <a:ext cx="365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Value Cadence &amp; Expansion</a:t>
            </a:r>
            <a:endParaRPr lang="en-US"/>
          </a:p>
        </p:txBody>
      </p:sp>
      <p:sp>
        <p:nvSpPr>
          <p:cNvPr id="31706" name="Rectangle 31705">
            <a:extLst>
              <a:ext uri="{FF2B5EF4-FFF2-40B4-BE49-F238E27FC236}">
                <a16:creationId xmlns:a16="http://schemas.microsoft.com/office/drawing/2014/main" id="{6BA7ACB3-8C36-3237-E7B2-A2267135BB02}"/>
              </a:ext>
            </a:extLst>
          </p:cNvPr>
          <p:cNvSpPr/>
          <p:nvPr/>
        </p:nvSpPr>
        <p:spPr>
          <a:xfrm>
            <a:off x="4663440" y="5783580"/>
            <a:ext cx="551688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We prove value once, then the work stops.</a:t>
            </a:r>
            <a:endParaRPr lang="en-US"/>
          </a:p>
        </p:txBody>
      </p:sp>
      <p:sp>
        <p:nvSpPr>
          <p:cNvPr id="31790" name="Rectangle 31789">
            <a:hlinkClick r:id="rId11" action="ppaction://hlinksldjump"/>
            <a:extLst>
              <a:ext uri="{FF2B5EF4-FFF2-40B4-BE49-F238E27FC236}">
                <a16:creationId xmlns:a16="http://schemas.microsoft.com/office/drawing/2014/main" id="{9A5C16A9-B6DE-2D1E-5D17-58009C528774}"/>
              </a:ext>
            </a:extLst>
          </p:cNvPr>
          <p:cNvSpPr/>
          <p:nvPr/>
        </p:nvSpPr>
        <p:spPr>
          <a:xfrm>
            <a:off x="10180320" y="5783580"/>
            <a:ext cx="1371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→ </a:t>
            </a:r>
            <a:r>
              <a:rPr lang="en-US" sz="1400" b="1" u="sng" dirty="0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Slide 14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97533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5C7C0-A0A4-B5BA-F985-0AAD0157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6">
            <a:extLst>
              <a:ext uri="{FF2B5EF4-FFF2-40B4-BE49-F238E27FC236}">
                <a16:creationId xmlns:a16="http://schemas.microsoft.com/office/drawing/2014/main" id="{DC490D62-5893-D133-84B9-469F202DD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976110" y="618889"/>
            <a:ext cx="4480560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97F4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97F4">
                  <a:tint val="44500"/>
                  <a:satMod val="160000"/>
                </a:srgbClr>
              </a:gs>
              <a:gs pos="100000">
                <a:srgbClr val="0097F4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49CD22-2D91-E3FC-4E36-1B0EEAB37E7C}"/>
              </a:ext>
            </a:extLst>
          </p:cNvPr>
          <p:cNvSpPr/>
          <p:nvPr/>
        </p:nvSpPr>
        <p:spPr>
          <a:xfrm>
            <a:off x="6697980" y="807720"/>
            <a:ext cx="5036820" cy="68580"/>
          </a:xfrm>
          <a:prstGeom prst="round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91" name="Rectangle 31790">
            <a:extLst>
              <a:ext uri="{FF2B5EF4-FFF2-40B4-BE49-F238E27FC236}">
                <a16:creationId xmlns:a16="http://schemas.microsoft.com/office/drawing/2014/main" id="{45848602-9B98-6498-2B8B-735C638BFA69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COMPONENT 1 · EXECUTIVE &amp; BUSINESS DISCOVERY</a:t>
            </a:r>
          </a:p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CATEGORY 1 OF 10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1793" name="Rectangle 31792">
            <a:extLst>
              <a:ext uri="{FF2B5EF4-FFF2-40B4-BE49-F238E27FC236}">
                <a16:creationId xmlns:a16="http://schemas.microsoft.com/office/drawing/2014/main" id="{CBAA405C-08C9-7D23-56FF-2257D1F6B911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Lead with discovery, not a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demo. It carries the rest.</a:t>
            </a:r>
            <a:endParaRPr lang="en-US"/>
          </a:p>
        </p:txBody>
      </p:sp>
      <p:sp>
        <p:nvSpPr>
          <p:cNvPr id="31796" name="Rectangle 31795">
            <a:extLst>
              <a:ext uri="{FF2B5EF4-FFF2-40B4-BE49-F238E27FC236}">
                <a16:creationId xmlns:a16="http://schemas.microsoft.com/office/drawing/2014/main" id="{56E4F06F-838D-CAA1-69AA-6A1C1A0D2B90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“I default to a technical demo instead of a</a:t>
            </a:r>
          </a:p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discovery-led advisory conversation.”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1800" name="Rectangle 31799">
            <a:extLst>
              <a:ext uri="{FF2B5EF4-FFF2-40B4-BE49-F238E27FC236}">
                <a16:creationId xmlns:a16="http://schemas.microsoft.com/office/drawing/2014/main" id="{766D42D4-EB11-1BEB-9A2D-4F7709AD0799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1805" name="Rectangle 31804">
            <a:extLst>
              <a:ext uri="{FF2B5EF4-FFF2-40B4-BE49-F238E27FC236}">
                <a16:creationId xmlns:a16="http://schemas.microsoft.com/office/drawing/2014/main" id="{52CC532A-15B8-BF8B-151F-DAB076E23AB2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This sits under every other category. The best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cost model falls flat if the conversation starts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wrong: customers want an advisor, not a tour.</a:t>
            </a:r>
            <a:endParaRPr lang="en-US"/>
          </a:p>
        </p:txBody>
      </p:sp>
      <p:sp>
        <p:nvSpPr>
          <p:cNvPr id="31811" name="Rectangle 31810">
            <a:extLst>
              <a:ext uri="{FF2B5EF4-FFF2-40B4-BE49-F238E27FC236}">
                <a16:creationId xmlns:a16="http://schemas.microsoft.com/office/drawing/2014/main" id="{787644C9-2B0F-9F0F-3C2B-AA297D0F9BEE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1818" name="Rectangle 31817">
            <a:extLst>
              <a:ext uri="{FF2B5EF4-FFF2-40B4-BE49-F238E27FC236}">
                <a16:creationId xmlns:a16="http://schemas.microsoft.com/office/drawing/2014/main" id="{533DB487-25A8-EE1B-02FC-A3F0B136BA61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open with “here's what Copilot does”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instead of asking about goals?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have a repeatable framework for scoping an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engagement?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customers come to me for judgement rather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than only for reporting?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pause the demo and shift into discovery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when it's called for?</a:t>
            </a:r>
            <a:endParaRPr lang="en-US"/>
          </a:p>
        </p:txBody>
      </p:sp>
      <p:sp>
        <p:nvSpPr>
          <p:cNvPr id="31845" name="Rectangle 31844">
            <a:extLst>
              <a:ext uri="{FF2B5EF4-FFF2-40B4-BE49-F238E27FC236}">
                <a16:creationId xmlns:a16="http://schemas.microsoft.com/office/drawing/2014/main" id="{6BE78D96-A472-C9D9-900C-853597CC83A3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856" name="Rectangle 31855">
            <a:extLst>
              <a:ext uri="{FF2B5EF4-FFF2-40B4-BE49-F238E27FC236}">
                <a16:creationId xmlns:a16="http://schemas.microsoft.com/office/drawing/2014/main" id="{F3BADD1E-2CAB-815F-EFC6-F960CB899652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4DD5"/>
              </a:solidFill>
            </a:endParaRPr>
          </a:p>
        </p:txBody>
      </p:sp>
      <p:sp>
        <p:nvSpPr>
          <p:cNvPr id="31868" name="Rectangle 31867">
            <a:extLst>
              <a:ext uri="{FF2B5EF4-FFF2-40B4-BE49-F238E27FC236}">
                <a16:creationId xmlns:a16="http://schemas.microsoft.com/office/drawing/2014/main" id="{9437E8DF-54AD-381F-EF79-C45009046EAF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Task Ideation Exercise — PoV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>
              <a:hlinkClick r:id="rId3"/>
            </a:endParaRPr>
          </a:p>
        </p:txBody>
      </p:sp>
      <p:sp>
        <p:nvSpPr>
          <p:cNvPr id="31881" name="Rectangle 31880">
            <a:extLst>
              <a:ext uri="{FF2B5EF4-FFF2-40B4-BE49-F238E27FC236}">
                <a16:creationId xmlns:a16="http://schemas.microsoft.com/office/drawing/2014/main" id="{09C50A15-33BD-0E56-326E-FF21A6082B57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4DD5"/>
              </a:solidFill>
            </a:endParaRPr>
          </a:p>
        </p:txBody>
      </p:sp>
      <p:sp>
        <p:nvSpPr>
          <p:cNvPr id="31895" name="Rectangle 31894">
            <a:extLst>
              <a:ext uri="{FF2B5EF4-FFF2-40B4-BE49-F238E27FC236}">
                <a16:creationId xmlns:a16="http://schemas.microsoft.com/office/drawing/2014/main" id="{743FEB97-4156-08CD-ED80-5198D87B42B1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Partner Practice Development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aka.ms/CopilotPartnerGuide</a:t>
            </a:r>
            <a:endParaRPr lang="en-US" dirty="0">
              <a:hlinkClick r:id="rId4"/>
            </a:endParaRPr>
          </a:p>
        </p:txBody>
      </p:sp>
      <p:sp>
        <p:nvSpPr>
          <p:cNvPr id="31910" name="Rectangle 31909">
            <a:extLst>
              <a:ext uri="{FF2B5EF4-FFF2-40B4-BE49-F238E27FC236}">
                <a16:creationId xmlns:a16="http://schemas.microsoft.com/office/drawing/2014/main" id="{E34CDAD9-96E2-6AF1-D092-B1D982BFB4FD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4DD5"/>
              </a:solidFill>
            </a:endParaRPr>
          </a:p>
        </p:txBody>
      </p:sp>
      <p:sp>
        <p:nvSpPr>
          <p:cNvPr id="31980" name="Rectangle 31979">
            <a:extLst>
              <a:ext uri="{FF2B5EF4-FFF2-40B4-BE49-F238E27FC236}">
                <a16:creationId xmlns:a16="http://schemas.microsoft.com/office/drawing/2014/main" id="{C3ABFA9D-CEEB-FB6D-91A6-85D09F2EAB0B}"/>
              </a:ext>
            </a:extLst>
          </p:cNvPr>
          <p:cNvSpPr/>
          <p:nvPr/>
        </p:nvSpPr>
        <p:spPr>
          <a:xfrm>
            <a:off x="6880860" y="368046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4DD5"/>
              </a:solidFill>
            </a:endParaRPr>
          </a:p>
        </p:txBody>
      </p:sp>
      <p:sp>
        <p:nvSpPr>
          <p:cNvPr id="32021" name="Rectangle 32020">
            <a:extLst>
              <a:ext uri="{FF2B5EF4-FFF2-40B4-BE49-F238E27FC236}">
                <a16:creationId xmlns:a16="http://schemas.microsoft.com/office/drawing/2014/main" id="{644E66D1-7A53-2ACB-C03C-1D3DE166A515}"/>
              </a:ext>
            </a:extLst>
          </p:cNvPr>
          <p:cNvSpPr/>
          <p:nvPr/>
        </p:nvSpPr>
        <p:spPr>
          <a:xfrm>
            <a:off x="6880860" y="435864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4DD5"/>
              </a:solidFill>
            </a:endParaRPr>
          </a:p>
        </p:txBody>
      </p:sp>
      <p:sp>
        <p:nvSpPr>
          <p:cNvPr id="32043" name="Rectangle 32042">
            <a:extLst>
              <a:ext uri="{FF2B5EF4-FFF2-40B4-BE49-F238E27FC236}">
                <a16:creationId xmlns:a16="http://schemas.microsoft.com/office/drawing/2014/main" id="{66DC0DC5-1C84-97DB-EAC4-422B20D3CB84}"/>
              </a:ext>
            </a:extLst>
          </p:cNvPr>
          <p:cNvSpPr/>
          <p:nvPr/>
        </p:nvSpPr>
        <p:spPr>
          <a:xfrm>
            <a:off x="7018020" y="42672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Discovery </a:t>
            </a:r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openers (see slides 19 and 20)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5"/>
              </a:rPr>
              <a:t>Cowork Micro-Learning Session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 4</a:t>
            </a: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  <a:hlinkClick r:id="rId5"/>
            </a:endParaRPr>
          </a:p>
        </p:txBody>
      </p:sp>
      <p:sp>
        <p:nvSpPr>
          <p:cNvPr id="35356" name="Rectangle 35355">
            <a:extLst>
              <a:ext uri="{FF2B5EF4-FFF2-40B4-BE49-F238E27FC236}">
                <a16:creationId xmlns:a16="http://schemas.microsoft.com/office/drawing/2014/main" id="{9FF0009E-03AE-B54A-456A-369E557AE470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Partner Skilling Hub — all trainings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skilling-hub.com/en-US/search</a:t>
            </a:r>
            <a:endParaRPr lang="en-US" dirty="0">
              <a:ea typeface="Calibri"/>
              <a:cs typeface="Calibri"/>
              <a:hlinkClick r:id="" action="ppaction://noaction"/>
            </a:endParaRPr>
          </a:p>
        </p:txBody>
      </p:sp>
      <p:sp>
        <p:nvSpPr>
          <p:cNvPr id="35358" name="Rectangle 35357">
            <a:extLst>
              <a:ext uri="{FF2B5EF4-FFF2-40B4-BE49-F238E27FC236}">
                <a16:creationId xmlns:a16="http://schemas.microsoft.com/office/drawing/2014/main" id="{3DB1C6A5-ED4F-B492-99BE-1CA5AFEE2D85}"/>
              </a:ext>
            </a:extLst>
          </p:cNvPr>
          <p:cNvSpPr/>
          <p:nvPr/>
        </p:nvSpPr>
        <p:spPr>
          <a:xfrm>
            <a:off x="7018020" y="35890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Copilot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on Microsoft Learn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aka.ms/CopilotCoworkDocs</a:t>
            </a:r>
            <a:endParaRPr lang="en-US" dirty="0">
              <a:hlinkClick r:id="rId7"/>
            </a:endParaRPr>
          </a:p>
        </p:txBody>
      </p:sp>
    </p:spTree>
    <p:extLst>
      <p:ext uri="{BB962C8B-B14F-4D97-AF65-F5344CB8AC3E}">
        <p14:creationId xmlns:p14="http://schemas.microsoft.com/office/powerpoint/2010/main" val="17429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36AEA1CD-EFE6-8FD5-94DA-0CCEC0308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910906" y="684093"/>
            <a:ext cx="4610968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97F4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97F4">
                  <a:tint val="44500"/>
                  <a:satMod val="160000"/>
                </a:srgbClr>
              </a:gs>
              <a:gs pos="100000">
                <a:srgbClr val="0097F4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75A4B6-DCAC-0568-476D-E73FEC52EC50}"/>
              </a:ext>
            </a:extLst>
          </p:cNvPr>
          <p:cNvSpPr/>
          <p:nvPr/>
        </p:nvSpPr>
        <p:spPr>
          <a:xfrm>
            <a:off x="6697980" y="807720"/>
            <a:ext cx="5036820" cy="68580"/>
          </a:xfrm>
          <a:prstGeom prst="round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44" name="Rectangle 32043">
            <a:extLst>
              <a:ext uri="{FF2B5EF4-FFF2-40B4-BE49-F238E27FC236}">
                <a16:creationId xmlns:a16="http://schemas.microsoft.com/office/drawing/2014/main" id="{769C6ED1-0AC9-DE23-E3A7-365D50CFAA2E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COMPONENT 1 · EXECUTIVE &amp; BUSINESS DISCOVERY</a:t>
            </a:r>
          </a:p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CATEGORY 2 OF 10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2046" name="Rectangle 32045">
            <a:extLst>
              <a:ext uri="{FF2B5EF4-FFF2-40B4-BE49-F238E27FC236}">
                <a16:creationId xmlns:a16="http://schemas.microsoft.com/office/drawing/2014/main" id="{3F508F29-121D-D686-E4BB-A2C955A0852A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Answer the objective, not</a:t>
            </a:r>
          </a:p>
          <a:p>
            <a:pPr>
              <a:buNone/>
            </a:pPr>
            <a:r>
              <a:rPr lang="en-US" sz="26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the objection.</a:t>
            </a:r>
            <a:endParaRPr lang="en-US" dirty="0"/>
          </a:p>
        </p:txBody>
      </p:sp>
      <p:sp>
        <p:nvSpPr>
          <p:cNvPr id="32049" name="Rectangle 32048">
            <a:extLst>
              <a:ext uri="{FF2B5EF4-FFF2-40B4-BE49-F238E27FC236}">
                <a16:creationId xmlns:a16="http://schemas.microsoft.com/office/drawing/2014/main" id="{BEB02B1A-285D-C75D-038F-47A2F9D30B91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“When a customer names another tool, I</a:t>
            </a:r>
          </a:p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defend features, not the platform.”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2053" name="Rectangle 32052">
            <a:extLst>
              <a:ext uri="{FF2B5EF4-FFF2-40B4-BE49-F238E27FC236}">
                <a16:creationId xmlns:a16="http://schemas.microsoft.com/office/drawing/2014/main" id="{0AFB3389-E1AB-4223-D566-F41F5CAE6AC4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 dirty="0"/>
          </a:p>
        </p:txBody>
      </p:sp>
      <p:sp>
        <p:nvSpPr>
          <p:cNvPr id="32058" name="Rectangle 32057">
            <a:extLst>
              <a:ext uri="{FF2B5EF4-FFF2-40B4-BE49-F238E27FC236}">
                <a16:creationId xmlns:a16="http://schemas.microsoft.com/office/drawing/2014/main" id="{6D1EBEA5-65D5-DFB3-A5A8-950B14B8C618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Models and benchmarks change weekly. Argue the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leaderboard and you defend ground that moves; name</a:t>
            </a:r>
          </a:p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objective underneath and the platform wins it.</a:t>
            </a:r>
            <a:endParaRPr lang="en-US" dirty="0"/>
          </a:p>
        </p:txBody>
      </p:sp>
      <p:sp>
        <p:nvSpPr>
          <p:cNvPr id="32064" name="Rectangle 32063">
            <a:extLst>
              <a:ext uri="{FF2B5EF4-FFF2-40B4-BE49-F238E27FC236}">
                <a16:creationId xmlns:a16="http://schemas.microsoft.com/office/drawing/2014/main" id="{BDC77463-276F-316B-A7F4-13E3954B113E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 dirty="0"/>
          </a:p>
        </p:txBody>
      </p:sp>
      <p:sp>
        <p:nvSpPr>
          <p:cNvPr id="32071" name="Rectangle 32070">
            <a:extLst>
              <a:ext uri="{FF2B5EF4-FFF2-40B4-BE49-F238E27FC236}">
                <a16:creationId xmlns:a16="http://schemas.microsoft.com/office/drawing/2014/main" id="{99A4191D-5B4A-507B-49C5-D2151AF86459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name Cowork's durable differentiators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without a feature list?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know where the compete battlecards live,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and have I read the current set?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hear the unstated objective behind an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objection and reframe to it?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say which tool fits a job, including when</a:t>
            </a:r>
          </a:p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it isn't </a:t>
            </a:r>
            <a:r>
              <a:rPr lang="en-US" sz="1500" dirty="0" err="1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5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?</a:t>
            </a:r>
            <a:endParaRPr lang="en-US" dirty="0"/>
          </a:p>
        </p:txBody>
      </p:sp>
      <p:sp>
        <p:nvSpPr>
          <p:cNvPr id="32098" name="Rectangle 32097">
            <a:extLst>
              <a:ext uri="{FF2B5EF4-FFF2-40B4-BE49-F238E27FC236}">
                <a16:creationId xmlns:a16="http://schemas.microsoft.com/office/drawing/2014/main" id="{47D9B2D7-C429-B9F4-367A-00119C0AB258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109" name="Rectangle 32108">
            <a:extLst>
              <a:ext uri="{FF2B5EF4-FFF2-40B4-BE49-F238E27FC236}">
                <a16:creationId xmlns:a16="http://schemas.microsoft.com/office/drawing/2014/main" id="{AA0CFF47-66BC-5546-2F97-E19F5B2C1989}"/>
              </a:ext>
            </a:extLst>
          </p:cNvPr>
          <p:cNvSpPr/>
          <p:nvPr/>
        </p:nvSpPr>
        <p:spPr>
          <a:xfrm>
            <a:off x="6880860" y="1701765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21" name="Rectangle 32120">
            <a:extLst>
              <a:ext uri="{FF2B5EF4-FFF2-40B4-BE49-F238E27FC236}">
                <a16:creationId xmlns:a16="http://schemas.microsoft.com/office/drawing/2014/main" id="{5125F339-3099-148E-367B-213D43B6788D}"/>
              </a:ext>
            </a:extLst>
          </p:cNvPr>
          <p:cNvSpPr/>
          <p:nvPr/>
        </p:nvSpPr>
        <p:spPr>
          <a:xfrm>
            <a:off x="7018020" y="1610325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Why Microsoft for Partners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aka.ms/WhyMicrosoftForPartners</a:t>
            </a:r>
            <a:endParaRPr lang="en-US" dirty="0"/>
          </a:p>
        </p:txBody>
      </p:sp>
      <p:sp>
        <p:nvSpPr>
          <p:cNvPr id="32134" name="Rectangle 32133">
            <a:extLst>
              <a:ext uri="{FF2B5EF4-FFF2-40B4-BE49-F238E27FC236}">
                <a16:creationId xmlns:a16="http://schemas.microsoft.com/office/drawing/2014/main" id="{C8D545F4-7284-50C3-8F3A-B5C78B2B819E}"/>
              </a:ext>
            </a:extLst>
          </p:cNvPr>
          <p:cNvSpPr/>
          <p:nvPr/>
        </p:nvSpPr>
        <p:spPr>
          <a:xfrm>
            <a:off x="6880860" y="2379945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63" name="Rectangle 32162">
            <a:extLst>
              <a:ext uri="{FF2B5EF4-FFF2-40B4-BE49-F238E27FC236}">
                <a16:creationId xmlns:a16="http://schemas.microsoft.com/office/drawing/2014/main" id="{132B537C-49E5-1941-470E-A8D526C67AF3}"/>
              </a:ext>
            </a:extLst>
          </p:cNvPr>
          <p:cNvSpPr/>
          <p:nvPr/>
        </p:nvSpPr>
        <p:spPr>
          <a:xfrm>
            <a:off x="6880860" y="3058125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33" name="Rectangle 32232">
            <a:extLst>
              <a:ext uri="{FF2B5EF4-FFF2-40B4-BE49-F238E27FC236}">
                <a16:creationId xmlns:a16="http://schemas.microsoft.com/office/drawing/2014/main" id="{1239B45C-FA66-52F4-D166-722B33705EDB}"/>
              </a:ext>
            </a:extLst>
          </p:cNvPr>
          <p:cNvSpPr/>
          <p:nvPr/>
        </p:nvSpPr>
        <p:spPr>
          <a:xfrm>
            <a:off x="6880860" y="3764245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53" name="Rectangle 32252">
            <a:extLst>
              <a:ext uri="{FF2B5EF4-FFF2-40B4-BE49-F238E27FC236}">
                <a16:creationId xmlns:a16="http://schemas.microsoft.com/office/drawing/2014/main" id="{B90B721D-605D-F2EB-80FB-B15863C0E501}"/>
              </a:ext>
            </a:extLst>
          </p:cNvPr>
          <p:cNvSpPr/>
          <p:nvPr/>
        </p:nvSpPr>
        <p:spPr>
          <a:xfrm>
            <a:off x="7018020" y="3672805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“Which tool for the work?” matrix</a:t>
            </a:r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(see slide 19)</a:t>
            </a:r>
            <a:endParaRPr lang="en-US" sz="1400" dirty="0">
              <a:solidFill>
                <a:schemeClr val="tx1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/>
              </a:rPr>
              <a:t>Cowork Micro-Learning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 Session 3</a:t>
            </a:r>
            <a:endParaRPr lang="en-US" dirty="0">
              <a:ea typeface="Calibri"/>
              <a:cs typeface="Calibri"/>
              <a:hlinkClick r:id="rId4"/>
            </a:endParaRPr>
          </a:p>
        </p:txBody>
      </p:sp>
      <p:sp>
        <p:nvSpPr>
          <p:cNvPr id="32274" name="Rectangle 32273">
            <a:extLst>
              <a:ext uri="{FF2B5EF4-FFF2-40B4-BE49-F238E27FC236}">
                <a16:creationId xmlns:a16="http://schemas.microsoft.com/office/drawing/2014/main" id="{8D36ABAD-505B-72A5-7D1F-C60DC0EAF6E2}"/>
              </a:ext>
            </a:extLst>
          </p:cNvPr>
          <p:cNvSpPr/>
          <p:nvPr/>
        </p:nvSpPr>
        <p:spPr>
          <a:xfrm>
            <a:off x="6880860" y="4442425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96" name="Rectangle 32295">
            <a:extLst>
              <a:ext uri="{FF2B5EF4-FFF2-40B4-BE49-F238E27FC236}">
                <a16:creationId xmlns:a16="http://schemas.microsoft.com/office/drawing/2014/main" id="{3C44CC50-7085-2AD7-49BB-750F3CF0F573}"/>
              </a:ext>
            </a:extLst>
          </p:cNvPr>
          <p:cNvSpPr/>
          <p:nvPr/>
        </p:nvSpPr>
        <p:spPr>
          <a:xfrm>
            <a:off x="7018020" y="4350985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Compete deep dive </a:t>
            </a:r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(see slide 19)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
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/>
              </a:rPr>
              <a:t>Cowork Micro-Learning Session 3</a:t>
            </a: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362" name="Rectangle 35361">
            <a:extLst>
              <a:ext uri="{FF2B5EF4-FFF2-40B4-BE49-F238E27FC236}">
                <a16:creationId xmlns:a16="http://schemas.microsoft.com/office/drawing/2014/main" id="{CCAE8C76-8386-2474-D422-9B2CEDD46EBB}"/>
              </a:ext>
            </a:extLst>
          </p:cNvPr>
          <p:cNvSpPr/>
          <p:nvPr/>
        </p:nvSpPr>
        <p:spPr>
          <a:xfrm>
            <a:off x="6929672" y="2255375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vs Claude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battlecard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aka.ms/WhyMicrosoftForPartners</a:t>
            </a:r>
            <a:endParaRPr lang="en-US" dirty="0"/>
          </a:p>
        </p:txBody>
      </p:sp>
      <p:sp>
        <p:nvSpPr>
          <p:cNvPr id="35364" name="Rectangle 35363">
            <a:extLst>
              <a:ext uri="{FF2B5EF4-FFF2-40B4-BE49-F238E27FC236}">
                <a16:creationId xmlns:a16="http://schemas.microsoft.com/office/drawing/2014/main" id="{61771331-3524-19F6-243F-B2885B252EE9}"/>
              </a:ext>
            </a:extLst>
          </p:cNvPr>
          <p:cNvSpPr/>
          <p:nvPr/>
        </p:nvSpPr>
        <p:spPr>
          <a:xfrm>
            <a:off x="6929672" y="2966685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Copilot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on Microsoft Learn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aka.ms/CopilotCoworkDocs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43B34EB0-F076-0260-F7AE-191D856DA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471502" y="1135072"/>
            <a:ext cx="5489776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97F4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97F4">
                  <a:tint val="44500"/>
                  <a:satMod val="160000"/>
                </a:srgbClr>
              </a:gs>
              <a:gs pos="100000">
                <a:srgbClr val="0097F4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F3B5E9-2D62-669D-F5FA-2D3BCE11F903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97" name="Rectangle 32296">
            <a:extLst>
              <a:ext uri="{FF2B5EF4-FFF2-40B4-BE49-F238E27FC236}">
                <a16:creationId xmlns:a16="http://schemas.microsoft.com/office/drawing/2014/main" id="{C4A946C0-6A48-CAFE-F3FE-C5166A0AB409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COMPONENT 2 · BUSINESS VALUE &amp; CASE</a:t>
            </a:r>
          </a:p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CATEGORY 3 OF 10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2299" name="Rectangle 32298">
            <a:extLst>
              <a:ext uri="{FF2B5EF4-FFF2-40B4-BE49-F238E27FC236}">
                <a16:creationId xmlns:a16="http://schemas.microsoft.com/office/drawing/2014/main" id="{C9842F70-48E3-8AB4-1485-A82696E99EA4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Answer the cost question</a:t>
            </a:r>
          </a:p>
          <a:p>
            <a:pPr>
              <a:buNone/>
            </a:pPr>
            <a:r>
              <a:rPr lang="en-US" sz="26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with a defensible number.</a:t>
            </a:r>
            <a:endParaRPr lang="en-US" dirty="0"/>
          </a:p>
        </p:txBody>
      </p:sp>
      <p:sp>
        <p:nvSpPr>
          <p:cNvPr id="32302" name="Rectangle 32301">
            <a:extLst>
              <a:ext uri="{FF2B5EF4-FFF2-40B4-BE49-F238E27FC236}">
                <a16:creationId xmlns:a16="http://schemas.microsoft.com/office/drawing/2014/main" id="{BE5FC344-7DCA-C603-6702-837DECD61348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“I can't turn a customer's expected usage</a:t>
            </a:r>
          </a:p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into a believable cost forecast.”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2306" name="Rectangle 32305">
            <a:extLst>
              <a:ext uri="{FF2B5EF4-FFF2-40B4-BE49-F238E27FC236}">
                <a16:creationId xmlns:a16="http://schemas.microsoft.com/office/drawing/2014/main" id="{21ECA78D-1F43-6436-2C0D-D53EB034784A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 dirty="0"/>
          </a:p>
        </p:txBody>
      </p:sp>
      <p:sp>
        <p:nvSpPr>
          <p:cNvPr id="32311" name="Rectangle 32310">
            <a:extLst>
              <a:ext uri="{FF2B5EF4-FFF2-40B4-BE49-F238E27FC236}">
                <a16:creationId xmlns:a16="http://schemas.microsoft.com/office/drawing/2014/main" id="{2DD8BC48-A566-22E8-9537-915C12EB8459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Every UBB conversation opens with cost. Partners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who can't answer with a credible number lose</a:t>
            </a:r>
          </a:p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credibility before the value conversation starts.</a:t>
            </a:r>
            <a:endParaRPr lang="en-US" dirty="0"/>
          </a:p>
        </p:txBody>
      </p:sp>
      <p:sp>
        <p:nvSpPr>
          <p:cNvPr id="32317" name="Rectangle 32316">
            <a:extLst>
              <a:ext uri="{FF2B5EF4-FFF2-40B4-BE49-F238E27FC236}">
                <a16:creationId xmlns:a16="http://schemas.microsoft.com/office/drawing/2014/main" id="{088F6C17-52AF-650F-EDDD-E43800AC24FB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 dirty="0"/>
          </a:p>
        </p:txBody>
      </p:sp>
      <p:sp>
        <p:nvSpPr>
          <p:cNvPr id="32324" name="Rectangle 32323">
            <a:extLst>
              <a:ext uri="{FF2B5EF4-FFF2-40B4-BE49-F238E27FC236}">
                <a16:creationId xmlns:a16="http://schemas.microsoft.com/office/drawing/2014/main" id="{7FD33B75-D54E-0E14-0719-FC4CA9C7F3E7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explain how tasks and turns become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credits, and credits dollars?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Have I forecast cost before a rollout, not just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reported usage after?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Have I run a cost-modelling tool live, in front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of a customer?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know which assumptions — rate, task mix —</a:t>
            </a:r>
          </a:p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drive the forecast?</a:t>
            </a:r>
            <a:endParaRPr lang="en-US" dirty="0"/>
          </a:p>
        </p:txBody>
      </p:sp>
      <p:sp>
        <p:nvSpPr>
          <p:cNvPr id="32351" name="Rectangle 32350">
            <a:extLst>
              <a:ext uri="{FF2B5EF4-FFF2-40B4-BE49-F238E27FC236}">
                <a16:creationId xmlns:a16="http://schemas.microsoft.com/office/drawing/2014/main" id="{B9A9D39A-7D75-395C-F8D1-DC48B1752914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362" name="Rectangle 32361">
            <a:extLst>
              <a:ext uri="{FF2B5EF4-FFF2-40B4-BE49-F238E27FC236}">
                <a16:creationId xmlns:a16="http://schemas.microsoft.com/office/drawing/2014/main" id="{03F9B035-7388-7039-B9AD-C634ED047874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74" name="Rectangle 32373">
            <a:extLst>
              <a:ext uri="{FF2B5EF4-FFF2-40B4-BE49-F238E27FC236}">
                <a16:creationId xmlns:a16="http://schemas.microsoft.com/office/drawing/2014/main" id="{FA0187F2-0840-9726-63A3-942EC384C702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Credit Planning Model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aka.ms/CopilotCreditPlanningModel</a:t>
            </a:r>
            <a:endParaRPr lang="en-US" dirty="0"/>
          </a:p>
        </p:txBody>
      </p:sp>
      <p:sp>
        <p:nvSpPr>
          <p:cNvPr id="32387" name="Rectangle 32386">
            <a:extLst>
              <a:ext uri="{FF2B5EF4-FFF2-40B4-BE49-F238E27FC236}">
                <a16:creationId xmlns:a16="http://schemas.microsoft.com/office/drawing/2014/main" id="{9C587653-2CC6-46EC-4246-95B540F73F99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16" name="Rectangle 32415">
            <a:extLst>
              <a:ext uri="{FF2B5EF4-FFF2-40B4-BE49-F238E27FC236}">
                <a16:creationId xmlns:a16="http://schemas.microsoft.com/office/drawing/2014/main" id="{17677D66-7EE8-B08A-52C2-CC1F0C7109EE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32" name="Rectangle 32431">
            <a:extLst>
              <a:ext uri="{FF2B5EF4-FFF2-40B4-BE49-F238E27FC236}">
                <a16:creationId xmlns:a16="http://schemas.microsoft.com/office/drawing/2014/main" id="{FFA429C8-6CA0-3DC2-883E-7EA309D8FE06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Credits Licensing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aka.ms/CopilotCredits/LicensingGuide</a:t>
            </a:r>
            <a:endParaRPr lang="en-US" dirty="0"/>
          </a:p>
        </p:txBody>
      </p:sp>
      <p:sp>
        <p:nvSpPr>
          <p:cNvPr id="32449" name="Rectangle 32448">
            <a:extLst>
              <a:ext uri="{FF2B5EF4-FFF2-40B4-BE49-F238E27FC236}">
                <a16:creationId xmlns:a16="http://schemas.microsoft.com/office/drawing/2014/main" id="{64D62F39-978F-8888-1D96-A70D259A51BE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67" name="Rectangle 32466">
            <a:extLst>
              <a:ext uri="{FF2B5EF4-FFF2-40B4-BE49-F238E27FC236}">
                <a16:creationId xmlns:a16="http://schemas.microsoft.com/office/drawing/2014/main" id="{7630FB1C-637F-B0F6-105E-7FD10CAC7076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Credits on Learn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CopilotCredits/Learn</a:t>
            </a:r>
            <a:endParaRPr lang="en-US" dirty="0"/>
          </a:p>
        </p:txBody>
      </p:sp>
      <p:sp>
        <p:nvSpPr>
          <p:cNvPr id="32486" name="Rectangle 32485">
            <a:extLst>
              <a:ext uri="{FF2B5EF4-FFF2-40B4-BE49-F238E27FC236}">
                <a16:creationId xmlns:a16="http://schemas.microsoft.com/office/drawing/2014/main" id="{13F84C25-A9F4-7876-1424-000D25858EF7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06" name="Rectangle 32505">
            <a:extLst>
              <a:ext uri="{FF2B5EF4-FFF2-40B4-BE49-F238E27FC236}">
                <a16:creationId xmlns:a16="http://schemas.microsoft.com/office/drawing/2014/main" id="{7E7CB984-6BA9-8E79-2DD9-2BA55A359741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Economics of AI &amp; FinOps — </a:t>
            </a:r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(See slide 19)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6"/>
              </a:rPr>
              <a:t>Cowork Micro-learning Session 2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32527" name="Rectangle 32526">
            <a:extLst>
              <a:ext uri="{FF2B5EF4-FFF2-40B4-BE49-F238E27FC236}">
                <a16:creationId xmlns:a16="http://schemas.microsoft.com/office/drawing/2014/main" id="{BAD37ADE-BC61-A277-F735-34F38151450C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49" name="Rectangle 32548">
            <a:extLst>
              <a:ext uri="{FF2B5EF4-FFF2-40B4-BE49-F238E27FC236}">
                <a16:creationId xmlns:a16="http://schemas.microsoft.com/office/drawing/2014/main" id="{B7A89BCA-F9E3-B10D-226E-E45D4C4E01C1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Persona Credit Estimator (web)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nptnlopppecostweb.azurewebsites.net</a:t>
            </a:r>
            <a:endParaRPr lang="en-US" dirty="0"/>
          </a:p>
        </p:txBody>
      </p:sp>
      <p:sp>
        <p:nvSpPr>
          <p:cNvPr id="35376" name="Rectangle 35375">
            <a:extLst>
              <a:ext uri="{FF2B5EF4-FFF2-40B4-BE49-F238E27FC236}">
                <a16:creationId xmlns:a16="http://schemas.microsoft.com/office/drawing/2014/main" id="{536A9734-6C9A-3A11-2728-CB2C7EAC56BA}"/>
              </a:ext>
            </a:extLst>
          </p:cNvPr>
          <p:cNvSpPr/>
          <p:nvPr/>
        </p:nvSpPr>
        <p:spPr>
          <a:xfrm>
            <a:off x="7018020" y="21691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Business Outcomes Workbook — PoV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8"/>
              </a:rPr>
              <a:t>aka.ms/CoworkPartnerKit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ED4A6D-3891-10EA-5382-D246B331C09D}"/>
              </a:ext>
            </a:extLst>
          </p:cNvPr>
          <p:cNvSpPr/>
          <p:nvPr/>
        </p:nvSpPr>
        <p:spPr>
          <a:xfrm>
            <a:off x="6891298" y="5611243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ED3B0-1294-8787-ABBB-399634274DDF}"/>
              </a:ext>
            </a:extLst>
          </p:cNvPr>
          <p:cNvSpPr/>
          <p:nvPr/>
        </p:nvSpPr>
        <p:spPr>
          <a:xfrm>
            <a:off x="7028458" y="5519803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Cost Management: Copilot Credits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9"/>
              </a:rPr>
              <a:t>Cowork Micro-Learning Session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9"/>
              </a:rPr>
              <a:t> 4</a:t>
            </a: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  <a:hlinkClick r:id="rId9"/>
            </a:endParaRPr>
          </a:p>
        </p:txBody>
      </p:sp>
    </p:spTree>
    <p:extLst>
      <p:ext uri="{BB962C8B-B14F-4D97-AF65-F5344CB8AC3E}">
        <p14:creationId xmlns:p14="http://schemas.microsoft.com/office/powerpoint/2010/main" val="272306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B4E83A54-F21C-597E-52D4-040E6918E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8783" y="897791"/>
            <a:ext cx="5015214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97F4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97F4">
                  <a:tint val="44500"/>
                  <a:satMod val="160000"/>
                </a:srgbClr>
              </a:gs>
              <a:gs pos="100000">
                <a:srgbClr val="0097F4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322D286-C8FE-AAC4-5665-11103FD8B39C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50" name="Rectangle 32549">
            <a:extLst>
              <a:ext uri="{FF2B5EF4-FFF2-40B4-BE49-F238E27FC236}">
                <a16:creationId xmlns:a16="http://schemas.microsoft.com/office/drawing/2014/main" id="{D646251B-E878-99E3-2972-C0F98E759500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COMPONENT 2 · BUSINESS VALUE &amp; CASE</a:t>
            </a:r>
          </a:p>
          <a:p>
            <a:pPr>
              <a:buNone/>
            </a:pPr>
            <a:r>
              <a:rPr lang="en-US" sz="1300" b="1" dirty="0">
                <a:solidFill>
                  <a:srgbClr val="064DD5"/>
                </a:solidFill>
                <a:effectLst/>
                <a:latin typeface="Trebuchet MS" panose="020B0603020202020204" pitchFamily="34" charset="0"/>
              </a:rPr>
              <a:t>CATEGORY 4 OF 10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2552" name="Rectangle 32551">
            <a:extLst>
              <a:ext uri="{FF2B5EF4-FFF2-40B4-BE49-F238E27FC236}">
                <a16:creationId xmlns:a16="http://schemas.microsoft.com/office/drawing/2014/main" id="{F7A58AA4-7102-A71F-2EA0-0FC48B0D8E8B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Capture the baseline before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the pilot starts.</a:t>
            </a:r>
            <a:endParaRPr lang="en-US"/>
          </a:p>
        </p:txBody>
      </p:sp>
      <p:sp>
        <p:nvSpPr>
          <p:cNvPr id="32555" name="Rectangle 32554">
            <a:extLst>
              <a:ext uri="{FF2B5EF4-FFF2-40B4-BE49-F238E27FC236}">
                <a16:creationId xmlns:a16="http://schemas.microsoft.com/office/drawing/2014/main" id="{08639D7E-17C4-7744-B2C1-C01E7957B235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“We start delivering before anyone has</a:t>
            </a:r>
          </a:p>
          <a:p>
            <a:pPr>
              <a:buNone/>
            </a:pPr>
            <a:r>
              <a:rPr lang="en-US" sz="1700" i="1" dirty="0">
                <a:solidFill>
                  <a:srgbClr val="064DD5"/>
                </a:solidFill>
                <a:effectLst/>
                <a:latin typeface="Calibri" panose="020F0502020204030204" pitchFamily="34" charset="0"/>
              </a:rPr>
              <a:t>written down what the work costs today.”</a:t>
            </a:r>
            <a:endParaRPr lang="en-US" dirty="0">
              <a:solidFill>
                <a:srgbClr val="064DD5"/>
              </a:solidFill>
            </a:endParaRPr>
          </a:p>
        </p:txBody>
      </p:sp>
      <p:sp>
        <p:nvSpPr>
          <p:cNvPr id="32559" name="Rectangle 32558">
            <a:extLst>
              <a:ext uri="{FF2B5EF4-FFF2-40B4-BE49-F238E27FC236}">
                <a16:creationId xmlns:a16="http://schemas.microsoft.com/office/drawing/2014/main" id="{4667D37F-3740-88E3-16F8-D46A100BE813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2564" name="Rectangle 32563">
            <a:extLst>
              <a:ext uri="{FF2B5EF4-FFF2-40B4-BE49-F238E27FC236}">
                <a16:creationId xmlns:a16="http://schemas.microsoft.com/office/drawing/2014/main" id="{3044888F-6AFE-9305-9F9E-240E38BED000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Value is a comparison. With no captured </a:t>
            </a:r>
            <a:r>
              <a:rPr lang="en-US" sz="15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before</a:t>
            </a:r>
            <a:r>
              <a:rPr lang="en-US" sz="15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 —</a:t>
            </a:r>
          </a:p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time and cost per task, and who does it — there is</a:t>
            </a:r>
          </a:p>
          <a:p>
            <a:pPr>
              <a:buNone/>
            </a:pP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nothing to measure the </a:t>
            </a:r>
            <a:r>
              <a:rPr lang="en-US" sz="15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after</a:t>
            </a:r>
            <a:r>
              <a:rPr lang="en-US" sz="15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15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 against.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2570" name="Rectangle 32569">
            <a:extLst>
              <a:ext uri="{FF2B5EF4-FFF2-40B4-BE49-F238E27FC236}">
                <a16:creationId xmlns:a16="http://schemas.microsoft.com/office/drawing/2014/main" id="{E66157C4-1566-9F17-20CB-5B394BBAF478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2577" name="Rectangle 32576">
            <a:extLst>
              <a:ext uri="{FF2B5EF4-FFF2-40B4-BE49-F238E27FC236}">
                <a16:creationId xmlns:a16="http://schemas.microsoft.com/office/drawing/2014/main" id="{E6E54412-DC2E-4561-4AC3-4448374442F9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Have I captured today's effort and cost per task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before Cowork goes on?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Have I agreed success metrics and KPIs with the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sponsor, in writing?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build a forward ROI case from hours saved,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run rate and credit cost?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Have the assumptions the case rests on been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signed off by the customer?</a:t>
            </a:r>
            <a:endParaRPr lang="en-US"/>
          </a:p>
        </p:txBody>
      </p:sp>
      <p:sp>
        <p:nvSpPr>
          <p:cNvPr id="32604" name="Rectangle 32603">
            <a:extLst>
              <a:ext uri="{FF2B5EF4-FFF2-40B4-BE49-F238E27FC236}">
                <a16:creationId xmlns:a16="http://schemas.microsoft.com/office/drawing/2014/main" id="{F86613CA-5A65-64A5-EE86-54F89F58D570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615" name="Rectangle 32614">
            <a:extLst>
              <a:ext uri="{FF2B5EF4-FFF2-40B4-BE49-F238E27FC236}">
                <a16:creationId xmlns:a16="http://schemas.microsoft.com/office/drawing/2014/main" id="{1434F45C-AEBD-5200-D944-C925864B3CAB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27" name="Rectangle 32626">
            <a:extLst>
              <a:ext uri="{FF2B5EF4-FFF2-40B4-BE49-F238E27FC236}">
                <a16:creationId xmlns:a16="http://schemas.microsoft.com/office/drawing/2014/main" id="{4D847F22-A917-96B4-08A6-5125B70FBBAC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Business Outcomes Workbook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2640" name="Rectangle 32639">
            <a:extLst>
              <a:ext uri="{FF2B5EF4-FFF2-40B4-BE49-F238E27FC236}">
                <a16:creationId xmlns:a16="http://schemas.microsoft.com/office/drawing/2014/main" id="{761FC5EB-E3BA-58BE-D2A8-35CCC0681E91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54" name="Rectangle 32653">
            <a:extLst>
              <a:ext uri="{FF2B5EF4-FFF2-40B4-BE49-F238E27FC236}">
                <a16:creationId xmlns:a16="http://schemas.microsoft.com/office/drawing/2014/main" id="{2B52133D-628A-B049-6F6A-B3057BE3C94D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Business outcomes by function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2669" name="Rectangle 32668">
            <a:extLst>
              <a:ext uri="{FF2B5EF4-FFF2-40B4-BE49-F238E27FC236}">
                <a16:creationId xmlns:a16="http://schemas.microsoft.com/office/drawing/2014/main" id="{9B733DE1-B96C-15EF-B3C9-1D37BD20EDCE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85" name="Rectangle 32684">
            <a:extLst>
              <a:ext uri="{FF2B5EF4-FFF2-40B4-BE49-F238E27FC236}">
                <a16:creationId xmlns:a16="http://schemas.microsoft.com/office/drawing/2014/main" id="{7969D734-8C79-FFB0-703F-7CD29D85AC6E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Engagement Delivery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2702" name="Rectangle 32701">
            <a:extLst>
              <a:ext uri="{FF2B5EF4-FFF2-40B4-BE49-F238E27FC236}">
                <a16:creationId xmlns:a16="http://schemas.microsoft.com/office/drawing/2014/main" id="{2600611F-DE85-9000-E257-FACFDEA1877A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20" name="Rectangle 32719">
            <a:extLst>
              <a:ext uri="{FF2B5EF4-FFF2-40B4-BE49-F238E27FC236}">
                <a16:creationId xmlns:a16="http://schemas.microsoft.com/office/drawing/2014/main" id="{EEB196C1-A0DD-EDF0-9BE4-7CC9C927B8F9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Credit Planning Model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aka.ms/CopilotCreditPlanningModel</a:t>
            </a:r>
            <a:endParaRPr lang="en-US" dirty="0"/>
          </a:p>
        </p:txBody>
      </p:sp>
      <p:sp>
        <p:nvSpPr>
          <p:cNvPr id="32739" name="Rectangle 32738">
            <a:extLst>
              <a:ext uri="{FF2B5EF4-FFF2-40B4-BE49-F238E27FC236}">
                <a16:creationId xmlns:a16="http://schemas.microsoft.com/office/drawing/2014/main" id="{A01DF8FF-77DB-E47B-5883-AC3BA5A6D51C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59" name="Rectangle 32758">
            <a:extLst>
              <a:ext uri="{FF2B5EF4-FFF2-40B4-BE49-F238E27FC236}">
                <a16:creationId xmlns:a16="http://schemas.microsoft.com/office/drawing/2014/main" id="{70366EB7-1094-AA8B-97D4-341F1DF5BB71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Practice Development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aka.ms/CopilotPartnerGuide</a:t>
            </a:r>
            <a:endParaRPr lang="en-US" dirty="0"/>
          </a:p>
        </p:txBody>
      </p:sp>
      <p:sp>
        <p:nvSpPr>
          <p:cNvPr id="32780" name="Rectangle 32779">
            <a:extLst>
              <a:ext uri="{FF2B5EF4-FFF2-40B4-BE49-F238E27FC236}">
                <a16:creationId xmlns:a16="http://schemas.microsoft.com/office/drawing/2014/main" id="{DCA75055-D942-70F3-8219-42DD9E73519B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02" name="Rectangle 32801">
            <a:extLst>
              <a:ext uri="{FF2B5EF4-FFF2-40B4-BE49-F238E27FC236}">
                <a16:creationId xmlns:a16="http://schemas.microsoft.com/office/drawing/2014/main" id="{399BD89F-DA19-D833-7535-279AC217C171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Partner-led customer trials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aka.ms/ABSTrialsRequest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89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F5C02D44-6542-D048-1086-C2FF34533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8783" y="897791"/>
            <a:ext cx="5015214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B397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B397">
                  <a:tint val="44500"/>
                  <a:satMod val="160000"/>
                </a:srgbClr>
              </a:gs>
              <a:gs pos="100000">
                <a:srgbClr val="00B397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2803" name="Rectangle 32802">
            <a:extLst>
              <a:ext uri="{FF2B5EF4-FFF2-40B4-BE49-F238E27FC236}">
                <a16:creationId xmlns:a16="http://schemas.microsoft.com/office/drawing/2014/main" id="{F6818BD5-9732-AA9D-9D10-0644439B9BB6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COMPONENT 3 · PROCESS TRANSFORMATION</a:t>
            </a:r>
          </a:p>
          <a:p>
            <a:pPr>
              <a:buNone/>
            </a:pPr>
            <a:r>
              <a:rPr lang="en-US" sz="1300" b="1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CATEGORY 5 OF 10</a:t>
            </a:r>
            <a:endParaRPr lang="en-US"/>
          </a:p>
        </p:txBody>
      </p:sp>
      <p:sp>
        <p:nvSpPr>
          <p:cNvPr id="32805" name="Rectangle 32804">
            <a:extLst>
              <a:ext uri="{FF2B5EF4-FFF2-40B4-BE49-F238E27FC236}">
                <a16:creationId xmlns:a16="http://schemas.microsoft.com/office/drawing/2014/main" id="{35CA38B4-1641-3B41-E980-E46F65D7DFC6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Recommend workflows that pay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— and say when they don't.</a:t>
            </a:r>
            <a:endParaRPr lang="en-US"/>
          </a:p>
        </p:txBody>
      </p:sp>
      <p:sp>
        <p:nvSpPr>
          <p:cNvPr id="32808" name="Rectangle 32807">
            <a:extLst>
              <a:ext uri="{FF2B5EF4-FFF2-40B4-BE49-F238E27FC236}">
                <a16:creationId xmlns:a16="http://schemas.microsoft.com/office/drawing/2014/main" id="{7C84FA77-8548-8494-5996-73627BFB168E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“I don't know which workflows deliver value,</a:t>
            </a:r>
          </a:p>
          <a:p>
            <a:pPr>
              <a:buNone/>
            </a:pPr>
            <a:r>
              <a:rPr lang="en-US" sz="17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or when Cowork isn't the right tool.”</a:t>
            </a:r>
            <a:endParaRPr lang="en-US"/>
          </a:p>
        </p:txBody>
      </p:sp>
      <p:sp>
        <p:nvSpPr>
          <p:cNvPr id="32812" name="Rectangle 32811">
            <a:extLst>
              <a:ext uri="{FF2B5EF4-FFF2-40B4-BE49-F238E27FC236}">
                <a16:creationId xmlns:a16="http://schemas.microsoft.com/office/drawing/2014/main" id="{21F6B9CC-8ED2-1D10-A4D6-ED32FFBEF7E2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2817" name="Rectangle 32816">
            <a:extLst>
              <a:ext uri="{FF2B5EF4-FFF2-40B4-BE49-F238E27FC236}">
                <a16:creationId xmlns:a16="http://schemas.microsoft.com/office/drawing/2014/main" id="{FDE909F9-6F61-E38A-5749-E27A2D5AF51D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Not all usage is equal. High-volume tasks like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inbox triage return far less than fewer, complex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ones. Wrong use cases cost budget and credibility.</a:t>
            </a:r>
            <a:endParaRPr lang="en-US"/>
          </a:p>
        </p:txBody>
      </p:sp>
      <p:sp>
        <p:nvSpPr>
          <p:cNvPr id="32823" name="Rectangle 32822">
            <a:extLst>
              <a:ext uri="{FF2B5EF4-FFF2-40B4-BE49-F238E27FC236}">
                <a16:creationId xmlns:a16="http://schemas.microsoft.com/office/drawing/2014/main" id="{D7B19D50-16CA-25FC-D1FE-E2CEF97F0F63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2830" name="Rectangle 32829">
            <a:extLst>
              <a:ext uri="{FF2B5EF4-FFF2-40B4-BE49-F238E27FC236}">
                <a16:creationId xmlns:a16="http://schemas.microsoft.com/office/drawing/2014/main" id="{445DA7E6-9D93-CC82-D97D-3CC8971DFD24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map a customer's processes to task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categories and spot the fits?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know when to recommend a different tool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instead of Cowork?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tell high-volume usage apart from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high-value usage?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have a view on which function should pilot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first, and why?</a:t>
            </a:r>
            <a:endParaRPr lang="en-US"/>
          </a:p>
        </p:txBody>
      </p:sp>
      <p:sp>
        <p:nvSpPr>
          <p:cNvPr id="32857" name="Rectangle 32856">
            <a:extLst>
              <a:ext uri="{FF2B5EF4-FFF2-40B4-BE49-F238E27FC236}">
                <a16:creationId xmlns:a16="http://schemas.microsoft.com/office/drawing/2014/main" id="{434E26AD-F39E-B71D-DCE2-49929AF3B5D6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868" name="Rectangle 32867">
            <a:extLst>
              <a:ext uri="{FF2B5EF4-FFF2-40B4-BE49-F238E27FC236}">
                <a16:creationId xmlns:a16="http://schemas.microsoft.com/office/drawing/2014/main" id="{527A3A57-C5A8-0781-43F4-C23895610C26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80" name="Rectangle 32879">
            <a:extLst>
              <a:ext uri="{FF2B5EF4-FFF2-40B4-BE49-F238E27FC236}">
                <a16:creationId xmlns:a16="http://schemas.microsoft.com/office/drawing/2014/main" id="{C55D18FD-E8AE-A96D-0CCE-0B591157F3FA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Task Packs (all functions)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2893" name="Rectangle 32892">
            <a:extLst>
              <a:ext uri="{FF2B5EF4-FFF2-40B4-BE49-F238E27FC236}">
                <a16:creationId xmlns:a16="http://schemas.microsoft.com/office/drawing/2014/main" id="{97C9856D-071C-0685-3805-812D970AA447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07" name="Rectangle 32906">
            <a:extLst>
              <a:ext uri="{FF2B5EF4-FFF2-40B4-BE49-F238E27FC236}">
                <a16:creationId xmlns:a16="http://schemas.microsoft.com/office/drawing/2014/main" id="{F999C4A3-812F-F722-A2ED-6256AD4B51FE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Nifty Fifty scenario catalogue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2922" name="Rectangle 32921">
            <a:extLst>
              <a:ext uri="{FF2B5EF4-FFF2-40B4-BE49-F238E27FC236}">
                <a16:creationId xmlns:a16="http://schemas.microsoft.com/office/drawing/2014/main" id="{FBF6064B-104C-9504-1C01-193FDFA8F2A5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38" name="Rectangle 32937">
            <a:extLst>
              <a:ext uri="{FF2B5EF4-FFF2-40B4-BE49-F238E27FC236}">
                <a16:creationId xmlns:a16="http://schemas.microsoft.com/office/drawing/2014/main" id="{A855B3CC-C15F-E20B-F7C2-A36DA675697B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Task Ideation Exercise — </a:t>
            </a:r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Proof of Value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2955" name="Rectangle 32954">
            <a:extLst>
              <a:ext uri="{FF2B5EF4-FFF2-40B4-BE49-F238E27FC236}">
                <a16:creationId xmlns:a16="http://schemas.microsoft.com/office/drawing/2014/main" id="{4248BBB6-98A1-7850-1748-55537282A790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73" name="Rectangle 32972">
            <a:extLst>
              <a:ext uri="{FF2B5EF4-FFF2-40B4-BE49-F238E27FC236}">
                <a16:creationId xmlns:a16="http://schemas.microsoft.com/office/drawing/2014/main" id="{3C6DBB4E-C577-C522-DC80-0B6F2ED0ADEA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adoption site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adoption.microsoft.com/copilot/cowork</a:t>
            </a:r>
            <a:endParaRPr lang="en-US" dirty="0"/>
          </a:p>
        </p:txBody>
      </p:sp>
      <p:sp>
        <p:nvSpPr>
          <p:cNvPr id="32992" name="Rectangle 32991">
            <a:extLst>
              <a:ext uri="{FF2B5EF4-FFF2-40B4-BE49-F238E27FC236}">
                <a16:creationId xmlns:a16="http://schemas.microsoft.com/office/drawing/2014/main" id="{6705C272-CC55-6522-D585-F677E7982170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12" name="Rectangle 33011">
            <a:extLst>
              <a:ext uri="{FF2B5EF4-FFF2-40B4-BE49-F238E27FC236}">
                <a16:creationId xmlns:a16="http://schemas.microsoft.com/office/drawing/2014/main" id="{EB2B93B9-06D6-0610-B247-E1BE940F183E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FAQ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CopilotCoworkFAQ</a:t>
            </a:r>
            <a:endParaRPr lang="en-US" dirty="0"/>
          </a:p>
        </p:txBody>
      </p:sp>
      <p:sp>
        <p:nvSpPr>
          <p:cNvPr id="33033" name="Rectangle 33032">
            <a:extLst>
              <a:ext uri="{FF2B5EF4-FFF2-40B4-BE49-F238E27FC236}">
                <a16:creationId xmlns:a16="http://schemas.microsoft.com/office/drawing/2014/main" id="{5D887C6A-9E50-54BA-ABF9-20ED2878D515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55" name="Rectangle 33054">
            <a:extLst>
              <a:ext uri="{FF2B5EF4-FFF2-40B4-BE49-F238E27FC236}">
                <a16:creationId xmlns:a16="http://schemas.microsoft.com/office/drawing/2014/main" id="{490C756E-B18C-3D8B-1747-CFF5D6B66143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C1809-C806-A141-6BB3-96503E037456}"/>
              </a:ext>
            </a:extLst>
          </p:cNvPr>
          <p:cNvSpPr/>
          <p:nvPr/>
        </p:nvSpPr>
        <p:spPr>
          <a:xfrm>
            <a:off x="7007582" y="4893501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Key functions and high value tasks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6"/>
              </a:rPr>
              <a:t>Cowork Micro-Learning Session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 4</a:t>
            </a: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  <a:hlinkClick r:id="rId6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D1EFEA-DDC8-29ED-E3E1-58043C057D81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08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4D7F56F3-F58B-A15B-3E11-752FC7EC2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8783" y="897791"/>
            <a:ext cx="5015214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B397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B397">
                  <a:tint val="44500"/>
                  <a:satMod val="160000"/>
                </a:srgbClr>
              </a:gs>
              <a:gs pos="100000">
                <a:srgbClr val="00B397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9F8EEB-201E-B36C-9985-F317B0CDE2EB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56" name="Rectangle 33055">
            <a:extLst>
              <a:ext uri="{FF2B5EF4-FFF2-40B4-BE49-F238E27FC236}">
                <a16:creationId xmlns:a16="http://schemas.microsoft.com/office/drawing/2014/main" id="{56D52B76-2CC8-4B00-A8F5-338A41FD78BD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 dirty="0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COMPONENT 3 · PROCESS TRANSFORMATION</a:t>
            </a:r>
          </a:p>
          <a:p>
            <a:pPr>
              <a:buNone/>
            </a:pPr>
            <a:r>
              <a:rPr lang="en-US" sz="1300" b="1" dirty="0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CATEGORY 6 OF 10</a:t>
            </a:r>
            <a:endParaRPr lang="en-US" dirty="0"/>
          </a:p>
        </p:txBody>
      </p:sp>
      <p:sp>
        <p:nvSpPr>
          <p:cNvPr id="33058" name="Rectangle 33057">
            <a:extLst>
              <a:ext uri="{FF2B5EF4-FFF2-40B4-BE49-F238E27FC236}">
                <a16:creationId xmlns:a16="http://schemas.microsoft.com/office/drawing/2014/main" id="{DEDC33C5-5FE6-318B-95A8-F693555CA1FA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 good use case still needs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 well-built task.</a:t>
            </a:r>
            <a:endParaRPr lang="en-US"/>
          </a:p>
        </p:txBody>
      </p:sp>
      <p:sp>
        <p:nvSpPr>
          <p:cNvPr id="33061" name="Rectangle 33060">
            <a:extLst>
              <a:ext uri="{FF2B5EF4-FFF2-40B4-BE49-F238E27FC236}">
                <a16:creationId xmlns:a16="http://schemas.microsoft.com/office/drawing/2014/main" id="{66DB4431-A46E-F291-5546-CB2588927410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“We picked the right scenario, but the</a:t>
            </a:r>
          </a:p>
          <a:p>
            <a:pPr>
              <a:buNone/>
            </a:pPr>
            <a:r>
              <a:rPr lang="en-US" sz="17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output still came back needing rework.”</a:t>
            </a:r>
            <a:endParaRPr lang="en-US"/>
          </a:p>
        </p:txBody>
      </p:sp>
      <p:sp>
        <p:nvSpPr>
          <p:cNvPr id="33065" name="Rectangle 33064">
            <a:extLst>
              <a:ext uri="{FF2B5EF4-FFF2-40B4-BE49-F238E27FC236}">
                <a16:creationId xmlns:a16="http://schemas.microsoft.com/office/drawing/2014/main" id="{04265FAD-5ED5-0C4B-1054-C4D0477A6F84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3070" name="Rectangle 33069">
            <a:extLst>
              <a:ext uri="{FF2B5EF4-FFF2-40B4-BE49-F238E27FC236}">
                <a16:creationId xmlns:a16="http://schemas.microsoft.com/office/drawing/2014/main" id="{276451FA-6686-6A5E-322D-58921A0842C2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Cowork delivers against how the job was framed. A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task naming its sources, deliverables and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guardrails returns finished work.</a:t>
            </a:r>
            <a:endParaRPr lang="en-US"/>
          </a:p>
        </p:txBody>
      </p:sp>
      <p:sp>
        <p:nvSpPr>
          <p:cNvPr id="33076" name="Rectangle 33075">
            <a:extLst>
              <a:ext uri="{FF2B5EF4-FFF2-40B4-BE49-F238E27FC236}">
                <a16:creationId xmlns:a16="http://schemas.microsoft.com/office/drawing/2014/main" id="{779C1E80-EA9C-B3E7-B71B-557548A6440C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3083" name="Rectangle 33082">
            <a:extLst>
              <a:ext uri="{FF2B5EF4-FFF2-40B4-BE49-F238E27FC236}">
                <a16:creationId xmlns:a16="http://schemas.microsoft.com/office/drawing/2014/main" id="{524D5BD3-35F7-7A2B-D728-079FA6F750DA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frame a task as the whole job rather than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just the first step?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name the systems and sources a task should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ground itself in?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define what good looks like — artefacts,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structure, exclusions?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know when to build a skill or add a plugin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rather than reprompt?</a:t>
            </a:r>
            <a:endParaRPr lang="en-US"/>
          </a:p>
        </p:txBody>
      </p:sp>
      <p:sp>
        <p:nvSpPr>
          <p:cNvPr id="33110" name="Rectangle 33109">
            <a:extLst>
              <a:ext uri="{FF2B5EF4-FFF2-40B4-BE49-F238E27FC236}">
                <a16:creationId xmlns:a16="http://schemas.microsoft.com/office/drawing/2014/main" id="{577AF47F-8B6C-C83C-C2DC-2BF44D015BA3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121" name="Rectangle 33120">
            <a:extLst>
              <a:ext uri="{FF2B5EF4-FFF2-40B4-BE49-F238E27FC236}">
                <a16:creationId xmlns:a16="http://schemas.microsoft.com/office/drawing/2014/main" id="{93F0EC7E-972D-9092-5777-0E5E1657D4A1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3" name="Rectangle 33132">
            <a:extLst>
              <a:ext uri="{FF2B5EF4-FFF2-40B4-BE49-F238E27FC236}">
                <a16:creationId xmlns:a16="http://schemas.microsoft.com/office/drawing/2014/main" id="{E052B254-AAC0-A416-E6C3-F8710D536122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Task Packs — 57 tasks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3146" name="Rectangle 33145">
            <a:extLst>
              <a:ext uri="{FF2B5EF4-FFF2-40B4-BE49-F238E27FC236}">
                <a16:creationId xmlns:a16="http://schemas.microsoft.com/office/drawing/2014/main" id="{59FF33B3-7DB2-C596-E41F-C7E04C23C926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60" name="Rectangle 33159">
            <a:extLst>
              <a:ext uri="{FF2B5EF4-FFF2-40B4-BE49-F238E27FC236}">
                <a16:creationId xmlns:a16="http://schemas.microsoft.com/office/drawing/2014/main" id="{07274656-ED3A-E77A-D8DB-B4728E189244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Anatomy of a great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prompt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/>
              </a:rPr>
              <a:t>Cowork Micro-Learning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 Session 1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3175" name="Rectangle 33174">
            <a:extLst>
              <a:ext uri="{FF2B5EF4-FFF2-40B4-BE49-F238E27FC236}">
                <a16:creationId xmlns:a16="http://schemas.microsoft.com/office/drawing/2014/main" id="{49F63337-325B-03A5-C503-84C6C1DAD946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91" name="Rectangle 33190">
            <a:extLst>
              <a:ext uri="{FF2B5EF4-FFF2-40B4-BE49-F238E27FC236}">
                <a16:creationId xmlns:a16="http://schemas.microsoft.com/office/drawing/2014/main" id="{4ADFD6FE-FD0E-16EE-4B08-735001C84BFE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Skills and plugins in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endParaRPr lang="en-US" sz="14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aka.ms/CopilotCoworkDocs</a:t>
            </a:r>
            <a:endParaRPr lang="en-US" dirty="0"/>
          </a:p>
        </p:txBody>
      </p:sp>
      <p:sp>
        <p:nvSpPr>
          <p:cNvPr id="33208" name="Rectangle 33207">
            <a:extLst>
              <a:ext uri="{FF2B5EF4-FFF2-40B4-BE49-F238E27FC236}">
                <a16:creationId xmlns:a16="http://schemas.microsoft.com/office/drawing/2014/main" id="{D660C4D9-5391-C8ED-6F15-BAC555EF4615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6" name="Rectangle 33225">
            <a:extLst>
              <a:ext uri="{FF2B5EF4-FFF2-40B4-BE49-F238E27FC236}">
                <a16:creationId xmlns:a16="http://schemas.microsoft.com/office/drawing/2014/main" id="{AAD89FA9-4287-E9DF-F75E-1134EBFB0FDD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Nifty Fifty scenario catalogue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3245" name="Rectangle 33244">
            <a:extLst>
              <a:ext uri="{FF2B5EF4-FFF2-40B4-BE49-F238E27FC236}">
                <a16:creationId xmlns:a16="http://schemas.microsoft.com/office/drawing/2014/main" id="{D779CC8E-46C6-004C-9572-C70B2C4AD40F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65" name="Rectangle 33264">
            <a:extLst>
              <a:ext uri="{FF2B5EF4-FFF2-40B4-BE49-F238E27FC236}">
                <a16:creationId xmlns:a16="http://schemas.microsoft.com/office/drawing/2014/main" id="{7FD945C1-8841-4B21-56BC-1E70384B68C8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adoption site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adoption.microsoft.com/copilot/cowork</a:t>
            </a:r>
            <a:endParaRPr lang="en-US" dirty="0"/>
          </a:p>
        </p:txBody>
      </p:sp>
      <p:sp>
        <p:nvSpPr>
          <p:cNvPr id="33286" name="Rectangle 33285">
            <a:extLst>
              <a:ext uri="{FF2B5EF4-FFF2-40B4-BE49-F238E27FC236}">
                <a16:creationId xmlns:a16="http://schemas.microsoft.com/office/drawing/2014/main" id="{E72B5A2F-815A-DDF1-C9A2-E4EB7C63E509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08" name="Rectangle 33307">
            <a:extLst>
              <a:ext uri="{FF2B5EF4-FFF2-40B4-BE49-F238E27FC236}">
                <a16:creationId xmlns:a16="http://schemas.microsoft.com/office/drawing/2014/main" id="{76C79E49-ADAD-8691-D8E0-CE0B53E1B4A5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Microskilling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: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(on-demand)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
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aka.ms/MicroSkillingCowork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662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5F920418-545A-4022-89D8-065CADB26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8783" y="897791"/>
            <a:ext cx="5015214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00B397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00B397">
                  <a:tint val="44500"/>
                  <a:satMod val="160000"/>
                </a:srgbClr>
              </a:gs>
              <a:gs pos="100000">
                <a:srgbClr val="00B397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98D202-C7AD-D28B-1484-C70085F803FC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09" name="Rectangle 33308">
            <a:extLst>
              <a:ext uri="{FF2B5EF4-FFF2-40B4-BE49-F238E27FC236}">
                <a16:creationId xmlns:a16="http://schemas.microsoft.com/office/drawing/2014/main" id="{C00AC3FC-2AE2-04F9-5DA9-209BBEA00F08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COMPONENT 4 · MEASUREMENT &amp; PROOF</a:t>
            </a:r>
          </a:p>
          <a:p>
            <a:pPr>
              <a:buNone/>
            </a:pPr>
            <a:r>
              <a:rPr lang="en-US" sz="1300" b="1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CATEGORY 7 OF 10</a:t>
            </a:r>
            <a:endParaRPr lang="en-US"/>
          </a:p>
        </p:txBody>
      </p:sp>
      <p:sp>
        <p:nvSpPr>
          <p:cNvPr id="33311" name="Rectangle 33310">
            <a:extLst>
              <a:ext uri="{FF2B5EF4-FFF2-40B4-BE49-F238E27FC236}">
                <a16:creationId xmlns:a16="http://schemas.microsoft.com/office/drawing/2014/main" id="{BC977968-29E6-080F-CB88-24ECAD4E629B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Turn telemetry into a story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 CFO trusts.</a:t>
            </a:r>
            <a:endParaRPr lang="en-US"/>
          </a:p>
        </p:txBody>
      </p:sp>
      <p:sp>
        <p:nvSpPr>
          <p:cNvPr id="33314" name="Rectangle 33313">
            <a:extLst>
              <a:ext uri="{FF2B5EF4-FFF2-40B4-BE49-F238E27FC236}">
                <a16:creationId xmlns:a16="http://schemas.microsoft.com/office/drawing/2014/main" id="{4F0B3A45-7A6B-1717-CB3E-458C73FDED61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“I can show usage, but I can't turn it into</a:t>
            </a:r>
          </a:p>
          <a:p>
            <a:pPr>
              <a:buNone/>
            </a:pPr>
            <a:r>
              <a:rPr lang="en-US" sz="17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a defensible dollar value.”</a:t>
            </a:r>
            <a:endParaRPr lang="en-US"/>
          </a:p>
        </p:txBody>
      </p:sp>
      <p:sp>
        <p:nvSpPr>
          <p:cNvPr id="33318" name="Rectangle 33317">
            <a:extLst>
              <a:ext uri="{FF2B5EF4-FFF2-40B4-BE49-F238E27FC236}">
                <a16:creationId xmlns:a16="http://schemas.microsoft.com/office/drawing/2014/main" id="{73BBD810-9221-619F-22EB-012EF562D787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3323" name="Rectangle 33322">
            <a:extLst>
              <a:ext uri="{FF2B5EF4-FFF2-40B4-BE49-F238E27FC236}">
                <a16:creationId xmlns:a16="http://schemas.microsoft.com/office/drawing/2014/main" id="{9450EFDC-72D2-6902-7C95-4D824A4AD0CD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Executives don't want a dashboard — they want to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know if it was worth it. Report numbers and you're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 vendor; interpret them and you're an advisor.</a:t>
            </a:r>
            <a:endParaRPr lang="en-US"/>
          </a:p>
        </p:txBody>
      </p:sp>
      <p:sp>
        <p:nvSpPr>
          <p:cNvPr id="33329" name="Rectangle 33328">
            <a:extLst>
              <a:ext uri="{FF2B5EF4-FFF2-40B4-BE49-F238E27FC236}">
                <a16:creationId xmlns:a16="http://schemas.microsoft.com/office/drawing/2014/main" id="{E0B12D28-E4A7-E5C4-3207-125F3502469F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3336" name="Rectangle 33335">
            <a:extLst>
              <a:ext uri="{FF2B5EF4-FFF2-40B4-BE49-F238E27FC236}">
                <a16:creationId xmlns:a16="http://schemas.microsoft.com/office/drawing/2014/main" id="{A74A2188-5BD5-EC5B-BD94-EC980092E371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turn tasks and hours into a defensible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dollar calculation?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build a value-versus-cost narrative, not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just a usage report?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lead with the headline insight rather than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a data dump?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defend my assumptions — loaded rate, time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saved — under pushback?</a:t>
            </a:r>
            <a:endParaRPr lang="en-US"/>
          </a:p>
        </p:txBody>
      </p:sp>
      <p:sp>
        <p:nvSpPr>
          <p:cNvPr id="33363" name="Rectangle 33362">
            <a:extLst>
              <a:ext uri="{FF2B5EF4-FFF2-40B4-BE49-F238E27FC236}">
                <a16:creationId xmlns:a16="http://schemas.microsoft.com/office/drawing/2014/main" id="{3B7C534D-9B69-CA3B-64E0-CA442F78EA7C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374" name="Rectangle 33373">
            <a:extLst>
              <a:ext uri="{FF2B5EF4-FFF2-40B4-BE49-F238E27FC236}">
                <a16:creationId xmlns:a16="http://schemas.microsoft.com/office/drawing/2014/main" id="{EDBBB666-01F7-5701-3BA5-D779AE99FECF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86" name="Rectangle 33385">
            <a:extLst>
              <a:ext uri="{FF2B5EF4-FFF2-40B4-BE49-F238E27FC236}">
                <a16:creationId xmlns:a16="http://schemas.microsoft.com/office/drawing/2014/main" id="{B44FEACD-2572-8095-1FDB-672F7322F09A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Business outcomes by function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3399" name="Rectangle 33398">
            <a:extLst>
              <a:ext uri="{FF2B5EF4-FFF2-40B4-BE49-F238E27FC236}">
                <a16:creationId xmlns:a16="http://schemas.microsoft.com/office/drawing/2014/main" id="{BD91C3DF-06C2-8FDA-A8F8-A2C1E9EA0FEC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13" name="Rectangle 33412">
            <a:extLst>
              <a:ext uri="{FF2B5EF4-FFF2-40B4-BE49-F238E27FC236}">
                <a16:creationId xmlns:a16="http://schemas.microsoft.com/office/drawing/2014/main" id="{E0EBBDA0-39A3-F728-1F65-8AB1BF725EC4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Consumption dashboard walkthrough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4"/>
              </a:rPr>
              <a:t>Cowork Micro-Learning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 Session 2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3428" name="Rectangle 33427">
            <a:extLst>
              <a:ext uri="{FF2B5EF4-FFF2-40B4-BE49-F238E27FC236}">
                <a16:creationId xmlns:a16="http://schemas.microsoft.com/office/drawing/2014/main" id="{DFDB4CEE-B44A-E772-3EF8-3A73C2913E61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61" name="Rectangle 33460">
            <a:extLst>
              <a:ext uri="{FF2B5EF4-FFF2-40B4-BE49-F238E27FC236}">
                <a16:creationId xmlns:a16="http://schemas.microsoft.com/office/drawing/2014/main" id="{2A434ADF-3E62-5A91-7460-3F8F2318A811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79" name="Rectangle 33478">
            <a:extLst>
              <a:ext uri="{FF2B5EF4-FFF2-40B4-BE49-F238E27FC236}">
                <a16:creationId xmlns:a16="http://schemas.microsoft.com/office/drawing/2014/main" id="{FB7389EF-6E8E-0B16-4F3E-F88DB1C9FA28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Microsoft Analytics Hub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1400" dirty="0">
                <a:solidFill>
                  <a:srgbClr val="FF0000"/>
                </a:solidFill>
                <a:ea typeface="+mn-lt"/>
                <a:cs typeface="+mn-lt"/>
                <a:hlinkClick r:id="rId5"/>
              </a:rPr>
              <a:t>https://microsoft.github.io/Analytics-Hub/choose-report/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33498" name="Rectangle 33497">
            <a:extLst>
              <a:ext uri="{FF2B5EF4-FFF2-40B4-BE49-F238E27FC236}">
                <a16:creationId xmlns:a16="http://schemas.microsoft.com/office/drawing/2014/main" id="{A7DB24CE-4D92-E391-140F-13D6BE63F3A1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18" name="Rectangle 33517">
            <a:extLst>
              <a:ext uri="{FF2B5EF4-FFF2-40B4-BE49-F238E27FC236}">
                <a16:creationId xmlns:a16="http://schemas.microsoft.com/office/drawing/2014/main" id="{0501F728-3CE3-3655-050A-F6BBA4061D5D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Analytics Hub – Consumption + Cost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1400" dirty="0">
                <a:solidFill>
                  <a:srgbClr val="FF0000"/>
                </a:solidFill>
                <a:ea typeface="+mn-lt"/>
                <a:cs typeface="+mn-lt"/>
                <a:hlinkClick r:id="rId6"/>
              </a:rPr>
              <a:t>https://microsoft.github.io/Analytics-Hub/cowork-billing/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33539" name="Rectangle 33538">
            <a:extLst>
              <a:ext uri="{FF2B5EF4-FFF2-40B4-BE49-F238E27FC236}">
                <a16:creationId xmlns:a16="http://schemas.microsoft.com/office/drawing/2014/main" id="{12DF1AE4-2BA6-B54C-CA84-D84A00F65E47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61" name="Rectangle 33560">
            <a:extLst>
              <a:ext uri="{FF2B5EF4-FFF2-40B4-BE49-F238E27FC236}">
                <a16:creationId xmlns:a16="http://schemas.microsoft.com/office/drawing/2014/main" id="{4C9EA2D9-64CF-4F6B-072E-971BB2F86BDE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a typeface="Calibri"/>
                <a:cs typeface="Calibri"/>
              </a:rPr>
              <a:t>Measuring business value with Copilot Analytics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FF0000"/>
                </a:solidFill>
                <a:ea typeface="Calibri"/>
                <a:cs typeface="Calibri"/>
                <a:hlinkClick r:id="rId7"/>
              </a:rPr>
              <a:t>6 part skilling program</a:t>
            </a:r>
            <a:endParaRPr lang="en-US" sz="1400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35392" name="Rectangle 35391">
            <a:extLst>
              <a:ext uri="{FF2B5EF4-FFF2-40B4-BE49-F238E27FC236}">
                <a16:creationId xmlns:a16="http://schemas.microsoft.com/office/drawing/2014/main" id="{31EA7009-8A7E-9BB4-1872-F5E9735E829D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Value readout — Delivery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78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AD285A98-1360-0420-B7E3-1165CC454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8783" y="895360"/>
            <a:ext cx="5015214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CB85FF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CB85FF">
                  <a:tint val="44500"/>
                  <a:satMod val="160000"/>
                </a:srgbClr>
              </a:gs>
              <a:gs pos="100000">
                <a:srgbClr val="CB85FF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3562" name="Rectangle 33561">
            <a:extLst>
              <a:ext uri="{FF2B5EF4-FFF2-40B4-BE49-F238E27FC236}">
                <a16:creationId xmlns:a16="http://schemas.microsoft.com/office/drawing/2014/main" id="{649FF01A-2745-93C4-05C7-C21A6C81E87C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COMPONENT 5 · GOVERNANCE &amp; ECONOMICS</a:t>
            </a:r>
          </a:p>
          <a:p>
            <a:pPr>
              <a:buNone/>
            </a:pPr>
            <a:r>
              <a:rPr lang="en-US" sz="13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CATEGORY 8 OF 10</a:t>
            </a:r>
            <a:endParaRPr lang="en-US"/>
          </a:p>
        </p:txBody>
      </p:sp>
      <p:sp>
        <p:nvSpPr>
          <p:cNvPr id="33564" name="Rectangle 33563">
            <a:extLst>
              <a:ext uri="{FF2B5EF4-FFF2-40B4-BE49-F238E27FC236}">
                <a16:creationId xmlns:a16="http://schemas.microsoft.com/office/drawing/2014/main" id="{2A8170C2-F3AA-15FF-6B73-0F41786D1231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Size the rollout before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usage and cost scale on you.</a:t>
            </a:r>
            <a:endParaRPr lang="en-US"/>
          </a:p>
        </p:txBody>
      </p:sp>
      <p:sp>
        <p:nvSpPr>
          <p:cNvPr id="33567" name="Rectangle 33566">
            <a:extLst>
              <a:ext uri="{FF2B5EF4-FFF2-40B4-BE49-F238E27FC236}">
                <a16:creationId xmlns:a16="http://schemas.microsoft.com/office/drawing/2014/main" id="{09F0C25C-C8CA-BA62-9F1A-0E4D1DF7CD26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“I can't predict how usage will scale, or</a:t>
            </a:r>
          </a:p>
          <a:p>
            <a:pPr>
              <a:buNone/>
            </a:pPr>
            <a:r>
              <a:rPr lang="en-US" sz="17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size a rollout that won't blow up cost.”</a:t>
            </a:r>
            <a:endParaRPr lang="en-US"/>
          </a:p>
        </p:txBody>
      </p:sp>
      <p:sp>
        <p:nvSpPr>
          <p:cNvPr id="33571" name="Rectangle 33570">
            <a:extLst>
              <a:ext uri="{FF2B5EF4-FFF2-40B4-BE49-F238E27FC236}">
                <a16:creationId xmlns:a16="http://schemas.microsoft.com/office/drawing/2014/main" id="{08B889F1-CE09-EBB6-383B-1CAC1DB9DE35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3576" name="Rectangle 33575">
            <a:extLst>
              <a:ext uri="{FF2B5EF4-FFF2-40B4-BE49-F238E27FC236}">
                <a16:creationId xmlns:a16="http://schemas.microsoft.com/office/drawing/2014/main" id="{6BB31B4C-DB9B-A836-9E4C-83545995707E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Usage rarely grows evenly — a few power users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drive most consumption. Partners who don't plan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for it get blindsided by cost spikes mid-rollout.</a:t>
            </a:r>
            <a:endParaRPr lang="en-US"/>
          </a:p>
        </p:txBody>
      </p:sp>
      <p:sp>
        <p:nvSpPr>
          <p:cNvPr id="33582" name="Rectangle 33581">
            <a:extLst>
              <a:ext uri="{FF2B5EF4-FFF2-40B4-BE49-F238E27FC236}">
                <a16:creationId xmlns:a16="http://schemas.microsoft.com/office/drawing/2014/main" id="{9D5ACDFD-B028-DF5D-CF20-E53AC3EF9A69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3589" name="Rectangle 33588">
            <a:extLst>
              <a:ext uri="{FF2B5EF4-FFF2-40B4-BE49-F238E27FC236}">
                <a16:creationId xmlns:a16="http://schemas.microsoft.com/office/drawing/2014/main" id="{D7D1AFA1-9C90-32EA-1FA2-3F94FC7D40A9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segment users into usage tiers and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estimate consumption per tier?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have a rollout sequence — pilot, phase 2,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org-wide — tied to demand?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know the levers — policies, alerts, limits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— that hold cost as it scales?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set expectations for how usage evolves in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the first 90 days?</a:t>
            </a:r>
            <a:endParaRPr lang="en-US"/>
          </a:p>
        </p:txBody>
      </p:sp>
      <p:sp>
        <p:nvSpPr>
          <p:cNvPr id="33616" name="Rectangle 33615">
            <a:extLst>
              <a:ext uri="{FF2B5EF4-FFF2-40B4-BE49-F238E27FC236}">
                <a16:creationId xmlns:a16="http://schemas.microsoft.com/office/drawing/2014/main" id="{77A6EA08-33D6-AEAB-CF6F-EB5898F95C78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627" name="Rectangle 33626">
            <a:extLst>
              <a:ext uri="{FF2B5EF4-FFF2-40B4-BE49-F238E27FC236}">
                <a16:creationId xmlns:a16="http://schemas.microsoft.com/office/drawing/2014/main" id="{1DD6922A-5AD2-9F33-BDBC-0929C50A06A4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52" name="Rectangle 33651">
            <a:extLst>
              <a:ext uri="{FF2B5EF4-FFF2-40B4-BE49-F238E27FC236}">
                <a16:creationId xmlns:a16="http://schemas.microsoft.com/office/drawing/2014/main" id="{59EF3080-B980-7DB0-1FE1-591218A010EA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66" name="Rectangle 33665">
            <a:extLst>
              <a:ext uri="{FF2B5EF4-FFF2-40B4-BE49-F238E27FC236}">
                <a16:creationId xmlns:a16="http://schemas.microsoft.com/office/drawing/2014/main" id="{F72A5FDF-496B-A03A-B208-E5E1EC0E2CC7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Cost management guided demos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
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aka.ms/CostManagementDemo</a:t>
            </a:r>
            <a:endParaRPr lang="en-US" dirty="0"/>
          </a:p>
        </p:txBody>
      </p:sp>
      <p:sp>
        <p:nvSpPr>
          <p:cNvPr id="33681" name="Rectangle 33680">
            <a:extLst>
              <a:ext uri="{FF2B5EF4-FFF2-40B4-BE49-F238E27FC236}">
                <a16:creationId xmlns:a16="http://schemas.microsoft.com/office/drawing/2014/main" id="{25416905-0063-20F2-BB35-D55B788E0451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97" name="Rectangle 33696">
            <a:extLst>
              <a:ext uri="{FF2B5EF4-FFF2-40B4-BE49-F238E27FC236}">
                <a16:creationId xmlns:a16="http://schemas.microsoft.com/office/drawing/2014/main" id="{F845476B-5BD7-26BB-F42A-92316381E5FF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Proof of Value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aka.ms/CoworkPartnerKit</a:t>
            </a:r>
            <a:endParaRPr lang="en-US" dirty="0"/>
          </a:p>
        </p:txBody>
      </p:sp>
      <p:sp>
        <p:nvSpPr>
          <p:cNvPr id="33714" name="Rectangle 33713">
            <a:extLst>
              <a:ext uri="{FF2B5EF4-FFF2-40B4-BE49-F238E27FC236}">
                <a16:creationId xmlns:a16="http://schemas.microsoft.com/office/drawing/2014/main" id="{69B671D9-ACB7-1133-57BE-638884A032DE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2" name="Rectangle 33731">
            <a:extLst>
              <a:ext uri="{FF2B5EF4-FFF2-40B4-BE49-F238E27FC236}">
                <a16:creationId xmlns:a16="http://schemas.microsoft.com/office/drawing/2014/main" id="{6627154A-6C7D-C889-98B0-F35D843F0177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Partner Launch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aka.ms/CoworkPartnerLaunchKit</a:t>
            </a:r>
            <a:endParaRPr lang="en-US" dirty="0"/>
          </a:p>
        </p:txBody>
      </p:sp>
      <p:sp>
        <p:nvSpPr>
          <p:cNvPr id="33751" name="Rectangle 33750">
            <a:extLst>
              <a:ext uri="{FF2B5EF4-FFF2-40B4-BE49-F238E27FC236}">
                <a16:creationId xmlns:a16="http://schemas.microsoft.com/office/drawing/2014/main" id="{E5840B4D-685A-27E7-40D0-C9BE89B946B6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71" name="Rectangle 33770">
            <a:extLst>
              <a:ext uri="{FF2B5EF4-FFF2-40B4-BE49-F238E27FC236}">
                <a16:creationId xmlns:a16="http://schemas.microsoft.com/office/drawing/2014/main" id="{A1E4940C-1630-CFF0-0BE6-D810DAC30FE2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Task sizing and credit estimation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6"/>
              </a:rPr>
              <a:t>Cowork Microlearning Session 2</a:t>
            </a:r>
            <a:endParaRPr lang="en-US" dirty="0"/>
          </a:p>
        </p:txBody>
      </p:sp>
      <p:sp>
        <p:nvSpPr>
          <p:cNvPr id="33792" name="Rectangle 33791">
            <a:extLst>
              <a:ext uri="{FF2B5EF4-FFF2-40B4-BE49-F238E27FC236}">
                <a16:creationId xmlns:a16="http://schemas.microsoft.com/office/drawing/2014/main" id="{F973CD7C-3394-7DA6-A70F-16480F1A5455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14" name="Rectangle 33813">
            <a:extLst>
              <a:ext uri="{FF2B5EF4-FFF2-40B4-BE49-F238E27FC236}">
                <a16:creationId xmlns:a16="http://schemas.microsoft.com/office/drawing/2014/main" id="{28CFE235-F3FC-D60D-680B-6CDD7381C205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Analytics Hub —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billing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a typeface="+mn-lt"/>
                <a:cs typeface="+mn-lt"/>
                <a:hlinkClick r:id="rId7"/>
              </a:rPr>
              <a:t>https://</a:t>
            </a:r>
            <a:r>
              <a:rPr lang="en-US" sz="1400" dirty="0">
                <a:solidFill>
                  <a:srgbClr val="FFFFFF"/>
                </a:solidFill>
                <a:effectLst/>
                <a:ea typeface="+mn-lt"/>
                <a:cs typeface="+mn-lt"/>
                <a:hlinkClick r:id="rId7"/>
              </a:rPr>
              <a:t>microsoft.github.io/Analytics-Hub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  <a:hlinkClick r:id="rId7"/>
              </a:rPr>
              <a:t>/cowork-billing/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083FCC-BC49-39C5-3A82-567A33115AE2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Credit Planning Model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8"/>
              </a:rPr>
              <a:t>aka.ms/CopilotCreditPlanningModel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4052A9-51B0-A5FE-2097-DCA956EF380B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5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EE2CC5B6-1ADB-13B0-0452-2299CB297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522786" y="1081356"/>
            <a:ext cx="5387207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CB85FF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CB85FF">
                  <a:tint val="44500"/>
                  <a:satMod val="160000"/>
                </a:srgbClr>
              </a:gs>
              <a:gs pos="100000">
                <a:srgbClr val="CB85FF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25C24D-4676-39A9-C5FB-43181BB2F9B2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15" name="Rectangle 33814">
            <a:extLst>
              <a:ext uri="{FF2B5EF4-FFF2-40B4-BE49-F238E27FC236}">
                <a16:creationId xmlns:a16="http://schemas.microsoft.com/office/drawing/2014/main" id="{C1EC2773-798A-259D-FDE7-301D7EE390E1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COMPONENT 5 · GOVERNANCE &amp; ECONOMICS</a:t>
            </a:r>
          </a:p>
          <a:p>
            <a:pPr>
              <a:buNone/>
            </a:pPr>
            <a:r>
              <a:rPr lang="en-US" sz="13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CATEGORY 9 OF 10</a:t>
            </a:r>
            <a:endParaRPr lang="en-US"/>
          </a:p>
        </p:txBody>
      </p:sp>
      <p:sp>
        <p:nvSpPr>
          <p:cNvPr id="33817" name="Rectangle 33816">
            <a:extLst>
              <a:ext uri="{FF2B5EF4-FFF2-40B4-BE49-F238E27FC236}">
                <a16:creationId xmlns:a16="http://schemas.microsoft.com/office/drawing/2014/main" id="{888522F7-2655-59DE-7167-FF61F9E2FA07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Put an owner, a budget and a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guardrail on spend.</a:t>
            </a:r>
            <a:endParaRPr lang="en-US"/>
          </a:p>
        </p:txBody>
      </p:sp>
      <p:sp>
        <p:nvSpPr>
          <p:cNvPr id="33820" name="Rectangle 33819">
            <a:extLst>
              <a:ext uri="{FF2B5EF4-FFF2-40B4-BE49-F238E27FC236}">
                <a16:creationId xmlns:a16="http://schemas.microsoft.com/office/drawing/2014/main" id="{A8D1102B-D2FF-0A90-76EB-7FBD4C82DC5C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“Spend is live, but nobody owns the budget,</a:t>
            </a:r>
          </a:p>
          <a:p>
            <a:pPr>
              <a:buNone/>
            </a:pPr>
            <a:r>
              <a:rPr lang="en-US" sz="17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the policy or the guardrails.”</a:t>
            </a:r>
            <a:endParaRPr lang="en-US"/>
          </a:p>
        </p:txBody>
      </p:sp>
      <p:sp>
        <p:nvSpPr>
          <p:cNvPr id="33824" name="Rectangle 33823">
            <a:extLst>
              <a:ext uri="{FF2B5EF4-FFF2-40B4-BE49-F238E27FC236}">
                <a16:creationId xmlns:a16="http://schemas.microsoft.com/office/drawing/2014/main" id="{EE8AC229-DCBF-3C96-95EE-02E7A208CEE0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3829" name="Rectangle 33828">
            <a:extLst>
              <a:ext uri="{FF2B5EF4-FFF2-40B4-BE49-F238E27FC236}">
                <a16:creationId xmlns:a16="http://schemas.microsoft.com/office/drawing/2014/main" id="{80F4F44F-AB9E-DFB2-2488-A1BA7733D8BC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Governance is where consumption stops being a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surprise. Policies, budget owners and a chargeback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model turn variable cost into managed cost.</a:t>
            </a:r>
            <a:endParaRPr lang="en-US"/>
          </a:p>
        </p:txBody>
      </p:sp>
      <p:sp>
        <p:nvSpPr>
          <p:cNvPr id="33835" name="Rectangle 33834">
            <a:extLst>
              <a:ext uri="{FF2B5EF4-FFF2-40B4-BE49-F238E27FC236}">
                <a16:creationId xmlns:a16="http://schemas.microsoft.com/office/drawing/2014/main" id="{699CB682-4374-7CDB-1CC0-E0F9FB7E4BDD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3842" name="Rectangle 33841">
            <a:extLst>
              <a:ext uri="{FF2B5EF4-FFF2-40B4-BE49-F238E27FC236}">
                <a16:creationId xmlns:a16="http://schemas.microsoft.com/office/drawing/2014/main" id="{C625EBDD-80A0-57B6-3129-7A34DE3CACE0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stand up spending policies, limits and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alerts in the Admin Center?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Have I agreed a budget owner and a purchase path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with the customer?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recommend central budget, showback or true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chargeback — and why?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run an agent and skill inventory so spend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stays accountable?</a:t>
            </a:r>
            <a:endParaRPr lang="en-US"/>
          </a:p>
        </p:txBody>
      </p:sp>
      <p:sp>
        <p:nvSpPr>
          <p:cNvPr id="33869" name="Rectangle 33868">
            <a:extLst>
              <a:ext uri="{FF2B5EF4-FFF2-40B4-BE49-F238E27FC236}">
                <a16:creationId xmlns:a16="http://schemas.microsoft.com/office/drawing/2014/main" id="{648AC058-95C6-47FE-480B-FDA90EB6704F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880" name="Rectangle 33879">
            <a:extLst>
              <a:ext uri="{FF2B5EF4-FFF2-40B4-BE49-F238E27FC236}">
                <a16:creationId xmlns:a16="http://schemas.microsoft.com/office/drawing/2014/main" id="{E9CFC42E-B31D-1685-1984-83A58B2B39C8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92" name="Rectangle 33891">
            <a:extLst>
              <a:ext uri="{FF2B5EF4-FFF2-40B4-BE49-F238E27FC236}">
                <a16:creationId xmlns:a16="http://schemas.microsoft.com/office/drawing/2014/main" id="{42D1D7CF-CC4C-D970-1893-973F086DAEC6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Manage Copilot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(Learn)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aka.ms/CopilotCoworkDocs</a:t>
            </a:r>
            <a:endParaRPr lang="en-US" dirty="0"/>
          </a:p>
        </p:txBody>
      </p:sp>
      <p:sp>
        <p:nvSpPr>
          <p:cNvPr id="33905" name="Rectangle 33904">
            <a:extLst>
              <a:ext uri="{FF2B5EF4-FFF2-40B4-BE49-F238E27FC236}">
                <a16:creationId xmlns:a16="http://schemas.microsoft.com/office/drawing/2014/main" id="{C71DA75E-FB35-996A-00C6-32090FA4C6DC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19" name="Rectangle 33918">
            <a:extLst>
              <a:ext uri="{FF2B5EF4-FFF2-40B4-BE49-F238E27FC236}">
                <a16:creationId xmlns:a16="http://schemas.microsoft.com/office/drawing/2014/main" id="{028C6237-4F8A-977E-4FE1-750117431B2D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Copilot Credits on Learn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aka.ms/CopilotCredits/Learn</a:t>
            </a:r>
            <a:endParaRPr lang="en-US" dirty="0"/>
          </a:p>
        </p:txBody>
      </p:sp>
      <p:sp>
        <p:nvSpPr>
          <p:cNvPr id="33934" name="Rectangle 33933">
            <a:extLst>
              <a:ext uri="{FF2B5EF4-FFF2-40B4-BE49-F238E27FC236}">
                <a16:creationId xmlns:a16="http://schemas.microsoft.com/office/drawing/2014/main" id="{8CDB9D1B-331C-4BD1-83A2-EECA2AED60BE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50" name="Rectangle 33949">
            <a:extLst>
              <a:ext uri="{FF2B5EF4-FFF2-40B4-BE49-F238E27FC236}">
                <a16:creationId xmlns:a16="http://schemas.microsoft.com/office/drawing/2014/main" id="{76804426-F47A-F161-D1BC-8B7CCEF20EB9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Cost management guided demos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aka.ms/CostManagementDemo</a:t>
            </a:r>
            <a:endParaRPr lang="en-US" dirty="0"/>
          </a:p>
        </p:txBody>
      </p:sp>
      <p:sp>
        <p:nvSpPr>
          <p:cNvPr id="33967" name="Rectangle 33966">
            <a:extLst>
              <a:ext uri="{FF2B5EF4-FFF2-40B4-BE49-F238E27FC236}">
                <a16:creationId xmlns:a16="http://schemas.microsoft.com/office/drawing/2014/main" id="{3D510E76-DAFE-940D-6527-F8A9B7015EF3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04" name="Rectangle 34003">
            <a:extLst>
              <a:ext uri="{FF2B5EF4-FFF2-40B4-BE49-F238E27FC236}">
                <a16:creationId xmlns:a16="http://schemas.microsoft.com/office/drawing/2014/main" id="{5A130D5D-008E-02AF-0462-8E33380070BF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24" name="Rectangle 34023">
            <a:extLst>
              <a:ext uri="{FF2B5EF4-FFF2-40B4-BE49-F238E27FC236}">
                <a16:creationId xmlns:a16="http://schemas.microsoft.com/office/drawing/2014/main" id="{00D857A6-5BB2-E1C2-1706-3D0AFE03101D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Chargeback models — PoV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aka.ms/CoworkPartnerKit</a:t>
            </a:r>
            <a:endParaRPr lang="en-US" dirty="0"/>
          </a:p>
        </p:txBody>
      </p:sp>
      <p:sp>
        <p:nvSpPr>
          <p:cNvPr id="34045" name="Rectangle 34044">
            <a:extLst>
              <a:ext uri="{FF2B5EF4-FFF2-40B4-BE49-F238E27FC236}">
                <a16:creationId xmlns:a16="http://schemas.microsoft.com/office/drawing/2014/main" id="{AD317BC3-62C8-2974-B9D0-204085558652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67" name="Rectangle 34066">
            <a:extLst>
              <a:ext uri="{FF2B5EF4-FFF2-40B4-BE49-F238E27FC236}">
                <a16:creationId xmlns:a16="http://schemas.microsoft.com/office/drawing/2014/main" id="{0F38BCCB-B0B3-5984-6AF2-017494784063}"/>
              </a:ext>
            </a:extLst>
          </p:cNvPr>
          <p:cNvSpPr/>
          <p:nvPr/>
        </p:nvSpPr>
        <p:spPr>
          <a:xfrm>
            <a:off x="7018020" y="5539218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AI FinOps maturity model
See slide 17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D5BFC-8012-D930-3AB1-AEC674D5D92A}"/>
              </a:ext>
            </a:extLst>
          </p:cNvPr>
          <p:cNvSpPr/>
          <p:nvPr/>
        </p:nvSpPr>
        <p:spPr>
          <a:xfrm>
            <a:off x="7024283" y="34790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Task sizing and credit estimation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  <a:hlinkClick r:id="rId7"/>
              </a:rPr>
              <a:t>Cowork Microlearning Session 2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25C9CA-B28A-88EB-4564-40AA9BC3B08A}"/>
              </a:ext>
            </a:extLst>
          </p:cNvPr>
          <p:cNvSpPr/>
          <p:nvPr/>
        </p:nvSpPr>
        <p:spPr>
          <a:xfrm>
            <a:off x="7024283" y="4898303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Analytics Hub — </a:t>
            </a: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billing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a typeface="+mn-lt"/>
                <a:cs typeface="+mn-lt"/>
                <a:hlinkClick r:id="rId8"/>
              </a:rPr>
              <a:t>https://</a:t>
            </a:r>
            <a:r>
              <a:rPr lang="en-US" sz="1400" dirty="0">
                <a:solidFill>
                  <a:srgbClr val="FFFFFF"/>
                </a:solidFill>
                <a:effectLst/>
                <a:ea typeface="+mn-lt"/>
                <a:cs typeface="+mn-lt"/>
                <a:hlinkClick r:id="rId8"/>
              </a:rPr>
              <a:t>microsoft.github.io/Analytics-Hub</a:t>
            </a:r>
            <a:r>
              <a:rPr lang="en-US" sz="1400" dirty="0">
                <a:solidFill>
                  <a:srgbClr val="FFFFFF"/>
                </a:solidFill>
                <a:ea typeface="+mn-lt"/>
                <a:cs typeface="+mn-lt"/>
                <a:hlinkClick r:id="rId8"/>
              </a:rPr>
              <a:t>/cowork-billing/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1C110D-EE7B-FFDC-F306-BE39DF797BAB}"/>
              </a:ext>
            </a:extLst>
          </p:cNvPr>
          <p:cNvSpPr/>
          <p:nvPr/>
        </p:nvSpPr>
        <p:spPr>
          <a:xfrm>
            <a:off x="6880859" y="5630657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87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6">
            <a:extLst>
              <a:ext uri="{FF2B5EF4-FFF2-40B4-BE49-F238E27FC236}">
                <a16:creationId xmlns:a16="http://schemas.microsoft.com/office/drawing/2014/main" id="{9D85DE15-6603-75E3-10B2-74D9DD45C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707805" y="896338"/>
            <a:ext cx="5017169" cy="5036820"/>
          </a:xfrm>
          <a:prstGeom prst="roundRect">
            <a:avLst>
              <a:gd name="adj" fmla="val 3633"/>
            </a:avLst>
          </a:prstGeom>
          <a:gradFill flip="none" rotWithShape="1">
            <a:gsLst>
              <a:gs pos="0">
                <a:srgbClr val="CB85FF">
                  <a:tint val="66000"/>
                  <a:satMod val="160000"/>
                  <a:lumMod val="0"/>
                  <a:lumOff val="100000"/>
                </a:srgbClr>
              </a:gs>
              <a:gs pos="50000">
                <a:srgbClr val="CB85FF">
                  <a:tint val="44500"/>
                  <a:satMod val="160000"/>
                </a:srgbClr>
              </a:gs>
              <a:gs pos="100000">
                <a:srgbClr val="CB85FF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55E8005-2202-A764-2302-0D5D68163F3F}"/>
              </a:ext>
            </a:extLst>
          </p:cNvPr>
          <p:cNvSpPr/>
          <p:nvPr/>
        </p:nvSpPr>
        <p:spPr>
          <a:xfrm>
            <a:off x="6697980" y="807719"/>
            <a:ext cx="5036820" cy="81651"/>
          </a:xfrm>
          <a:prstGeom prst="round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68" name="Rectangle 34067">
            <a:extLst>
              <a:ext uri="{FF2B5EF4-FFF2-40B4-BE49-F238E27FC236}">
                <a16:creationId xmlns:a16="http://schemas.microsoft.com/office/drawing/2014/main" id="{52EFF27B-2C56-C754-987E-BEC0EB191264}"/>
              </a:ext>
            </a:extLst>
          </p:cNvPr>
          <p:cNvSpPr/>
          <p:nvPr/>
        </p:nvSpPr>
        <p:spPr>
          <a:xfrm>
            <a:off x="457200" y="457200"/>
            <a:ext cx="589788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3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COMPONENT 6 · ONGOING STRATEGIC ADVISORY</a:t>
            </a:r>
          </a:p>
          <a:p>
            <a:pPr>
              <a:buNone/>
            </a:pPr>
            <a:r>
              <a:rPr lang="en-US" sz="13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CATEGORY 10 OF 10</a:t>
            </a:r>
            <a:endParaRPr lang="en-US"/>
          </a:p>
        </p:txBody>
      </p:sp>
      <p:sp>
        <p:nvSpPr>
          <p:cNvPr id="34070" name="Rectangle 34069">
            <a:extLst>
              <a:ext uri="{FF2B5EF4-FFF2-40B4-BE49-F238E27FC236}">
                <a16:creationId xmlns:a16="http://schemas.microsoft.com/office/drawing/2014/main" id="{6C7BDEDF-2E13-0C2C-129E-88C21C572D7B}"/>
              </a:ext>
            </a:extLst>
          </p:cNvPr>
          <p:cNvSpPr/>
          <p:nvPr/>
        </p:nvSpPr>
        <p:spPr>
          <a:xfrm>
            <a:off x="457200" y="1036320"/>
            <a:ext cx="589788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The pilot ends. The advisory</a:t>
            </a:r>
          </a:p>
          <a:p>
            <a:pPr>
              <a:buNone/>
            </a:pPr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relationship shouldn't.</a:t>
            </a:r>
            <a:endParaRPr lang="en-US"/>
          </a:p>
        </p:txBody>
      </p:sp>
      <p:sp>
        <p:nvSpPr>
          <p:cNvPr id="34073" name="Rectangle 34072">
            <a:extLst>
              <a:ext uri="{FF2B5EF4-FFF2-40B4-BE49-F238E27FC236}">
                <a16:creationId xmlns:a16="http://schemas.microsoft.com/office/drawing/2014/main" id="{010652ED-7821-C990-E84C-7AE11B264E88}"/>
              </a:ext>
            </a:extLst>
          </p:cNvPr>
          <p:cNvSpPr/>
          <p:nvPr/>
        </p:nvSpPr>
        <p:spPr>
          <a:xfrm>
            <a:off x="457200" y="2011680"/>
            <a:ext cx="5897880" cy="6553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7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“We prove value once, then the engagement</a:t>
            </a:r>
          </a:p>
          <a:p>
            <a:pPr>
              <a:buNone/>
            </a:pPr>
            <a:r>
              <a:rPr lang="en-US" sz="17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stops and somebody else scales it.”</a:t>
            </a:r>
            <a:endParaRPr lang="en-US"/>
          </a:p>
        </p:txBody>
      </p:sp>
      <p:sp>
        <p:nvSpPr>
          <p:cNvPr id="34077" name="Rectangle 34076">
            <a:extLst>
              <a:ext uri="{FF2B5EF4-FFF2-40B4-BE49-F238E27FC236}">
                <a16:creationId xmlns:a16="http://schemas.microsoft.com/office/drawing/2014/main" id="{05055A60-889E-9EA8-175F-5FC03FDC2301}"/>
              </a:ext>
            </a:extLst>
          </p:cNvPr>
          <p:cNvSpPr/>
          <p:nvPr/>
        </p:nvSpPr>
        <p:spPr>
          <a:xfrm>
            <a:off x="457200" y="2712719"/>
            <a:ext cx="17373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WHY IT MATTERS</a:t>
            </a:r>
            <a:endParaRPr lang="en-US"/>
          </a:p>
        </p:txBody>
      </p:sp>
      <p:sp>
        <p:nvSpPr>
          <p:cNvPr id="34082" name="Rectangle 34081">
            <a:extLst>
              <a:ext uri="{FF2B5EF4-FFF2-40B4-BE49-F238E27FC236}">
                <a16:creationId xmlns:a16="http://schemas.microsoft.com/office/drawing/2014/main" id="{6882DDE5-C1FD-C0A2-FF8C-8FE6C623004F}"/>
              </a:ext>
            </a:extLst>
          </p:cNvPr>
          <p:cNvSpPr/>
          <p:nvPr/>
        </p:nvSpPr>
        <p:spPr>
          <a:xfrm>
            <a:off x="457200" y="3063239"/>
            <a:ext cx="5897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Consumption shifts every month, so a roadmap goes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stale fast. Partners who run a recurring value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review keep the relationship and the next cohort.</a:t>
            </a:r>
            <a:endParaRPr lang="en-US"/>
          </a:p>
        </p:txBody>
      </p:sp>
      <p:sp>
        <p:nvSpPr>
          <p:cNvPr id="34088" name="Rectangle 34087">
            <a:extLst>
              <a:ext uri="{FF2B5EF4-FFF2-40B4-BE49-F238E27FC236}">
                <a16:creationId xmlns:a16="http://schemas.microsoft.com/office/drawing/2014/main" id="{9AEB7092-30A1-42D2-3AEC-BE8DEA4E70ED}"/>
              </a:ext>
            </a:extLst>
          </p:cNvPr>
          <p:cNvSpPr/>
          <p:nvPr/>
        </p:nvSpPr>
        <p:spPr>
          <a:xfrm>
            <a:off x="457200" y="3931919"/>
            <a:ext cx="1645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SELF-CHECK</a:t>
            </a:r>
            <a:endParaRPr lang="en-US"/>
          </a:p>
        </p:txBody>
      </p:sp>
      <p:sp>
        <p:nvSpPr>
          <p:cNvPr id="34095" name="Rectangle 34094">
            <a:extLst>
              <a:ext uri="{FF2B5EF4-FFF2-40B4-BE49-F238E27FC236}">
                <a16:creationId xmlns:a16="http://schemas.microsoft.com/office/drawing/2014/main" id="{9ECF84A7-FA3A-A488-C002-EEE7E364F97E}"/>
              </a:ext>
            </a:extLst>
          </p:cNvPr>
          <p:cNvSpPr/>
          <p:nvPr/>
        </p:nvSpPr>
        <p:spPr>
          <a:xfrm>
            <a:off x="457200" y="4282439"/>
            <a:ext cx="5897880" cy="1965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run a scheduled value review rather than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waiting to be called back?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Can I recommend the next cohort or function,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with the evidence for it?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revisit the credit operating model as usage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patterns change?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 Do I have a retained advisory or managed-service</a:t>
            </a:r>
          </a:p>
          <a:p>
            <a:pPr>
              <a:buNone/>
            </a:pPr>
            <a:r>
              <a:rPr lang="en-US" sz="15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   offer to move them onto?</a:t>
            </a:r>
            <a:endParaRPr lang="en-US"/>
          </a:p>
        </p:txBody>
      </p:sp>
      <p:sp>
        <p:nvSpPr>
          <p:cNvPr id="34122" name="Rectangle 34121">
            <a:extLst>
              <a:ext uri="{FF2B5EF4-FFF2-40B4-BE49-F238E27FC236}">
                <a16:creationId xmlns:a16="http://schemas.microsoft.com/office/drawing/2014/main" id="{7392BC7D-0851-21A6-CEE5-62B78E07D170}"/>
              </a:ext>
            </a:extLst>
          </p:cNvPr>
          <p:cNvSpPr/>
          <p:nvPr/>
        </p:nvSpPr>
        <p:spPr>
          <a:xfrm>
            <a:off x="7018020" y="1082040"/>
            <a:ext cx="439674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RESOURCES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133" name="Rectangle 34132">
            <a:extLst>
              <a:ext uri="{FF2B5EF4-FFF2-40B4-BE49-F238E27FC236}">
                <a16:creationId xmlns:a16="http://schemas.microsoft.com/office/drawing/2014/main" id="{FA1F0A1D-6E8C-BAFF-5A55-7BD909D1AF41}"/>
              </a:ext>
            </a:extLst>
          </p:cNvPr>
          <p:cNvSpPr/>
          <p:nvPr/>
        </p:nvSpPr>
        <p:spPr>
          <a:xfrm>
            <a:off x="6880860" y="159258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45" name="Rectangle 34144">
            <a:extLst>
              <a:ext uri="{FF2B5EF4-FFF2-40B4-BE49-F238E27FC236}">
                <a16:creationId xmlns:a16="http://schemas.microsoft.com/office/drawing/2014/main" id="{02DF4B73-32EB-70B1-EBBE-9997E8443237}"/>
              </a:ext>
            </a:extLst>
          </p:cNvPr>
          <p:cNvSpPr/>
          <p:nvPr/>
        </p:nvSpPr>
        <p:spPr>
          <a:xfrm>
            <a:off x="7018020" y="15011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Scale step — Delivery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34158" name="Rectangle 34157">
            <a:extLst>
              <a:ext uri="{FF2B5EF4-FFF2-40B4-BE49-F238E27FC236}">
                <a16:creationId xmlns:a16="http://schemas.microsoft.com/office/drawing/2014/main" id="{CE760405-E175-A812-F3B6-4F250F38C061}"/>
              </a:ext>
            </a:extLst>
          </p:cNvPr>
          <p:cNvSpPr/>
          <p:nvPr/>
        </p:nvSpPr>
        <p:spPr>
          <a:xfrm>
            <a:off x="6880860" y="227076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72" name="Rectangle 34171">
            <a:extLst>
              <a:ext uri="{FF2B5EF4-FFF2-40B4-BE49-F238E27FC236}">
                <a16:creationId xmlns:a16="http://schemas.microsoft.com/office/drawing/2014/main" id="{1978430B-2AEF-D5B9-DEC5-BFA4C161AC87}"/>
              </a:ext>
            </a:extLst>
          </p:cNvPr>
          <p:cNvSpPr/>
          <p:nvPr/>
        </p:nvSpPr>
        <p:spPr>
          <a:xfrm>
            <a:off x="7018020" y="217932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Practice Development Guide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aka.ms/CopilotPartnerGuide</a:t>
            </a:r>
            <a:endParaRPr lang="en-US" dirty="0"/>
          </a:p>
        </p:txBody>
      </p:sp>
      <p:sp>
        <p:nvSpPr>
          <p:cNvPr id="34187" name="Rectangle 34186">
            <a:extLst>
              <a:ext uri="{FF2B5EF4-FFF2-40B4-BE49-F238E27FC236}">
                <a16:creationId xmlns:a16="http://schemas.microsoft.com/office/drawing/2014/main" id="{9D348A96-4F4C-1557-6266-8FAC8BADE766}"/>
              </a:ext>
            </a:extLst>
          </p:cNvPr>
          <p:cNvSpPr/>
          <p:nvPr/>
        </p:nvSpPr>
        <p:spPr>
          <a:xfrm>
            <a:off x="6880860" y="294894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03" name="Rectangle 34202">
            <a:extLst>
              <a:ext uri="{FF2B5EF4-FFF2-40B4-BE49-F238E27FC236}">
                <a16:creationId xmlns:a16="http://schemas.microsoft.com/office/drawing/2014/main" id="{74B257EA-D07D-0512-B385-9F6D9BD18558}"/>
              </a:ext>
            </a:extLst>
          </p:cNvPr>
          <p:cNvSpPr/>
          <p:nvPr/>
        </p:nvSpPr>
        <p:spPr>
          <a:xfrm>
            <a:off x="7018020" y="285750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FY27 Commercial GTM Playbook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aka.ms/FY27PartnerGTMPlaybooks</a:t>
            </a:r>
            <a:endParaRPr lang="en-US" dirty="0"/>
          </a:p>
        </p:txBody>
      </p:sp>
      <p:sp>
        <p:nvSpPr>
          <p:cNvPr id="34220" name="Rectangle 34219">
            <a:extLst>
              <a:ext uri="{FF2B5EF4-FFF2-40B4-BE49-F238E27FC236}">
                <a16:creationId xmlns:a16="http://schemas.microsoft.com/office/drawing/2014/main" id="{15C592D0-7A76-73A3-716A-ED05FF33B94C}"/>
              </a:ext>
            </a:extLst>
          </p:cNvPr>
          <p:cNvSpPr/>
          <p:nvPr/>
        </p:nvSpPr>
        <p:spPr>
          <a:xfrm>
            <a:off x="6880860" y="362712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38" name="Rectangle 34237">
            <a:extLst>
              <a:ext uri="{FF2B5EF4-FFF2-40B4-BE49-F238E27FC236}">
                <a16:creationId xmlns:a16="http://schemas.microsoft.com/office/drawing/2014/main" id="{4F007CCB-A6E0-6A50-F075-28D562B60CA2}"/>
              </a:ext>
            </a:extLst>
          </p:cNvPr>
          <p:cNvSpPr/>
          <p:nvPr/>
        </p:nvSpPr>
        <p:spPr>
          <a:xfrm>
            <a:off x="7018020" y="353568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Copilot Credits on Learn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aka.ms/CopilotCredits/Learn</a:t>
            </a:r>
            <a:endParaRPr lang="en-US" dirty="0"/>
          </a:p>
        </p:txBody>
      </p:sp>
      <p:sp>
        <p:nvSpPr>
          <p:cNvPr id="34257" name="Rectangle 34256">
            <a:extLst>
              <a:ext uri="{FF2B5EF4-FFF2-40B4-BE49-F238E27FC236}">
                <a16:creationId xmlns:a16="http://schemas.microsoft.com/office/drawing/2014/main" id="{3243F231-DA10-102C-4CA3-4E71CB2106C9}"/>
              </a:ext>
            </a:extLst>
          </p:cNvPr>
          <p:cNvSpPr/>
          <p:nvPr/>
        </p:nvSpPr>
        <p:spPr>
          <a:xfrm>
            <a:off x="6880860" y="430530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77" name="Rectangle 34276">
            <a:extLst>
              <a:ext uri="{FF2B5EF4-FFF2-40B4-BE49-F238E27FC236}">
                <a16:creationId xmlns:a16="http://schemas.microsoft.com/office/drawing/2014/main" id="{201167DE-27B0-9DFC-45A1-CCFD9A8BA1BE}"/>
              </a:ext>
            </a:extLst>
          </p:cNvPr>
          <p:cNvSpPr/>
          <p:nvPr/>
        </p:nvSpPr>
        <p:spPr>
          <a:xfrm>
            <a:off x="7018020" y="421386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Partner Launch Kit</a:t>
            </a:r>
          </a:p>
          <a:p>
            <a:pPr>
              <a:buNone/>
            </a:pP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aka.ms/CoworkPartnerLaunchKit</a:t>
            </a:r>
            <a:endParaRPr lang="en-US" dirty="0"/>
          </a:p>
        </p:txBody>
      </p:sp>
      <p:sp>
        <p:nvSpPr>
          <p:cNvPr id="34298" name="Rectangle 34297">
            <a:extLst>
              <a:ext uri="{FF2B5EF4-FFF2-40B4-BE49-F238E27FC236}">
                <a16:creationId xmlns:a16="http://schemas.microsoft.com/office/drawing/2014/main" id="{3756271C-D145-55BE-4871-5D585E45D467}"/>
              </a:ext>
            </a:extLst>
          </p:cNvPr>
          <p:cNvSpPr/>
          <p:nvPr/>
        </p:nvSpPr>
        <p:spPr>
          <a:xfrm>
            <a:off x="6880860" y="4983480"/>
            <a:ext cx="45720" cy="38100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20" name="Rectangle 34319">
            <a:extLst>
              <a:ext uri="{FF2B5EF4-FFF2-40B4-BE49-F238E27FC236}">
                <a16:creationId xmlns:a16="http://schemas.microsoft.com/office/drawing/2014/main" id="{1258B42C-8252-AAA7-D223-71EAF96E63CD}"/>
              </a:ext>
            </a:extLst>
          </p:cNvPr>
          <p:cNvSpPr/>
          <p:nvPr/>
        </p:nvSpPr>
        <p:spPr>
          <a:xfrm>
            <a:off x="7018020" y="4892040"/>
            <a:ext cx="43967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dirty="0" err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Cowork</a:t>
            </a:r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 Offer Templates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
</a:t>
            </a:r>
            <a:r>
              <a:rPr lang="en-US" sz="1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8"/>
              </a:rPr>
              <a:t>aka.ms/CoworkOfferTemplates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5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98" name="Rectangle 34697">
            <a:extLst>
              <a:ext uri="{FF2B5EF4-FFF2-40B4-BE49-F238E27FC236}">
                <a16:creationId xmlns:a16="http://schemas.microsoft.com/office/drawing/2014/main" id="{95C9F932-C2E8-93DA-ECFE-47D2ACF2DADA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600" b="1" dirty="0">
                <a:solidFill>
                  <a:srgbClr val="0E2A5C"/>
                </a:solidFill>
                <a:effectLst/>
                <a:latin typeface="Trebuchet MS"/>
              </a:rPr>
              <a:t>Turn the capability into an </a:t>
            </a:r>
            <a:r>
              <a:rPr lang="en-US" sz="2600" b="1" dirty="0">
                <a:solidFill>
                  <a:srgbClr val="FF32A3">
                    <a:lumMod val="75000"/>
                  </a:srgbClr>
                </a:solidFill>
                <a:latin typeface="Trebuchet MS" panose="020B0703020202090204" pitchFamily="34" charset="0"/>
                <a:cs typeface="Segoe Sans Text Semibold" pitchFamily="2" charset="0"/>
              </a:rPr>
              <a:t>offer you can price.</a:t>
            </a:r>
            <a:endParaRPr lang="en-US" sz="2600" dirty="0">
              <a:solidFill>
                <a:srgbClr val="C4006B"/>
              </a:solidFill>
            </a:endParaRPr>
          </a:p>
          <a:p>
            <a:pPr algn="ctr"/>
            <a:endParaRPr lang="en-US" b="1" dirty="0">
              <a:solidFill>
                <a:srgbClr val="FF32A3"/>
              </a:solidFill>
              <a:latin typeface="Trebuchet MS"/>
            </a:endParaRPr>
          </a:p>
        </p:txBody>
      </p:sp>
      <p:sp>
        <p:nvSpPr>
          <p:cNvPr id="34726" name="Rectangle 34725">
            <a:extLst>
              <a:ext uri="{FF2B5EF4-FFF2-40B4-BE49-F238E27FC236}">
                <a16:creationId xmlns:a16="http://schemas.microsoft.com/office/drawing/2014/main" id="{E79EDFA8-F52E-5D5A-968D-18419684F743}"/>
              </a:ext>
            </a:extLst>
          </p:cNvPr>
          <p:cNvSpPr/>
          <p:nvPr/>
        </p:nvSpPr>
        <p:spPr>
          <a:xfrm>
            <a:off x="457200" y="1127760"/>
            <a:ext cx="1127760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Capability that isn't packaged stays a cost. Four moves turn the categories into sellable services.</a:t>
            </a:r>
            <a:endParaRPr lang="en-US"/>
          </a:p>
        </p:txBody>
      </p:sp>
      <p:sp>
        <p:nvSpPr>
          <p:cNvPr id="34755" name="Rectangle 34754">
            <a:extLst>
              <a:ext uri="{FF2B5EF4-FFF2-40B4-BE49-F238E27FC236}">
                <a16:creationId xmlns:a16="http://schemas.microsoft.com/office/drawing/2014/main" id="{6A68952C-1B8F-30F9-E353-86A9DB5B1104}"/>
              </a:ext>
            </a:extLst>
          </p:cNvPr>
          <p:cNvSpPr/>
          <p:nvPr/>
        </p:nvSpPr>
        <p:spPr>
          <a:xfrm>
            <a:off x="457200" y="2026920"/>
            <a:ext cx="5467350" cy="147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5" name="Rectangle 34784">
            <a:extLst>
              <a:ext uri="{FF2B5EF4-FFF2-40B4-BE49-F238E27FC236}">
                <a16:creationId xmlns:a16="http://schemas.microsoft.com/office/drawing/2014/main" id="{D827B8F1-90E1-B418-4252-6F22CD093D04}"/>
              </a:ext>
            </a:extLst>
          </p:cNvPr>
          <p:cNvSpPr/>
          <p:nvPr/>
        </p:nvSpPr>
        <p:spPr>
          <a:xfrm>
            <a:off x="457200" y="2026920"/>
            <a:ext cx="411480" cy="147828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1</a:t>
            </a:r>
            <a:endParaRPr lang="en-US" dirty="0"/>
          </a:p>
        </p:txBody>
      </p:sp>
      <p:sp>
        <p:nvSpPr>
          <p:cNvPr id="34816" name="Rectangle 34815">
            <a:extLst>
              <a:ext uri="{FF2B5EF4-FFF2-40B4-BE49-F238E27FC236}">
                <a16:creationId xmlns:a16="http://schemas.microsoft.com/office/drawing/2014/main" id="{BF6B59E8-795C-FA8E-992F-B94B01140F88}"/>
              </a:ext>
            </a:extLst>
          </p:cNvPr>
          <p:cNvSpPr/>
          <p:nvPr/>
        </p:nvSpPr>
        <p:spPr>
          <a:xfrm>
            <a:off x="1074420" y="2164080"/>
            <a:ext cx="464439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Start from a gap, not a feature</a:t>
            </a:r>
            <a:endParaRPr lang="en-US"/>
          </a:p>
        </p:txBody>
      </p:sp>
      <p:sp>
        <p:nvSpPr>
          <p:cNvPr id="34848" name="Rectangle 34847">
            <a:extLst>
              <a:ext uri="{FF2B5EF4-FFF2-40B4-BE49-F238E27FC236}">
                <a16:creationId xmlns:a16="http://schemas.microsoft.com/office/drawing/2014/main" id="{4127A1CC-3150-54ED-8E05-261EC7B748AD}"/>
              </a:ext>
            </a:extLst>
          </p:cNvPr>
          <p:cNvSpPr/>
          <p:nvPr/>
        </p:nvSpPr>
        <p:spPr>
          <a:xfrm>
            <a:off x="1074420" y="2590800"/>
            <a:ext cx="464439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Pick the two categories you score strongest on. An offer built on proven capability outsells one built on ambition.</a:t>
            </a:r>
            <a:endParaRPr lang="en-US"/>
          </a:p>
        </p:txBody>
      </p:sp>
      <p:sp>
        <p:nvSpPr>
          <p:cNvPr id="34881" name="Rectangle 34880">
            <a:extLst>
              <a:ext uri="{FF2B5EF4-FFF2-40B4-BE49-F238E27FC236}">
                <a16:creationId xmlns:a16="http://schemas.microsoft.com/office/drawing/2014/main" id="{7501D675-CC17-1793-A6B7-A802FF8B8CCF}"/>
              </a:ext>
            </a:extLst>
          </p:cNvPr>
          <p:cNvSpPr/>
          <p:nvPr/>
        </p:nvSpPr>
        <p:spPr>
          <a:xfrm>
            <a:off x="6267450" y="2026920"/>
            <a:ext cx="5467350" cy="147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15" name="Rectangle 34914">
            <a:extLst>
              <a:ext uri="{FF2B5EF4-FFF2-40B4-BE49-F238E27FC236}">
                <a16:creationId xmlns:a16="http://schemas.microsoft.com/office/drawing/2014/main" id="{0326398C-2352-2C4E-D6CF-A426CD48AC93}"/>
              </a:ext>
            </a:extLst>
          </p:cNvPr>
          <p:cNvSpPr/>
          <p:nvPr/>
        </p:nvSpPr>
        <p:spPr>
          <a:xfrm>
            <a:off x="6267450" y="2026920"/>
            <a:ext cx="411480" cy="147828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2</a:t>
            </a:r>
            <a:endParaRPr lang="en-US" dirty="0"/>
          </a:p>
        </p:txBody>
      </p:sp>
      <p:sp>
        <p:nvSpPr>
          <p:cNvPr id="34950" name="Rectangle 34949">
            <a:extLst>
              <a:ext uri="{FF2B5EF4-FFF2-40B4-BE49-F238E27FC236}">
                <a16:creationId xmlns:a16="http://schemas.microsoft.com/office/drawing/2014/main" id="{B2D07940-FB4C-C72B-3367-C9CD3CC64F29}"/>
              </a:ext>
            </a:extLst>
          </p:cNvPr>
          <p:cNvSpPr/>
          <p:nvPr/>
        </p:nvSpPr>
        <p:spPr>
          <a:xfrm>
            <a:off x="6884670" y="2164080"/>
            <a:ext cx="464439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Anchor it to an engagement</a:t>
            </a:r>
            <a:endParaRPr lang="en-US"/>
          </a:p>
        </p:txBody>
      </p:sp>
      <p:sp>
        <p:nvSpPr>
          <p:cNvPr id="34986" name="Rectangle 34985">
            <a:extLst>
              <a:ext uri="{FF2B5EF4-FFF2-40B4-BE49-F238E27FC236}">
                <a16:creationId xmlns:a16="http://schemas.microsoft.com/office/drawing/2014/main" id="{FEE048F1-D305-142B-D6CB-7624469C9A14}"/>
              </a:ext>
            </a:extLst>
          </p:cNvPr>
          <p:cNvSpPr/>
          <p:nvPr/>
        </p:nvSpPr>
        <p:spPr>
          <a:xfrm>
            <a:off x="6884670" y="2590800"/>
            <a:ext cx="464439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four-step engagement is a ready-made scope. Price the assess and identify steps as a fixed-fee entry point.</a:t>
            </a:r>
            <a:endParaRPr lang="en-US"/>
          </a:p>
        </p:txBody>
      </p:sp>
      <p:sp>
        <p:nvSpPr>
          <p:cNvPr id="35023" name="Rectangle 35022">
            <a:extLst>
              <a:ext uri="{FF2B5EF4-FFF2-40B4-BE49-F238E27FC236}">
                <a16:creationId xmlns:a16="http://schemas.microsoft.com/office/drawing/2014/main" id="{C315BDCD-59FB-0EA7-BD9A-156478400695}"/>
              </a:ext>
            </a:extLst>
          </p:cNvPr>
          <p:cNvSpPr/>
          <p:nvPr/>
        </p:nvSpPr>
        <p:spPr>
          <a:xfrm>
            <a:off x="457200" y="3779520"/>
            <a:ext cx="5467350" cy="147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61" name="Rectangle 35060">
            <a:extLst>
              <a:ext uri="{FF2B5EF4-FFF2-40B4-BE49-F238E27FC236}">
                <a16:creationId xmlns:a16="http://schemas.microsoft.com/office/drawing/2014/main" id="{06980D40-F944-EAB0-C496-F9A4379C3237}"/>
              </a:ext>
            </a:extLst>
          </p:cNvPr>
          <p:cNvSpPr/>
          <p:nvPr/>
        </p:nvSpPr>
        <p:spPr>
          <a:xfrm>
            <a:off x="457200" y="3779520"/>
            <a:ext cx="411480" cy="147828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3</a:t>
            </a:r>
            <a:endParaRPr lang="en-US" dirty="0"/>
          </a:p>
        </p:txBody>
      </p:sp>
      <p:sp>
        <p:nvSpPr>
          <p:cNvPr id="35100" name="Rectangle 35099">
            <a:extLst>
              <a:ext uri="{FF2B5EF4-FFF2-40B4-BE49-F238E27FC236}">
                <a16:creationId xmlns:a16="http://schemas.microsoft.com/office/drawing/2014/main" id="{6EFD25E0-5922-4972-F23F-B2F846AEAF4D}"/>
              </a:ext>
            </a:extLst>
          </p:cNvPr>
          <p:cNvSpPr/>
          <p:nvPr/>
        </p:nvSpPr>
        <p:spPr>
          <a:xfrm>
            <a:off x="1074420" y="3916680"/>
            <a:ext cx="464439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Attach the recurring piece</a:t>
            </a:r>
            <a:endParaRPr lang="en-US"/>
          </a:p>
        </p:txBody>
      </p:sp>
      <p:sp>
        <p:nvSpPr>
          <p:cNvPr id="35140" name="Rectangle 35139">
            <a:extLst>
              <a:ext uri="{FF2B5EF4-FFF2-40B4-BE49-F238E27FC236}">
                <a16:creationId xmlns:a16="http://schemas.microsoft.com/office/drawing/2014/main" id="{87A4F195-9B4D-09D0-AD76-6D995F8C8152}"/>
              </a:ext>
            </a:extLst>
          </p:cNvPr>
          <p:cNvSpPr/>
          <p:nvPr/>
        </p:nvSpPr>
        <p:spPr>
          <a:xfrm>
            <a:off x="1074420" y="4343400"/>
            <a:ext cx="464439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Cost governance and the value review are monthly work. That is where a UBB practice earns annuity, not project revenue.</a:t>
            </a:r>
            <a:endParaRPr lang="en-US"/>
          </a:p>
        </p:txBody>
      </p:sp>
      <p:sp>
        <p:nvSpPr>
          <p:cNvPr id="35181" name="Rectangle 35180">
            <a:extLst>
              <a:ext uri="{FF2B5EF4-FFF2-40B4-BE49-F238E27FC236}">
                <a16:creationId xmlns:a16="http://schemas.microsoft.com/office/drawing/2014/main" id="{98464A52-F3A4-A07F-887D-7DA7F9A4259B}"/>
              </a:ext>
            </a:extLst>
          </p:cNvPr>
          <p:cNvSpPr/>
          <p:nvPr/>
        </p:nvSpPr>
        <p:spPr>
          <a:xfrm>
            <a:off x="6267450" y="3779520"/>
            <a:ext cx="5467350" cy="147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23" name="Rectangle 35222">
            <a:extLst>
              <a:ext uri="{FF2B5EF4-FFF2-40B4-BE49-F238E27FC236}">
                <a16:creationId xmlns:a16="http://schemas.microsoft.com/office/drawing/2014/main" id="{07C99B09-C5AE-564C-BC5C-41A35D7BAD30}"/>
              </a:ext>
            </a:extLst>
          </p:cNvPr>
          <p:cNvSpPr/>
          <p:nvPr/>
        </p:nvSpPr>
        <p:spPr>
          <a:xfrm>
            <a:off x="6267450" y="3779520"/>
            <a:ext cx="411480" cy="147828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4</a:t>
            </a:r>
            <a:endParaRPr lang="en-US" dirty="0"/>
          </a:p>
        </p:txBody>
      </p:sp>
      <p:sp>
        <p:nvSpPr>
          <p:cNvPr id="35266" name="Rectangle 35265">
            <a:extLst>
              <a:ext uri="{FF2B5EF4-FFF2-40B4-BE49-F238E27FC236}">
                <a16:creationId xmlns:a16="http://schemas.microsoft.com/office/drawing/2014/main" id="{90C7107B-E043-68BA-727A-2064C909E4EC}"/>
              </a:ext>
            </a:extLst>
          </p:cNvPr>
          <p:cNvSpPr/>
          <p:nvPr/>
        </p:nvSpPr>
        <p:spPr>
          <a:xfrm>
            <a:off x="6884670" y="3916680"/>
            <a:ext cx="464439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Use the Microsoft investments</a:t>
            </a:r>
            <a:endParaRPr lang="en-US"/>
          </a:p>
        </p:txBody>
      </p:sp>
      <p:sp>
        <p:nvSpPr>
          <p:cNvPr id="35310" name="Rectangle 35309">
            <a:extLst>
              <a:ext uri="{FF2B5EF4-FFF2-40B4-BE49-F238E27FC236}">
                <a16:creationId xmlns:a16="http://schemas.microsoft.com/office/drawing/2014/main" id="{8B24AD95-67A4-A0A1-F9D1-A7DDA04265B3}"/>
              </a:ext>
            </a:extLst>
          </p:cNvPr>
          <p:cNvSpPr/>
          <p:nvPr/>
        </p:nvSpPr>
        <p:spPr>
          <a:xfrm>
            <a:off x="6884670" y="4343400"/>
            <a:ext cx="464439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Frontier Accelerate funds pre-sales envisioning and post-sales deployment. Build the offer so it covers part of delivery.</a:t>
            </a:r>
            <a:endParaRPr lang="en-US" dirty="0"/>
          </a:p>
        </p:txBody>
      </p:sp>
      <p:sp>
        <p:nvSpPr>
          <p:cNvPr id="35355" name="Rectangle 35354">
            <a:extLst>
              <a:ext uri="{FF2B5EF4-FFF2-40B4-BE49-F238E27FC236}">
                <a16:creationId xmlns:a16="http://schemas.microsoft.com/office/drawing/2014/main" id="{6690321C-31EF-C037-80DD-36A665ADC276}"/>
              </a:ext>
            </a:extLst>
          </p:cNvPr>
          <p:cNvSpPr/>
          <p:nvPr/>
        </p:nvSpPr>
        <p:spPr>
          <a:xfrm>
            <a:off x="457200" y="5532120"/>
            <a:ext cx="11277600" cy="746760"/>
          </a:xfrm>
          <a:prstGeom prst="rect">
            <a:avLst/>
          </a:prstGeom>
          <a:noFill/>
          <a:ln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OFFER RESOURCES   ↗ </a:t>
            </a:r>
            <a:r>
              <a:rPr lang="en-US" sz="14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4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aka.ms/CoworkOfferTemplates</a:t>
            </a:r>
            <a:r>
              <a:rPr lang="en-US" sz="14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4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(slide 16)   ↗  </a:t>
            </a:r>
            <a:r>
              <a:rPr lang="en-US" sz="14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aka.ms/CopilotPartnerGuide</a:t>
            </a:r>
            <a:r>
              <a:rPr lang="en-US" sz="14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4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(slide 17)   ↗  </a:t>
            </a:r>
            <a:r>
              <a:rPr lang="en-US" sz="14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aka.ms/FY27PartnerGTMPlaybooks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7C9B6CAC-DA5A-CA13-2C58-A4436BED8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611257" y="277259"/>
            <a:ext cx="969485" cy="11277600"/>
          </a:xfrm>
          <a:prstGeom prst="roundRect">
            <a:avLst>
              <a:gd name="adj" fmla="val 3633"/>
            </a:avLst>
          </a:prstGeom>
          <a:noFill/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4256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18" name="Rectangle 35417">
            <a:extLst>
              <a:ext uri="{FF2B5EF4-FFF2-40B4-BE49-F238E27FC236}">
                <a16:creationId xmlns:a16="http://schemas.microsoft.com/office/drawing/2014/main" id="{2EB04094-D021-B102-0991-D712BD937539}"/>
              </a:ext>
            </a:extLst>
          </p:cNvPr>
          <p:cNvSpPr/>
          <p:nvPr/>
        </p:nvSpPr>
        <p:spPr>
          <a:xfrm>
            <a:off x="210312" y="457200"/>
            <a:ext cx="11524488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600" b="1" dirty="0">
                <a:solidFill>
                  <a:srgbClr val="0E2A5C"/>
                </a:solidFill>
                <a:effectLst/>
                <a:latin typeface="Trebuchet MS"/>
              </a:rPr>
              <a:t> </a:t>
            </a:r>
            <a:r>
              <a:rPr lang="en-US" sz="2600" b="1" dirty="0">
                <a:solidFill>
                  <a:srgbClr val="FF32A3">
                    <a:lumMod val="75000"/>
                  </a:srgbClr>
                </a:solidFill>
                <a:latin typeface="Trebuchet MS" panose="020B0703020202090204" pitchFamily="34" charset="0"/>
                <a:cs typeface="Segoe Sans Text Semibold" pitchFamily="2" charset="0"/>
              </a:rPr>
              <a:t>Three ready-made offers</a:t>
            </a:r>
            <a:r>
              <a:rPr lang="en-US" sz="2600" dirty="0">
                <a:solidFill>
                  <a:srgbClr val="C4006B"/>
                </a:solidFill>
                <a:cs typeface="Segoe Sans Text Semibold" pitchFamily="2" charset="0"/>
              </a:rPr>
              <a:t> </a:t>
            </a:r>
            <a:r>
              <a:rPr lang="en-US" sz="2600" b="1" dirty="0">
                <a:solidFill>
                  <a:srgbClr val="0E2A5C"/>
                </a:solidFill>
                <a:effectLst/>
                <a:latin typeface="Trebuchet MS"/>
              </a:rPr>
              <a:t>you can adapt this quarter.</a:t>
            </a:r>
            <a:endParaRPr lang="en-US" dirty="0">
              <a:latin typeface="Trebuchet MS"/>
            </a:endParaRPr>
          </a:p>
        </p:txBody>
      </p:sp>
      <p:sp>
        <p:nvSpPr>
          <p:cNvPr id="35420" name="Rectangle 35419">
            <a:extLst>
              <a:ext uri="{FF2B5EF4-FFF2-40B4-BE49-F238E27FC236}">
                <a16:creationId xmlns:a16="http://schemas.microsoft.com/office/drawing/2014/main" id="{4E95E989-A1CF-F567-AEFC-566A9145E517}"/>
              </a:ext>
            </a:extLst>
          </p:cNvPr>
          <p:cNvSpPr/>
          <p:nvPr/>
        </p:nvSpPr>
        <p:spPr>
          <a:xfrm>
            <a:off x="457200" y="1127760"/>
            <a:ext cx="1127760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Cowork partner offer templates carry the structure, pricing model and value story for each one.</a:t>
            </a:r>
            <a:endParaRPr lang="en-US"/>
          </a:p>
        </p:txBody>
      </p:sp>
      <p:sp>
        <p:nvSpPr>
          <p:cNvPr id="35423" name="Rectangle 35422">
            <a:extLst>
              <a:ext uri="{FF2B5EF4-FFF2-40B4-BE49-F238E27FC236}">
                <a16:creationId xmlns:a16="http://schemas.microsoft.com/office/drawing/2014/main" id="{B1686601-BFED-1B88-B287-C35BA4184B49}"/>
              </a:ext>
            </a:extLst>
          </p:cNvPr>
          <p:cNvSpPr/>
          <p:nvPr/>
        </p:nvSpPr>
        <p:spPr>
          <a:xfrm>
            <a:off x="457200" y="2026920"/>
            <a:ext cx="3530600" cy="2895598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alpha val="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27" name="Rectangle 35426">
            <a:extLst>
              <a:ext uri="{FF2B5EF4-FFF2-40B4-BE49-F238E27FC236}">
                <a16:creationId xmlns:a16="http://schemas.microsoft.com/office/drawing/2014/main" id="{E725084D-DE7C-6B43-02BC-E8B06228F31F}"/>
              </a:ext>
            </a:extLst>
          </p:cNvPr>
          <p:cNvSpPr/>
          <p:nvPr/>
        </p:nvSpPr>
        <p:spPr>
          <a:xfrm>
            <a:off x="457200" y="2026920"/>
            <a:ext cx="3530600" cy="91440"/>
          </a:xfrm>
          <a:prstGeom prst="rect">
            <a:avLst/>
          </a:prstGeom>
          <a:solidFill>
            <a:srgbClr val="064DD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32" name="Rectangle 35431">
            <a:extLst>
              <a:ext uri="{FF2B5EF4-FFF2-40B4-BE49-F238E27FC236}">
                <a16:creationId xmlns:a16="http://schemas.microsoft.com/office/drawing/2014/main" id="{F3A4C5B7-5ED8-AAB4-FCFF-9C709D65D1B2}"/>
              </a:ext>
            </a:extLst>
          </p:cNvPr>
          <p:cNvSpPr/>
          <p:nvPr/>
        </p:nvSpPr>
        <p:spPr>
          <a:xfrm>
            <a:off x="662940" y="2324100"/>
            <a:ext cx="311912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B5394"/>
                </a:solidFill>
                <a:effectLst/>
                <a:latin typeface="Trebuchet MS" panose="020B0603020202020204" pitchFamily="34" charset="0"/>
              </a:rPr>
              <a:t>OFFER 01</a:t>
            </a:r>
            <a:endParaRPr lang="en-US"/>
          </a:p>
        </p:txBody>
      </p:sp>
      <p:sp>
        <p:nvSpPr>
          <p:cNvPr id="35438" name="Rectangle 35437">
            <a:extLst>
              <a:ext uri="{FF2B5EF4-FFF2-40B4-BE49-F238E27FC236}">
                <a16:creationId xmlns:a16="http://schemas.microsoft.com/office/drawing/2014/main" id="{1595BE5C-4ED4-E4E4-D794-F37D4B2C52B2}"/>
              </a:ext>
            </a:extLst>
          </p:cNvPr>
          <p:cNvSpPr/>
          <p:nvPr/>
        </p:nvSpPr>
        <p:spPr>
          <a:xfrm>
            <a:off x="662940" y="2628900"/>
            <a:ext cx="311912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AI Investment Planning Strategy</a:t>
            </a:r>
            <a:endParaRPr lang="en-US" dirty="0"/>
          </a:p>
        </p:txBody>
      </p:sp>
      <p:sp>
        <p:nvSpPr>
          <p:cNvPr id="35445" name="Rectangle 35444">
            <a:extLst>
              <a:ext uri="{FF2B5EF4-FFF2-40B4-BE49-F238E27FC236}">
                <a16:creationId xmlns:a16="http://schemas.microsoft.com/office/drawing/2014/main" id="{E06A1E5B-94BB-9102-BE0E-F6DF7282643B}"/>
              </a:ext>
            </a:extLst>
          </p:cNvPr>
          <p:cNvSpPr/>
          <p:nvPr/>
        </p:nvSpPr>
        <p:spPr>
          <a:xfrm>
            <a:off x="662940" y="3253740"/>
            <a:ext cx="311912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“From AI Investment to Value”</a:t>
            </a:r>
            <a:endParaRPr lang="en-US"/>
          </a:p>
        </p:txBody>
      </p:sp>
      <p:sp>
        <p:nvSpPr>
          <p:cNvPr id="35453" name="Rectangle 35452">
            <a:extLst>
              <a:ext uri="{FF2B5EF4-FFF2-40B4-BE49-F238E27FC236}">
                <a16:creationId xmlns:a16="http://schemas.microsoft.com/office/drawing/2014/main" id="{A6A83E64-E3AC-355B-2C41-BF1EF602C3C1}"/>
              </a:ext>
            </a:extLst>
          </p:cNvPr>
          <p:cNvSpPr/>
          <p:nvPr/>
        </p:nvSpPr>
        <p:spPr>
          <a:xfrm>
            <a:off x="662940" y="3619499"/>
            <a:ext cx="3119120" cy="7086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Builds the AI spend baseline, the value hypothesis and the investment case.</a:t>
            </a:r>
            <a:endParaRPr lang="en-US"/>
          </a:p>
        </p:txBody>
      </p:sp>
      <p:sp>
        <p:nvSpPr>
          <p:cNvPr id="35462" name="Rectangle 35461">
            <a:extLst>
              <a:ext uri="{FF2B5EF4-FFF2-40B4-BE49-F238E27FC236}">
                <a16:creationId xmlns:a16="http://schemas.microsoft.com/office/drawing/2014/main" id="{F42B74BB-1ACE-4BE0-1819-04D03F4914F7}"/>
              </a:ext>
            </a:extLst>
          </p:cNvPr>
          <p:cNvSpPr/>
          <p:nvPr/>
        </p:nvSpPr>
        <p:spPr>
          <a:xfrm>
            <a:off x="662940" y="4396739"/>
            <a:ext cx="311912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1, 3, 4</a:t>
            </a:r>
            <a:endParaRPr lang="en-US"/>
          </a:p>
        </p:txBody>
      </p:sp>
      <p:sp>
        <p:nvSpPr>
          <p:cNvPr id="35472" name="Rectangle 35471">
            <a:extLst>
              <a:ext uri="{FF2B5EF4-FFF2-40B4-BE49-F238E27FC236}">
                <a16:creationId xmlns:a16="http://schemas.microsoft.com/office/drawing/2014/main" id="{E1214051-7674-44FC-7C61-EC4EF671110D}"/>
              </a:ext>
            </a:extLst>
          </p:cNvPr>
          <p:cNvSpPr/>
          <p:nvPr/>
        </p:nvSpPr>
        <p:spPr>
          <a:xfrm>
            <a:off x="4330700" y="2026920"/>
            <a:ext cx="3530600" cy="2895598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alpha val="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83" name="Rectangle 35482">
            <a:extLst>
              <a:ext uri="{FF2B5EF4-FFF2-40B4-BE49-F238E27FC236}">
                <a16:creationId xmlns:a16="http://schemas.microsoft.com/office/drawing/2014/main" id="{9BC9BC06-36E4-78C3-3865-98C0293359BA}"/>
              </a:ext>
            </a:extLst>
          </p:cNvPr>
          <p:cNvSpPr/>
          <p:nvPr/>
        </p:nvSpPr>
        <p:spPr>
          <a:xfrm>
            <a:off x="4330700" y="2026920"/>
            <a:ext cx="3530600" cy="9144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95" name="Rectangle 35494">
            <a:extLst>
              <a:ext uri="{FF2B5EF4-FFF2-40B4-BE49-F238E27FC236}">
                <a16:creationId xmlns:a16="http://schemas.microsoft.com/office/drawing/2014/main" id="{BDD419B1-329A-01C7-ACD5-6480C517EC9F}"/>
              </a:ext>
            </a:extLst>
          </p:cNvPr>
          <p:cNvSpPr/>
          <p:nvPr/>
        </p:nvSpPr>
        <p:spPr>
          <a:xfrm>
            <a:off x="4536440" y="2324100"/>
            <a:ext cx="311912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OFFER 02</a:t>
            </a:r>
            <a:endParaRPr lang="en-US"/>
          </a:p>
        </p:txBody>
      </p:sp>
      <p:sp>
        <p:nvSpPr>
          <p:cNvPr id="35508" name="Rectangle 35507">
            <a:extLst>
              <a:ext uri="{FF2B5EF4-FFF2-40B4-BE49-F238E27FC236}">
                <a16:creationId xmlns:a16="http://schemas.microsoft.com/office/drawing/2014/main" id="{98614649-06EE-DFCE-9203-B609EAE4D99B}"/>
              </a:ext>
            </a:extLst>
          </p:cNvPr>
          <p:cNvSpPr/>
          <p:nvPr/>
        </p:nvSpPr>
        <p:spPr>
          <a:xfrm>
            <a:off x="4536440" y="2628900"/>
            <a:ext cx="311912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AI Functional or Industry Starter Pack</a:t>
            </a:r>
            <a:endParaRPr lang="en-US"/>
          </a:p>
        </p:txBody>
      </p:sp>
      <p:sp>
        <p:nvSpPr>
          <p:cNvPr id="35522" name="Rectangle 35521">
            <a:extLst>
              <a:ext uri="{FF2B5EF4-FFF2-40B4-BE49-F238E27FC236}">
                <a16:creationId xmlns:a16="http://schemas.microsoft.com/office/drawing/2014/main" id="{CE2825C9-F906-90D2-D7F3-D97A2687BBAC}"/>
              </a:ext>
            </a:extLst>
          </p:cNvPr>
          <p:cNvSpPr/>
          <p:nvPr/>
        </p:nvSpPr>
        <p:spPr>
          <a:xfrm>
            <a:off x="4536440" y="3253740"/>
            <a:ext cx="311912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rgbClr val="0F7B6C"/>
                </a:solidFill>
                <a:effectLst/>
                <a:latin typeface="Calibri" panose="020F0502020204030204" pitchFamily="34" charset="0"/>
              </a:rPr>
              <a:t>“AI Functional Starter Pack”</a:t>
            </a:r>
            <a:endParaRPr lang="en-US"/>
          </a:p>
        </p:txBody>
      </p:sp>
      <p:sp>
        <p:nvSpPr>
          <p:cNvPr id="35537" name="Rectangle 35536">
            <a:extLst>
              <a:ext uri="{FF2B5EF4-FFF2-40B4-BE49-F238E27FC236}">
                <a16:creationId xmlns:a16="http://schemas.microsoft.com/office/drawing/2014/main" id="{B5AC4ED0-BAE7-017A-B82C-48F350B2BE35}"/>
              </a:ext>
            </a:extLst>
          </p:cNvPr>
          <p:cNvSpPr/>
          <p:nvPr/>
        </p:nvSpPr>
        <p:spPr>
          <a:xfrm>
            <a:off x="4536440" y="3619499"/>
            <a:ext cx="3119120" cy="7086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One function or industry, bounded. Hybrid fixed, outcome and subscription pricing.</a:t>
            </a:r>
            <a:endParaRPr lang="en-US"/>
          </a:p>
        </p:txBody>
      </p:sp>
      <p:sp>
        <p:nvSpPr>
          <p:cNvPr id="35538" name="Rectangle 35537">
            <a:extLst>
              <a:ext uri="{FF2B5EF4-FFF2-40B4-BE49-F238E27FC236}">
                <a16:creationId xmlns:a16="http://schemas.microsoft.com/office/drawing/2014/main" id="{BD2FAFE9-B5A3-8529-6AE8-CB589B1A70D7}"/>
              </a:ext>
            </a:extLst>
          </p:cNvPr>
          <p:cNvSpPr/>
          <p:nvPr/>
        </p:nvSpPr>
        <p:spPr>
          <a:xfrm>
            <a:off x="4536440" y="4396739"/>
            <a:ext cx="311912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5, 6, 9</a:t>
            </a:r>
            <a:endParaRPr lang="en-US"/>
          </a:p>
        </p:txBody>
      </p:sp>
      <p:sp>
        <p:nvSpPr>
          <p:cNvPr id="35540" name="Rectangle 35539">
            <a:extLst>
              <a:ext uri="{FF2B5EF4-FFF2-40B4-BE49-F238E27FC236}">
                <a16:creationId xmlns:a16="http://schemas.microsoft.com/office/drawing/2014/main" id="{C0585E68-471E-B5AB-36C9-6AD5313A120F}"/>
              </a:ext>
            </a:extLst>
          </p:cNvPr>
          <p:cNvSpPr/>
          <p:nvPr/>
        </p:nvSpPr>
        <p:spPr>
          <a:xfrm>
            <a:off x="8204200" y="2026920"/>
            <a:ext cx="3530600" cy="2895598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alpha val="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43" name="Rectangle 35542">
            <a:extLst>
              <a:ext uri="{FF2B5EF4-FFF2-40B4-BE49-F238E27FC236}">
                <a16:creationId xmlns:a16="http://schemas.microsoft.com/office/drawing/2014/main" id="{D513FC40-9F8F-9815-5943-A323EE86A759}"/>
              </a:ext>
            </a:extLst>
          </p:cNvPr>
          <p:cNvSpPr/>
          <p:nvPr/>
        </p:nvSpPr>
        <p:spPr>
          <a:xfrm>
            <a:off x="8204200" y="2026920"/>
            <a:ext cx="3530600" cy="9144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47" name="Rectangle 35546">
            <a:extLst>
              <a:ext uri="{FF2B5EF4-FFF2-40B4-BE49-F238E27FC236}">
                <a16:creationId xmlns:a16="http://schemas.microsoft.com/office/drawing/2014/main" id="{E55D9BAE-7965-28C2-56BB-855F683343C7}"/>
              </a:ext>
            </a:extLst>
          </p:cNvPr>
          <p:cNvSpPr/>
          <p:nvPr/>
        </p:nvSpPr>
        <p:spPr>
          <a:xfrm>
            <a:off x="8409940" y="2324100"/>
            <a:ext cx="311912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OFFER 03</a:t>
            </a:r>
            <a:endParaRPr lang="en-US"/>
          </a:p>
        </p:txBody>
      </p:sp>
      <p:sp>
        <p:nvSpPr>
          <p:cNvPr id="35552" name="Rectangle 35551">
            <a:extLst>
              <a:ext uri="{FF2B5EF4-FFF2-40B4-BE49-F238E27FC236}">
                <a16:creationId xmlns:a16="http://schemas.microsoft.com/office/drawing/2014/main" id="{EAA36C4A-0851-2B1E-824E-E949DA09E2EC}"/>
              </a:ext>
            </a:extLst>
          </p:cNvPr>
          <p:cNvSpPr/>
          <p:nvPr/>
        </p:nvSpPr>
        <p:spPr>
          <a:xfrm>
            <a:off x="8409940" y="2628900"/>
            <a:ext cx="311912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Custom Skills and Plugin Offer</a:t>
            </a:r>
            <a:endParaRPr lang="en-US"/>
          </a:p>
        </p:txBody>
      </p:sp>
      <p:sp>
        <p:nvSpPr>
          <p:cNvPr id="35558" name="Rectangle 35557">
            <a:extLst>
              <a:ext uri="{FF2B5EF4-FFF2-40B4-BE49-F238E27FC236}">
                <a16:creationId xmlns:a16="http://schemas.microsoft.com/office/drawing/2014/main" id="{55E35988-79BF-CA20-DC72-16167C9B23D1}"/>
              </a:ext>
            </a:extLst>
          </p:cNvPr>
          <p:cNvSpPr/>
          <p:nvPr/>
        </p:nvSpPr>
        <p:spPr>
          <a:xfrm>
            <a:off x="8409940" y="3253740"/>
            <a:ext cx="311912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solidFill>
                  <a:srgbClr val="5B2590"/>
                </a:solidFill>
                <a:effectLst/>
                <a:latin typeface="Calibri" panose="020F0502020204030204" pitchFamily="34" charset="0"/>
              </a:rPr>
              <a:t>“AI Workforce Accelerator”</a:t>
            </a:r>
            <a:endParaRPr lang="en-US"/>
          </a:p>
        </p:txBody>
      </p:sp>
      <p:sp>
        <p:nvSpPr>
          <p:cNvPr id="35565" name="Rectangle 35564">
            <a:extLst>
              <a:ext uri="{FF2B5EF4-FFF2-40B4-BE49-F238E27FC236}">
                <a16:creationId xmlns:a16="http://schemas.microsoft.com/office/drawing/2014/main" id="{2AADE189-A9D6-4FBF-EFC0-29FD75C93EDE}"/>
              </a:ext>
            </a:extLst>
          </p:cNvPr>
          <p:cNvSpPr/>
          <p:nvPr/>
        </p:nvSpPr>
        <p:spPr>
          <a:xfrm>
            <a:off x="8409940" y="3619499"/>
            <a:ext cx="3119120" cy="7086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Skills, plugins and grounding that turn a scenario into finished work.</a:t>
            </a:r>
            <a:endParaRPr lang="en-US"/>
          </a:p>
        </p:txBody>
      </p:sp>
      <p:sp>
        <p:nvSpPr>
          <p:cNvPr id="35573" name="Rectangle 35572">
            <a:extLst>
              <a:ext uri="{FF2B5EF4-FFF2-40B4-BE49-F238E27FC236}">
                <a16:creationId xmlns:a16="http://schemas.microsoft.com/office/drawing/2014/main" id="{1D7F1C87-BEF7-8AA2-D921-0E874C98B10B}"/>
              </a:ext>
            </a:extLst>
          </p:cNvPr>
          <p:cNvSpPr/>
          <p:nvPr/>
        </p:nvSpPr>
        <p:spPr>
          <a:xfrm>
            <a:off x="8409940" y="4396739"/>
            <a:ext cx="3119120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6, 7, 10</a:t>
            </a:r>
            <a:endParaRPr lang="en-US"/>
          </a:p>
        </p:txBody>
      </p:sp>
      <p:sp>
        <p:nvSpPr>
          <p:cNvPr id="35603" name="Rectangle 35602">
            <a:extLst>
              <a:ext uri="{FF2B5EF4-FFF2-40B4-BE49-F238E27FC236}">
                <a16:creationId xmlns:a16="http://schemas.microsoft.com/office/drawing/2014/main" id="{1CCFDCBB-9C0D-D2D0-6C9F-8664B5ACAEBE}"/>
              </a:ext>
            </a:extLst>
          </p:cNvPr>
          <p:cNvSpPr/>
          <p:nvPr/>
        </p:nvSpPr>
        <p:spPr>
          <a:xfrm>
            <a:off x="731520" y="5288278"/>
            <a:ext cx="1086612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WHAT SEPARATES A STRONG UBB OFFER   </a:t>
            </a:r>
            <a:r>
              <a:rPr lang="en-US" sz="13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—   high-value workflow first  ·  spend tied to business KPIs  ·  forecasting, not just reporting  ·  guardrails set before scale  ·  a repeatable </a:t>
            </a:r>
            <a:r>
              <a:rPr lang="en-US" sz="1300" dirty="0" err="1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optimisation</a:t>
            </a:r>
            <a:r>
              <a:rPr lang="en-US" sz="13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 path</a:t>
            </a:r>
            <a:endParaRPr lang="en-US" dirty="0"/>
          </a:p>
        </p:txBody>
      </p:sp>
      <p:sp>
        <p:nvSpPr>
          <p:cNvPr id="35628" name="Rectangle 35627">
            <a:extLst>
              <a:ext uri="{FF2B5EF4-FFF2-40B4-BE49-F238E27FC236}">
                <a16:creationId xmlns:a16="http://schemas.microsoft.com/office/drawing/2014/main" id="{CC93306D-1993-D9C8-4071-442A79CD9324}"/>
              </a:ext>
            </a:extLst>
          </p:cNvPr>
          <p:cNvSpPr/>
          <p:nvPr/>
        </p:nvSpPr>
        <p:spPr>
          <a:xfrm>
            <a:off x="1180733" y="6194140"/>
            <a:ext cx="10866120" cy="3352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GET THE TEMPLATES    ↗ </a:t>
            </a:r>
            <a:r>
              <a:rPr lang="en-US" sz="13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</a:t>
            </a:r>
            <a:r>
              <a:rPr lang="en-US" sz="13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aka.ms/CoworkOfferTemplates</a:t>
            </a:r>
            <a:r>
              <a:rPr lang="en-US" sz="13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       </a:t>
            </a:r>
            <a:r>
              <a:rPr lang="en-US" sz="13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Walked through in Session 5 — slide 19.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D974B47B-427A-4E75-F4EA-E544D2088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823998" y="778637"/>
            <a:ext cx="566863" cy="11209020"/>
          </a:xfrm>
          <a:prstGeom prst="roundRect">
            <a:avLst>
              <a:gd name="adj" fmla="val 3633"/>
            </a:avLst>
          </a:prstGeom>
          <a:noFill/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2590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9" name="Rectangle 35628">
            <a:extLst>
              <a:ext uri="{FF2B5EF4-FFF2-40B4-BE49-F238E27FC236}">
                <a16:creationId xmlns:a16="http://schemas.microsoft.com/office/drawing/2014/main" id="{1EDFCAED-BD8B-F3BF-9971-47676EA1AAD3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Build the practice in four chapters.</a:t>
            </a:r>
            <a:endParaRPr lang="en-US"/>
          </a:p>
        </p:txBody>
      </p:sp>
      <p:sp>
        <p:nvSpPr>
          <p:cNvPr id="35631" name="Rectangle 35630">
            <a:extLst>
              <a:ext uri="{FF2B5EF4-FFF2-40B4-BE49-F238E27FC236}">
                <a16:creationId xmlns:a16="http://schemas.microsoft.com/office/drawing/2014/main" id="{5B5B4E6D-1292-6ABE-CDC4-6E73097A74C3}"/>
              </a:ext>
            </a:extLst>
          </p:cNvPr>
          <p:cNvSpPr/>
          <p:nvPr/>
        </p:nvSpPr>
        <p:spPr>
          <a:xfrm>
            <a:off x="457200" y="1127760"/>
            <a:ext cx="1127760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Copilot Partner Practice Development Guide is the step-by-step build; each chapter has its own templates and decision points.</a:t>
            </a:r>
            <a:endParaRPr lang="en-US"/>
          </a:p>
        </p:txBody>
      </p:sp>
      <p:sp>
        <p:nvSpPr>
          <p:cNvPr id="35634" name="Rectangle 35633">
            <a:extLst>
              <a:ext uri="{FF2B5EF4-FFF2-40B4-BE49-F238E27FC236}">
                <a16:creationId xmlns:a16="http://schemas.microsoft.com/office/drawing/2014/main" id="{AAB33A7A-5B35-FBCE-333A-A1ACBC4C7A29}"/>
              </a:ext>
            </a:extLst>
          </p:cNvPr>
          <p:cNvSpPr/>
          <p:nvPr/>
        </p:nvSpPr>
        <p:spPr>
          <a:xfrm>
            <a:off x="457200" y="2026920"/>
            <a:ext cx="2562225" cy="2628899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38" name="Rectangle 35637">
            <a:extLst>
              <a:ext uri="{FF2B5EF4-FFF2-40B4-BE49-F238E27FC236}">
                <a16:creationId xmlns:a16="http://schemas.microsoft.com/office/drawing/2014/main" id="{A7E70AA8-3158-1DCD-9DFB-E0285316280B}"/>
              </a:ext>
            </a:extLst>
          </p:cNvPr>
          <p:cNvSpPr/>
          <p:nvPr/>
        </p:nvSpPr>
        <p:spPr>
          <a:xfrm>
            <a:off x="457200" y="2026920"/>
            <a:ext cx="2562225" cy="91440"/>
          </a:xfrm>
          <a:prstGeom prst="rect">
            <a:avLst/>
          </a:prstGeom>
          <a:solidFill>
            <a:srgbClr val="064DD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43" name="Rectangle 35642">
            <a:extLst>
              <a:ext uri="{FF2B5EF4-FFF2-40B4-BE49-F238E27FC236}">
                <a16:creationId xmlns:a16="http://schemas.microsoft.com/office/drawing/2014/main" id="{DBF7B6CB-60FE-CEAB-1D66-C11A096D372B}"/>
              </a:ext>
            </a:extLst>
          </p:cNvPr>
          <p:cNvSpPr/>
          <p:nvPr/>
        </p:nvSpPr>
        <p:spPr>
          <a:xfrm>
            <a:off x="594360" y="2255520"/>
            <a:ext cx="2287905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B5394"/>
                </a:solidFill>
                <a:effectLst/>
                <a:latin typeface="Trebuchet MS" panose="020B0603020202020204" pitchFamily="34" charset="0"/>
              </a:rPr>
              <a:t>CHAPTER 01</a:t>
            </a:r>
            <a:endParaRPr lang="en-US"/>
          </a:p>
        </p:txBody>
      </p:sp>
      <p:sp>
        <p:nvSpPr>
          <p:cNvPr id="35649" name="Rectangle 35648">
            <a:extLst>
              <a:ext uri="{FF2B5EF4-FFF2-40B4-BE49-F238E27FC236}">
                <a16:creationId xmlns:a16="http://schemas.microsoft.com/office/drawing/2014/main" id="{6912DD71-11B1-EA13-82AD-A73DCEBDC55F}"/>
              </a:ext>
            </a:extLst>
          </p:cNvPr>
          <p:cNvSpPr/>
          <p:nvPr/>
        </p:nvSpPr>
        <p:spPr>
          <a:xfrm>
            <a:off x="594360" y="2560320"/>
            <a:ext cx="2287905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Design your strategy</a:t>
            </a:r>
            <a:endParaRPr lang="en-US"/>
          </a:p>
        </p:txBody>
      </p:sp>
      <p:sp>
        <p:nvSpPr>
          <p:cNvPr id="35656" name="Rectangle 35655">
            <a:extLst>
              <a:ext uri="{FF2B5EF4-FFF2-40B4-BE49-F238E27FC236}">
                <a16:creationId xmlns:a16="http://schemas.microsoft.com/office/drawing/2014/main" id="{ED8D44F0-C08A-943D-8BBF-090E33FA56A5}"/>
              </a:ext>
            </a:extLst>
          </p:cNvPr>
          <p:cNvSpPr/>
          <p:nvPr/>
        </p:nvSpPr>
        <p:spPr>
          <a:xfrm>
            <a:off x="594360" y="3230880"/>
            <a:ext cx="2287905" cy="899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Choose the markets, industries and workflows your practice will serve.</a:t>
            </a:r>
            <a:endParaRPr lang="en-US"/>
          </a:p>
        </p:txBody>
      </p:sp>
      <p:sp>
        <p:nvSpPr>
          <p:cNvPr id="35664" name="Rectangle 35663">
            <a:extLst>
              <a:ext uri="{FF2B5EF4-FFF2-40B4-BE49-F238E27FC236}">
                <a16:creationId xmlns:a16="http://schemas.microsoft.com/office/drawing/2014/main" id="{D647F553-A3EF-82B4-D177-692FC9888B1C}"/>
              </a:ext>
            </a:extLst>
          </p:cNvPr>
          <p:cNvSpPr/>
          <p:nvPr/>
        </p:nvSpPr>
        <p:spPr>
          <a:xfrm>
            <a:off x="594360" y="4198620"/>
            <a:ext cx="2287905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Categories 1,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673" name="Rectangle 35672">
            <a:extLst>
              <a:ext uri="{FF2B5EF4-FFF2-40B4-BE49-F238E27FC236}">
                <a16:creationId xmlns:a16="http://schemas.microsoft.com/office/drawing/2014/main" id="{D32A7786-F091-6E29-DCE0-52138A74F183}"/>
              </a:ext>
            </a:extLst>
          </p:cNvPr>
          <p:cNvSpPr/>
          <p:nvPr/>
        </p:nvSpPr>
        <p:spPr>
          <a:xfrm>
            <a:off x="3362325" y="2026920"/>
            <a:ext cx="2562225" cy="2628899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83" name="Rectangle 35682">
            <a:extLst>
              <a:ext uri="{FF2B5EF4-FFF2-40B4-BE49-F238E27FC236}">
                <a16:creationId xmlns:a16="http://schemas.microsoft.com/office/drawing/2014/main" id="{D1584DFC-8FD2-CA55-FB13-5A451A36D61E}"/>
              </a:ext>
            </a:extLst>
          </p:cNvPr>
          <p:cNvSpPr/>
          <p:nvPr/>
        </p:nvSpPr>
        <p:spPr>
          <a:xfrm>
            <a:off x="3362325" y="2026920"/>
            <a:ext cx="2562225" cy="91440"/>
          </a:xfrm>
          <a:prstGeom prst="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94" name="Rectangle 35693">
            <a:extLst>
              <a:ext uri="{FF2B5EF4-FFF2-40B4-BE49-F238E27FC236}">
                <a16:creationId xmlns:a16="http://schemas.microsoft.com/office/drawing/2014/main" id="{71888E51-7E4F-6BC5-4C6F-99EFEED6EE9D}"/>
              </a:ext>
            </a:extLst>
          </p:cNvPr>
          <p:cNvSpPr/>
          <p:nvPr/>
        </p:nvSpPr>
        <p:spPr>
          <a:xfrm>
            <a:off x="3499485" y="2255520"/>
            <a:ext cx="2287905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0F7B6C"/>
                </a:solidFill>
                <a:effectLst/>
                <a:latin typeface="Trebuchet MS" panose="020B0603020202020204" pitchFamily="34" charset="0"/>
              </a:rPr>
              <a:t>CHAPTER 02</a:t>
            </a:r>
            <a:endParaRPr lang="en-US"/>
          </a:p>
        </p:txBody>
      </p:sp>
      <p:sp>
        <p:nvSpPr>
          <p:cNvPr id="35706" name="Rectangle 35705">
            <a:extLst>
              <a:ext uri="{FF2B5EF4-FFF2-40B4-BE49-F238E27FC236}">
                <a16:creationId xmlns:a16="http://schemas.microsoft.com/office/drawing/2014/main" id="{9EA67374-37E9-CA05-825B-E29ADD4AC21A}"/>
              </a:ext>
            </a:extLst>
          </p:cNvPr>
          <p:cNvSpPr/>
          <p:nvPr/>
        </p:nvSpPr>
        <p:spPr>
          <a:xfrm>
            <a:off x="3499485" y="2560320"/>
            <a:ext cx="2287905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Develop capabilities</a:t>
            </a:r>
            <a:endParaRPr lang="en-US"/>
          </a:p>
        </p:txBody>
      </p:sp>
      <p:sp>
        <p:nvSpPr>
          <p:cNvPr id="35719" name="Rectangle 35718">
            <a:extLst>
              <a:ext uri="{FF2B5EF4-FFF2-40B4-BE49-F238E27FC236}">
                <a16:creationId xmlns:a16="http://schemas.microsoft.com/office/drawing/2014/main" id="{7239860E-9E4E-3A9D-FF00-7D2F36EA6622}"/>
              </a:ext>
            </a:extLst>
          </p:cNvPr>
          <p:cNvSpPr/>
          <p:nvPr/>
        </p:nvSpPr>
        <p:spPr>
          <a:xfrm>
            <a:off x="3499485" y="3230880"/>
            <a:ext cx="2287905" cy="899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Build the bench: business value, FinOps, process change, analytics.</a:t>
            </a:r>
            <a:endParaRPr lang="en-US"/>
          </a:p>
        </p:txBody>
      </p:sp>
      <p:sp>
        <p:nvSpPr>
          <p:cNvPr id="35733" name="Rectangle 35732">
            <a:extLst>
              <a:ext uri="{FF2B5EF4-FFF2-40B4-BE49-F238E27FC236}">
                <a16:creationId xmlns:a16="http://schemas.microsoft.com/office/drawing/2014/main" id="{EAAEFDE8-C138-26EE-3635-3291A2C5156D}"/>
              </a:ext>
            </a:extLst>
          </p:cNvPr>
          <p:cNvSpPr/>
          <p:nvPr/>
        </p:nvSpPr>
        <p:spPr>
          <a:xfrm>
            <a:off x="3499485" y="4198620"/>
            <a:ext cx="2287905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Slides 25 to 27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734" name="Rectangle 35733">
            <a:extLst>
              <a:ext uri="{FF2B5EF4-FFF2-40B4-BE49-F238E27FC236}">
                <a16:creationId xmlns:a16="http://schemas.microsoft.com/office/drawing/2014/main" id="{1FAF16C2-122F-888E-755F-8C7314658A7E}"/>
              </a:ext>
            </a:extLst>
          </p:cNvPr>
          <p:cNvSpPr/>
          <p:nvPr/>
        </p:nvSpPr>
        <p:spPr>
          <a:xfrm>
            <a:off x="6267450" y="2026920"/>
            <a:ext cx="2562225" cy="2628899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36" name="Rectangle 35735">
            <a:extLst>
              <a:ext uri="{FF2B5EF4-FFF2-40B4-BE49-F238E27FC236}">
                <a16:creationId xmlns:a16="http://schemas.microsoft.com/office/drawing/2014/main" id="{8B102A1F-5772-C000-3EB4-B7A10A940C0F}"/>
              </a:ext>
            </a:extLst>
          </p:cNvPr>
          <p:cNvSpPr/>
          <p:nvPr/>
        </p:nvSpPr>
        <p:spPr>
          <a:xfrm>
            <a:off x="6267450" y="2026920"/>
            <a:ext cx="2562225" cy="9144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39" name="Rectangle 35738">
            <a:extLst>
              <a:ext uri="{FF2B5EF4-FFF2-40B4-BE49-F238E27FC236}">
                <a16:creationId xmlns:a16="http://schemas.microsoft.com/office/drawing/2014/main" id="{5B360464-866F-909E-378D-DE30F874BB7F}"/>
              </a:ext>
            </a:extLst>
          </p:cNvPr>
          <p:cNvSpPr/>
          <p:nvPr/>
        </p:nvSpPr>
        <p:spPr>
          <a:xfrm>
            <a:off x="6404610" y="2255520"/>
            <a:ext cx="2287905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CHAPTER 03</a:t>
            </a:r>
            <a:endParaRPr lang="en-US"/>
          </a:p>
        </p:txBody>
      </p:sp>
      <p:sp>
        <p:nvSpPr>
          <p:cNvPr id="35743" name="Rectangle 35742">
            <a:extLst>
              <a:ext uri="{FF2B5EF4-FFF2-40B4-BE49-F238E27FC236}">
                <a16:creationId xmlns:a16="http://schemas.microsoft.com/office/drawing/2014/main" id="{CE5B3512-BF95-314F-AD57-E737170393CA}"/>
              </a:ext>
            </a:extLst>
          </p:cNvPr>
          <p:cNvSpPr/>
          <p:nvPr/>
        </p:nvSpPr>
        <p:spPr>
          <a:xfrm>
            <a:off x="6404610" y="2560320"/>
            <a:ext cx="2287905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Build offers and solutions</a:t>
            </a:r>
            <a:endParaRPr lang="en-US"/>
          </a:p>
        </p:txBody>
      </p:sp>
      <p:sp>
        <p:nvSpPr>
          <p:cNvPr id="35748" name="Rectangle 35747">
            <a:extLst>
              <a:ext uri="{FF2B5EF4-FFF2-40B4-BE49-F238E27FC236}">
                <a16:creationId xmlns:a16="http://schemas.microsoft.com/office/drawing/2014/main" id="{358C474D-8CFF-CBAA-B5AF-FDBD98767EF8}"/>
              </a:ext>
            </a:extLst>
          </p:cNvPr>
          <p:cNvSpPr/>
          <p:nvPr/>
        </p:nvSpPr>
        <p:spPr>
          <a:xfrm>
            <a:off x="6404610" y="3230880"/>
            <a:ext cx="2287905" cy="899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Offer strategy, packaging your IP, publishing to Microsoft Marketplace.</a:t>
            </a:r>
            <a:endParaRPr lang="en-US"/>
          </a:p>
        </p:txBody>
      </p:sp>
      <p:sp>
        <p:nvSpPr>
          <p:cNvPr id="35754" name="Rectangle 35753">
            <a:extLst>
              <a:ext uri="{FF2B5EF4-FFF2-40B4-BE49-F238E27FC236}">
                <a16:creationId xmlns:a16="http://schemas.microsoft.com/office/drawing/2014/main" id="{96378788-9930-232B-EAD0-1D7CBE6EB0AE}"/>
              </a:ext>
            </a:extLst>
          </p:cNvPr>
          <p:cNvSpPr/>
          <p:nvPr/>
        </p:nvSpPr>
        <p:spPr>
          <a:xfrm>
            <a:off x="6404610" y="4198620"/>
            <a:ext cx="2287905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Slide 16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761" name="Rectangle 35760">
            <a:extLst>
              <a:ext uri="{FF2B5EF4-FFF2-40B4-BE49-F238E27FC236}">
                <a16:creationId xmlns:a16="http://schemas.microsoft.com/office/drawing/2014/main" id="{9AAF4FDE-77AB-68DA-83AB-141562A2DB14}"/>
              </a:ext>
            </a:extLst>
          </p:cNvPr>
          <p:cNvSpPr/>
          <p:nvPr/>
        </p:nvSpPr>
        <p:spPr>
          <a:xfrm>
            <a:off x="9172575" y="2026920"/>
            <a:ext cx="2562225" cy="2628899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69" name="Rectangle 35768">
            <a:extLst>
              <a:ext uri="{FF2B5EF4-FFF2-40B4-BE49-F238E27FC236}">
                <a16:creationId xmlns:a16="http://schemas.microsoft.com/office/drawing/2014/main" id="{44773C6C-F5E8-EA98-ABF1-E7E14532A669}"/>
              </a:ext>
            </a:extLst>
          </p:cNvPr>
          <p:cNvSpPr/>
          <p:nvPr/>
        </p:nvSpPr>
        <p:spPr>
          <a:xfrm>
            <a:off x="9172575" y="2026920"/>
            <a:ext cx="2562225" cy="91440"/>
          </a:xfrm>
          <a:prstGeom prst="rect">
            <a:avLst/>
          </a:prstGeom>
          <a:solidFill>
            <a:srgbClr val="FFA200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78" name="Rectangle 35777">
            <a:extLst>
              <a:ext uri="{FF2B5EF4-FFF2-40B4-BE49-F238E27FC236}">
                <a16:creationId xmlns:a16="http://schemas.microsoft.com/office/drawing/2014/main" id="{73CB5033-51B1-F86E-FF40-155F6F38443F}"/>
              </a:ext>
            </a:extLst>
          </p:cNvPr>
          <p:cNvSpPr/>
          <p:nvPr/>
        </p:nvSpPr>
        <p:spPr>
          <a:xfrm>
            <a:off x="9309735" y="2255520"/>
            <a:ext cx="2287905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  <a:effectLst/>
                <a:latin typeface="Trebuchet MS" panose="020B0603020202020204" pitchFamily="34" charset="0"/>
              </a:rPr>
              <a:t>CHAPTER 04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788" name="Rectangle 35787">
            <a:extLst>
              <a:ext uri="{FF2B5EF4-FFF2-40B4-BE49-F238E27FC236}">
                <a16:creationId xmlns:a16="http://schemas.microsoft.com/office/drawing/2014/main" id="{B6CEE764-CACF-82B6-7A1E-615620441717}"/>
              </a:ext>
            </a:extLst>
          </p:cNvPr>
          <p:cNvSpPr/>
          <p:nvPr/>
        </p:nvSpPr>
        <p:spPr>
          <a:xfrm>
            <a:off x="9309735" y="2560320"/>
            <a:ext cx="228790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Go to market</a:t>
            </a:r>
            <a:endParaRPr lang="en-US"/>
          </a:p>
        </p:txBody>
      </p:sp>
      <p:sp>
        <p:nvSpPr>
          <p:cNvPr id="35799" name="Rectangle 35798">
            <a:extLst>
              <a:ext uri="{FF2B5EF4-FFF2-40B4-BE49-F238E27FC236}">
                <a16:creationId xmlns:a16="http://schemas.microsoft.com/office/drawing/2014/main" id="{B6B5A6EE-EABB-E2EB-922F-CC3BBE2C5EE2}"/>
              </a:ext>
            </a:extLst>
          </p:cNvPr>
          <p:cNvSpPr/>
          <p:nvPr/>
        </p:nvSpPr>
        <p:spPr>
          <a:xfrm>
            <a:off x="9309735" y="3230880"/>
            <a:ext cx="2287905" cy="899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Campaigns, co-sell, incentives and the launch kit that carries the offer.</a:t>
            </a:r>
            <a:endParaRPr lang="en-US"/>
          </a:p>
        </p:txBody>
      </p:sp>
      <p:sp>
        <p:nvSpPr>
          <p:cNvPr id="35811" name="Rectangle 35810">
            <a:extLst>
              <a:ext uri="{FF2B5EF4-FFF2-40B4-BE49-F238E27FC236}">
                <a16:creationId xmlns:a16="http://schemas.microsoft.com/office/drawing/2014/main" id="{371EFD5B-BC53-2107-091F-1809D9D05053}"/>
              </a:ext>
            </a:extLst>
          </p:cNvPr>
          <p:cNvSpPr/>
          <p:nvPr/>
        </p:nvSpPr>
        <p:spPr>
          <a:xfrm>
            <a:off x="9309735" y="4198620"/>
            <a:ext cx="2287905" cy="32003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Categories 9, 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817" name="Rectangle 35816">
            <a:extLst>
              <a:ext uri="{FF2B5EF4-FFF2-40B4-BE49-F238E27FC236}">
                <a16:creationId xmlns:a16="http://schemas.microsoft.com/office/drawing/2014/main" id="{7A2A7213-ACDC-AD34-AB05-82EA2560CB40}"/>
              </a:ext>
            </a:extLst>
          </p:cNvPr>
          <p:cNvSpPr/>
          <p:nvPr/>
        </p:nvSpPr>
        <p:spPr>
          <a:xfrm>
            <a:off x="731520" y="5021579"/>
            <a:ext cx="1086612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AI FINOPS MATURITY </a:t>
            </a:r>
            <a:r>
              <a:rPr lang="en-US" sz="13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—   Visibility  →  Budgeting  →  </a:t>
            </a:r>
            <a:r>
              <a:rPr lang="en-US" sz="1300" dirty="0" err="1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Showback</a:t>
            </a:r>
            <a:r>
              <a:rPr lang="en-US" sz="13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  →  Chargeback.   Chapter 02 is where you build it: manage AI spend, </a:t>
            </a:r>
            <a:r>
              <a:rPr lang="en-US" sz="1300" dirty="0" err="1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optimise</a:t>
            </a:r>
            <a:r>
              <a:rPr lang="en-US" sz="13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 value, shape the frontier firm.</a:t>
            </a:r>
            <a:endParaRPr lang="en-US" dirty="0"/>
          </a:p>
        </p:txBody>
      </p:sp>
      <p:sp>
        <p:nvSpPr>
          <p:cNvPr id="35826" name="Rectangle 35825">
            <a:extLst>
              <a:ext uri="{FF2B5EF4-FFF2-40B4-BE49-F238E27FC236}">
                <a16:creationId xmlns:a16="http://schemas.microsoft.com/office/drawing/2014/main" id="{6E768AFB-336F-97F0-881E-E022D705ECC8}"/>
              </a:ext>
            </a:extLst>
          </p:cNvPr>
          <p:cNvSpPr/>
          <p:nvPr/>
        </p:nvSpPr>
        <p:spPr>
          <a:xfrm>
            <a:off x="2607136" y="5966459"/>
            <a:ext cx="7846551" cy="685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THE PRACTICE GUIDE   ↗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aka.ms/CopilotPartnerGuide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   </a:t>
            </a:r>
            <a:r>
              <a:rPr lang="en-US" sz="12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FINOPS FRAMEWORK   ↗ 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www.finops.org</a:t>
            </a:r>
            <a:endParaRPr lang="en-US" sz="1200" b="1" dirty="0">
              <a:solidFill>
                <a:srgbClr val="FFFFFF"/>
              </a:solidFill>
              <a:effectLst/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FINOPS PRACTICE DEVELOPMENT — REGISTER INTEREST   ↗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forms.cloud.microsoft/r/RrfKr7dYuA</a:t>
            </a:r>
            <a:endParaRPr lang="en-US" sz="1200" b="1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/>
              <a:cs typeface="Calibri"/>
              <a:hlinkClick r:id="rId5"/>
            </a:endParaRPr>
          </a:p>
          <a:p>
            <a:pPr>
              <a:buNone/>
            </a:pPr>
            <a:r>
              <a:rPr lang="en-US" sz="12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PARTNER SKILLING   ↗ 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skilling-hub.com/en-US/search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  </a:t>
            </a:r>
            <a:r>
              <a:rPr lang="en-US" sz="1200" b="1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 </a:t>
            </a:r>
            <a:r>
              <a:rPr lang="en-US" sz="1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skilling-hub.com/en-US/program/microskilling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6">
            <a:extLst>
              <a:ext uri="{FF2B5EF4-FFF2-40B4-BE49-F238E27FC236}">
                <a16:creationId xmlns:a16="http://schemas.microsoft.com/office/drawing/2014/main" id="{9CCAB95B-3264-60D9-A262-7F7007CE7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657850" y="704849"/>
            <a:ext cx="899160" cy="11209020"/>
          </a:xfrm>
          <a:prstGeom prst="roundRect">
            <a:avLst>
              <a:gd name="adj" fmla="val 3633"/>
            </a:avLst>
          </a:prstGeom>
          <a:noFill/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0054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95E0-BEE5-9B32-47D2-7F05535A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87FE3A-7524-3E8F-3117-8DDF892DAA32}"/>
              </a:ext>
            </a:extLst>
          </p:cNvPr>
          <p:cNvSpPr/>
          <p:nvPr/>
        </p:nvSpPr>
        <p:spPr>
          <a:xfrm>
            <a:off x="569468" y="2621359"/>
            <a:ext cx="7285559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Trebuchet MS"/>
              </a:rPr>
              <a:t>Resources Deep Dive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371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9" name="Rectangle 13518">
            <a:extLst>
              <a:ext uri="{FF2B5EF4-FFF2-40B4-BE49-F238E27FC236}">
                <a16:creationId xmlns:a16="http://schemas.microsoft.com/office/drawing/2014/main" id="{14D0A036-F677-6017-F5C2-3358E18240BF}"/>
              </a:ext>
            </a:extLst>
          </p:cNvPr>
          <p:cNvSpPr/>
          <p:nvPr/>
        </p:nvSpPr>
        <p:spPr>
          <a:xfrm>
            <a:off x="457200" y="1294774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Use the right-hand column to jump from a session recording straight to the gap it closes.</a:t>
            </a:r>
            <a:endParaRPr lang="en-US"/>
          </a:p>
        </p:txBody>
      </p:sp>
      <p:sp>
        <p:nvSpPr>
          <p:cNvPr id="13537" name="Rounded Rectangle 13536">
            <a:extLst>
              <a:ext uri="{FF2B5EF4-FFF2-40B4-BE49-F238E27FC236}">
                <a16:creationId xmlns:a16="http://schemas.microsoft.com/office/drawing/2014/main" id="{EEF2467C-5617-5F3D-7B22-BBA351BA6292}"/>
              </a:ext>
            </a:extLst>
          </p:cNvPr>
          <p:cNvSpPr/>
          <p:nvPr/>
        </p:nvSpPr>
        <p:spPr>
          <a:xfrm>
            <a:off x="457200" y="178308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56" name="Rectangle 13555">
            <a:extLst>
              <a:ext uri="{FF2B5EF4-FFF2-40B4-BE49-F238E27FC236}">
                <a16:creationId xmlns:a16="http://schemas.microsoft.com/office/drawing/2014/main" id="{803EAEA9-9DBA-9FAE-93EC-A8803CAB081B}"/>
              </a:ext>
            </a:extLst>
          </p:cNvPr>
          <p:cNvSpPr/>
          <p:nvPr/>
        </p:nvSpPr>
        <p:spPr>
          <a:xfrm>
            <a:off x="457200" y="1783080"/>
            <a:ext cx="45720" cy="74676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76" name="Rectangle 13575">
            <a:extLst>
              <a:ext uri="{FF2B5EF4-FFF2-40B4-BE49-F238E27FC236}">
                <a16:creationId xmlns:a16="http://schemas.microsoft.com/office/drawing/2014/main" id="{FEFBDB4A-1B35-EA99-ACDF-3EFC5F293D0A}"/>
              </a:ext>
            </a:extLst>
          </p:cNvPr>
          <p:cNvSpPr/>
          <p:nvPr/>
        </p:nvSpPr>
        <p:spPr>
          <a:xfrm>
            <a:off x="731520" y="1874520"/>
            <a:ext cx="2743200" cy="563880"/>
          </a:xfrm>
          <a:prstGeom prst="rect">
            <a:avLst/>
          </a:prstGeom>
          <a:solidFill>
            <a:srgbClr val="064DD5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 dirty="0">
                <a:solidFill>
                  <a:srgbClr val="064DD5"/>
                </a:solidFill>
                <a:effectLst/>
                <a:latin typeface="Trebuchet MS"/>
              </a:rPr>
              <a:t>SESSION 1  </a:t>
            </a:r>
            <a:endParaRPr lang="en-US" dirty="0">
              <a:solidFill>
                <a:srgbClr val="064DD5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b="1" dirty="0">
                <a:solidFill>
                  <a:schemeClr val="tx1"/>
                </a:solidFill>
                <a:effectLst/>
                <a:latin typeface="Trebuchet MS"/>
              </a:rPr>
              <a:t>Foundation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97" name="Rectangle 13596">
            <a:extLst>
              <a:ext uri="{FF2B5EF4-FFF2-40B4-BE49-F238E27FC236}">
                <a16:creationId xmlns:a16="http://schemas.microsoft.com/office/drawing/2014/main" id="{D8FD6617-8973-18FB-D4C1-8A84F33DF5D8}"/>
              </a:ext>
            </a:extLst>
          </p:cNvPr>
          <p:cNvSpPr/>
          <p:nvPr/>
        </p:nvSpPr>
        <p:spPr>
          <a:xfrm>
            <a:off x="3886200" y="1874520"/>
            <a:ext cx="54254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model shift, Cowork demos and prompt anatomy, partner opportunity and GTM investments.</a:t>
            </a:r>
            <a:endParaRPr lang="en-US"/>
          </a:p>
        </p:txBody>
      </p:sp>
      <p:sp>
        <p:nvSpPr>
          <p:cNvPr id="13619" name="Rectangle 13618">
            <a:extLst>
              <a:ext uri="{FF2B5EF4-FFF2-40B4-BE49-F238E27FC236}">
                <a16:creationId xmlns:a16="http://schemas.microsoft.com/office/drawing/2014/main" id="{BB16F71F-4245-3120-4E9C-A24083F7F0AF}"/>
              </a:ext>
            </a:extLst>
          </p:cNvPr>
          <p:cNvSpPr/>
          <p:nvPr/>
        </p:nvSpPr>
        <p:spPr>
          <a:xfrm>
            <a:off x="9540240" y="1874520"/>
            <a:ext cx="196596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Categories 1, 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642" name="Rounded Rectangle 13641">
            <a:extLst>
              <a:ext uri="{FF2B5EF4-FFF2-40B4-BE49-F238E27FC236}">
                <a16:creationId xmlns:a16="http://schemas.microsoft.com/office/drawing/2014/main" id="{22784E5B-DA43-D281-74DF-F417B5777F36}"/>
              </a:ext>
            </a:extLst>
          </p:cNvPr>
          <p:cNvSpPr/>
          <p:nvPr/>
        </p:nvSpPr>
        <p:spPr>
          <a:xfrm>
            <a:off x="457200" y="262128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66" name="Rectangle 13665">
            <a:extLst>
              <a:ext uri="{FF2B5EF4-FFF2-40B4-BE49-F238E27FC236}">
                <a16:creationId xmlns:a16="http://schemas.microsoft.com/office/drawing/2014/main" id="{EC485E94-2696-09BC-FBB2-8E281BC4258C}"/>
              </a:ext>
            </a:extLst>
          </p:cNvPr>
          <p:cNvSpPr/>
          <p:nvPr/>
        </p:nvSpPr>
        <p:spPr>
          <a:xfrm>
            <a:off x="457200" y="2621280"/>
            <a:ext cx="45720" cy="74676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91" name="Rectangle 13690">
            <a:extLst>
              <a:ext uri="{FF2B5EF4-FFF2-40B4-BE49-F238E27FC236}">
                <a16:creationId xmlns:a16="http://schemas.microsoft.com/office/drawing/2014/main" id="{3A32DD14-D18E-9671-205C-5EB76051D891}"/>
              </a:ext>
            </a:extLst>
          </p:cNvPr>
          <p:cNvSpPr/>
          <p:nvPr/>
        </p:nvSpPr>
        <p:spPr>
          <a:xfrm>
            <a:off x="731520" y="2712720"/>
            <a:ext cx="2743200" cy="563880"/>
          </a:xfrm>
          <a:prstGeom prst="rect">
            <a:avLst/>
          </a:prstGeom>
          <a:solidFill>
            <a:srgbClr val="064DD5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 dirty="0">
                <a:solidFill>
                  <a:srgbClr val="064DD5"/>
                </a:solidFill>
                <a:effectLst/>
                <a:latin typeface="Trebuchet MS"/>
              </a:rPr>
              <a:t>SESSION 2  </a:t>
            </a:r>
            <a:endParaRPr lang="en-US" dirty="0">
              <a:solidFill>
                <a:srgbClr val="064DD5"/>
              </a:solidFill>
              <a:latin typeface="Trebuchet MS"/>
            </a:endParaRP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Trebuchet MS"/>
              </a:rPr>
              <a:t>Economics of AI &amp; FinOps</a:t>
            </a:r>
            <a:endParaRPr lang="en-US" dirty="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2D3DC7D-E512-8BFB-FFC8-75D90AFABB03}"/>
              </a:ext>
            </a:extLst>
          </p:cNvPr>
          <p:cNvSpPr/>
          <p:nvPr/>
        </p:nvSpPr>
        <p:spPr>
          <a:xfrm>
            <a:off x="3886200" y="2712720"/>
            <a:ext cx="54254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Credit inputs and task sizing, credit estimation, cost management in the Admin Center.</a:t>
            </a:r>
            <a:endParaRPr lang="en-US"/>
          </a:p>
        </p:txBody>
      </p:sp>
      <p:sp>
        <p:nvSpPr>
          <p:cNvPr id="13744" name="Rectangle 13743">
            <a:extLst>
              <a:ext uri="{FF2B5EF4-FFF2-40B4-BE49-F238E27FC236}">
                <a16:creationId xmlns:a16="http://schemas.microsoft.com/office/drawing/2014/main" id="{3BD9DDA1-35AB-690B-FD3B-B1117636C264}"/>
              </a:ext>
            </a:extLst>
          </p:cNvPr>
          <p:cNvSpPr/>
          <p:nvPr/>
        </p:nvSpPr>
        <p:spPr>
          <a:xfrm>
            <a:off x="9540240" y="2712720"/>
            <a:ext cx="196596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Categories 3, 8, 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772" name="Rounded Rectangle 13771">
            <a:extLst>
              <a:ext uri="{FF2B5EF4-FFF2-40B4-BE49-F238E27FC236}">
                <a16:creationId xmlns:a16="http://schemas.microsoft.com/office/drawing/2014/main" id="{17CC5C02-2D55-2AF4-0165-F5BA3128C506}"/>
              </a:ext>
            </a:extLst>
          </p:cNvPr>
          <p:cNvSpPr/>
          <p:nvPr/>
        </p:nvSpPr>
        <p:spPr>
          <a:xfrm>
            <a:off x="457200" y="345948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01" name="Rectangle 13800">
            <a:extLst>
              <a:ext uri="{FF2B5EF4-FFF2-40B4-BE49-F238E27FC236}">
                <a16:creationId xmlns:a16="http://schemas.microsoft.com/office/drawing/2014/main" id="{B6B7CA0A-7B36-EC39-1CF3-A6B952FA4B27}"/>
              </a:ext>
            </a:extLst>
          </p:cNvPr>
          <p:cNvSpPr/>
          <p:nvPr/>
        </p:nvSpPr>
        <p:spPr>
          <a:xfrm>
            <a:off x="457200" y="3459480"/>
            <a:ext cx="45720" cy="74676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1" name="Rectangle 13830">
            <a:extLst>
              <a:ext uri="{FF2B5EF4-FFF2-40B4-BE49-F238E27FC236}">
                <a16:creationId xmlns:a16="http://schemas.microsoft.com/office/drawing/2014/main" id="{44EE15F6-BED5-A1C5-29E6-ADC1CBB448CE}"/>
              </a:ext>
            </a:extLst>
          </p:cNvPr>
          <p:cNvSpPr/>
          <p:nvPr/>
        </p:nvSpPr>
        <p:spPr>
          <a:xfrm>
            <a:off x="731520" y="3550920"/>
            <a:ext cx="2743200" cy="563880"/>
          </a:xfrm>
          <a:prstGeom prst="rect">
            <a:avLst/>
          </a:prstGeom>
          <a:solidFill>
            <a:srgbClr val="064DD5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 dirty="0">
                <a:solidFill>
                  <a:srgbClr val="064DD5"/>
                </a:solidFill>
                <a:effectLst/>
                <a:latin typeface="Trebuchet MS"/>
              </a:rPr>
              <a:t>SESSION 3  </a:t>
            </a:r>
            <a:endParaRPr lang="en-US" dirty="0">
              <a:solidFill>
                <a:srgbClr val="064DD5"/>
              </a:solidFill>
              <a:latin typeface="Trebuchet MS"/>
            </a:endParaRP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Trebuchet MS"/>
              </a:rPr>
              <a:t>Compete deep dive</a:t>
            </a:r>
            <a:endParaRPr lang="en-US" dirty="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3862" name="Rectangle 13861">
            <a:extLst>
              <a:ext uri="{FF2B5EF4-FFF2-40B4-BE49-F238E27FC236}">
                <a16:creationId xmlns:a16="http://schemas.microsoft.com/office/drawing/2014/main" id="{4BE85871-8C47-312C-196E-6081C182A45E}"/>
              </a:ext>
            </a:extLst>
          </p:cNvPr>
          <p:cNvSpPr/>
          <p:nvPr/>
        </p:nvSpPr>
        <p:spPr>
          <a:xfrm>
            <a:off x="3886200" y="3550920"/>
            <a:ext cx="54254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Battlecards, Cowork versus Claude Cowork, and the which-tool-for-the-work matrix.</a:t>
            </a:r>
            <a:endParaRPr lang="en-US"/>
          </a:p>
        </p:txBody>
      </p:sp>
      <p:sp>
        <p:nvSpPr>
          <p:cNvPr id="13894" name="Rectangle 13893">
            <a:extLst>
              <a:ext uri="{FF2B5EF4-FFF2-40B4-BE49-F238E27FC236}">
                <a16:creationId xmlns:a16="http://schemas.microsoft.com/office/drawing/2014/main" id="{347885F7-3F11-838B-AC5A-3065538A5EDC}"/>
              </a:ext>
            </a:extLst>
          </p:cNvPr>
          <p:cNvSpPr/>
          <p:nvPr/>
        </p:nvSpPr>
        <p:spPr>
          <a:xfrm>
            <a:off x="9540240" y="3550920"/>
            <a:ext cx="196596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Categories 2, 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27" name="Rounded Rectangle 13926">
            <a:extLst>
              <a:ext uri="{FF2B5EF4-FFF2-40B4-BE49-F238E27FC236}">
                <a16:creationId xmlns:a16="http://schemas.microsoft.com/office/drawing/2014/main" id="{632CC314-7F3F-5529-E99F-7B539055FA6E}"/>
              </a:ext>
            </a:extLst>
          </p:cNvPr>
          <p:cNvSpPr/>
          <p:nvPr/>
        </p:nvSpPr>
        <p:spPr>
          <a:xfrm>
            <a:off x="457200" y="429768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61" name="Rectangle 13960">
            <a:extLst>
              <a:ext uri="{FF2B5EF4-FFF2-40B4-BE49-F238E27FC236}">
                <a16:creationId xmlns:a16="http://schemas.microsoft.com/office/drawing/2014/main" id="{8D55DF2D-8333-9662-4257-128665AFA6E8}"/>
              </a:ext>
            </a:extLst>
          </p:cNvPr>
          <p:cNvSpPr/>
          <p:nvPr/>
        </p:nvSpPr>
        <p:spPr>
          <a:xfrm>
            <a:off x="457200" y="4297680"/>
            <a:ext cx="45720" cy="74676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96" name="Rectangle 13995">
            <a:extLst>
              <a:ext uri="{FF2B5EF4-FFF2-40B4-BE49-F238E27FC236}">
                <a16:creationId xmlns:a16="http://schemas.microsoft.com/office/drawing/2014/main" id="{32A1F7F9-16B2-3369-E29E-3B58F59FAB80}"/>
              </a:ext>
            </a:extLst>
          </p:cNvPr>
          <p:cNvSpPr/>
          <p:nvPr/>
        </p:nvSpPr>
        <p:spPr>
          <a:xfrm>
            <a:off x="731520" y="4389120"/>
            <a:ext cx="2743200" cy="563880"/>
          </a:xfrm>
          <a:prstGeom prst="rect">
            <a:avLst/>
          </a:prstGeom>
          <a:solidFill>
            <a:srgbClr val="064DD5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 dirty="0">
                <a:solidFill>
                  <a:srgbClr val="064DD5"/>
                </a:solidFill>
                <a:effectLst/>
                <a:latin typeface="Trebuchet MS"/>
              </a:rPr>
              <a:t>SESSION 4  </a:t>
            </a:r>
            <a:endParaRPr lang="en-US" dirty="0">
              <a:solidFill>
                <a:srgbClr val="064DD5"/>
              </a:solidFill>
              <a:latin typeface="Trebuchet MS"/>
            </a:endParaRP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Trebuchet MS"/>
              </a:rPr>
              <a:t>Proof of Value Kit</a:t>
            </a:r>
            <a:endParaRPr lang="en-US" dirty="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4032" name="Rectangle 14031">
            <a:extLst>
              <a:ext uri="{FF2B5EF4-FFF2-40B4-BE49-F238E27FC236}">
                <a16:creationId xmlns:a16="http://schemas.microsoft.com/office/drawing/2014/main" id="{0721E4C6-C50A-AB1C-3B5F-DA0A29786929}"/>
              </a:ext>
            </a:extLst>
          </p:cNvPr>
          <p:cNvSpPr/>
          <p:nvPr/>
        </p:nvSpPr>
        <p:spPr>
          <a:xfrm>
            <a:off x="3886200" y="4389120"/>
            <a:ext cx="54254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What is in the kit, the four-step engagement, task ideation and three chargeback models.</a:t>
            </a:r>
            <a:endParaRPr lang="en-US"/>
          </a:p>
        </p:txBody>
      </p:sp>
      <p:sp>
        <p:nvSpPr>
          <p:cNvPr id="14069" name="Rectangle 14068">
            <a:extLst>
              <a:ext uri="{FF2B5EF4-FFF2-40B4-BE49-F238E27FC236}">
                <a16:creationId xmlns:a16="http://schemas.microsoft.com/office/drawing/2014/main" id="{F80090D3-AA3C-2819-8C51-3A1864B154D6}"/>
              </a:ext>
            </a:extLst>
          </p:cNvPr>
          <p:cNvSpPr/>
          <p:nvPr/>
        </p:nvSpPr>
        <p:spPr>
          <a:xfrm>
            <a:off x="9540240" y="4389120"/>
            <a:ext cx="196596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→ Categories 4, 5, 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107" name="Rounded Rectangle 14106">
            <a:extLst>
              <a:ext uri="{FF2B5EF4-FFF2-40B4-BE49-F238E27FC236}">
                <a16:creationId xmlns:a16="http://schemas.microsoft.com/office/drawing/2014/main" id="{89E7B44E-93DB-ED3C-9ECD-D1D8B6910710}"/>
              </a:ext>
            </a:extLst>
          </p:cNvPr>
          <p:cNvSpPr/>
          <p:nvPr/>
        </p:nvSpPr>
        <p:spPr>
          <a:xfrm>
            <a:off x="457200" y="513588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6" name="Rectangle 14145">
            <a:extLst>
              <a:ext uri="{FF2B5EF4-FFF2-40B4-BE49-F238E27FC236}">
                <a16:creationId xmlns:a16="http://schemas.microsoft.com/office/drawing/2014/main" id="{AD79B195-E500-DA1F-7B16-0232EDADFAE1}"/>
              </a:ext>
            </a:extLst>
          </p:cNvPr>
          <p:cNvSpPr/>
          <p:nvPr/>
        </p:nvSpPr>
        <p:spPr>
          <a:xfrm>
            <a:off x="457200" y="5135880"/>
            <a:ext cx="45720" cy="746760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86" name="Rectangle 14185">
            <a:extLst>
              <a:ext uri="{FF2B5EF4-FFF2-40B4-BE49-F238E27FC236}">
                <a16:creationId xmlns:a16="http://schemas.microsoft.com/office/drawing/2014/main" id="{DCA99B17-C3FF-E576-0FF5-3B7527767E68}"/>
              </a:ext>
            </a:extLst>
          </p:cNvPr>
          <p:cNvSpPr/>
          <p:nvPr/>
        </p:nvSpPr>
        <p:spPr>
          <a:xfrm>
            <a:off x="731520" y="5227320"/>
            <a:ext cx="27432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400" b="1" dirty="0">
                <a:solidFill>
                  <a:srgbClr val="064DD5"/>
                </a:solidFill>
                <a:effectLst/>
                <a:latin typeface="Trebuchet MS"/>
              </a:rPr>
              <a:t>SESSION 5  </a:t>
            </a:r>
            <a:endParaRPr lang="en-US" dirty="0">
              <a:solidFill>
                <a:srgbClr val="064DD5"/>
              </a:solidFill>
              <a:effectLst/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 sz="1400" b="1" dirty="0">
                <a:solidFill>
                  <a:schemeClr val="tx1"/>
                </a:solidFill>
                <a:effectLst/>
                <a:latin typeface="Trebuchet MS"/>
              </a:rPr>
              <a:t>Offer building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27" name="Rectangle 14226">
            <a:extLst>
              <a:ext uri="{FF2B5EF4-FFF2-40B4-BE49-F238E27FC236}">
                <a16:creationId xmlns:a16="http://schemas.microsoft.com/office/drawing/2014/main" id="{709A3872-4AE4-08C1-98BD-E5ED0203A2A2}"/>
              </a:ext>
            </a:extLst>
          </p:cNvPr>
          <p:cNvSpPr/>
          <p:nvPr/>
        </p:nvSpPr>
        <p:spPr>
          <a:xfrm>
            <a:off x="3886200" y="5227320"/>
            <a:ext cx="542544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Anatomy of a strong offer, the three partner offer templates and the practice-build chapters.</a:t>
            </a:r>
            <a:endParaRPr lang="en-US"/>
          </a:p>
        </p:txBody>
      </p:sp>
      <p:sp>
        <p:nvSpPr>
          <p:cNvPr id="14269" name="Rectangle 14268">
            <a:extLst>
              <a:ext uri="{FF2B5EF4-FFF2-40B4-BE49-F238E27FC236}">
                <a16:creationId xmlns:a16="http://schemas.microsoft.com/office/drawing/2014/main" id="{FD1DEC6B-257D-3C1F-2694-F49828B39F4A}"/>
              </a:ext>
            </a:extLst>
          </p:cNvPr>
          <p:cNvSpPr/>
          <p:nvPr/>
        </p:nvSpPr>
        <p:spPr>
          <a:xfrm>
            <a:off x="9540240" y="5227320"/>
            <a:ext cx="196596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→ Slides 16, 17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C491BB-0059-A2B8-EE2A-8CD33A8DBB62}"/>
              </a:ext>
            </a:extLst>
          </p:cNvPr>
          <p:cNvSpPr/>
          <p:nvPr/>
        </p:nvSpPr>
        <p:spPr>
          <a:xfrm>
            <a:off x="478076" y="6119903"/>
            <a:ext cx="11256724" cy="563463"/>
          </a:xfrm>
          <a:prstGeom prst="rect">
            <a:avLst/>
          </a:prstGeom>
          <a:solidFill>
            <a:srgbClr val="0097F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 ALL SESSIONS HERE</a:t>
            </a:r>
            <a:r>
              <a:rPr lang="en-US" b="1"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 </a:t>
            </a:r>
            <a:endParaRPr lang="en-US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25509-7B8E-D418-EB34-9835259B1056}"/>
              </a:ext>
            </a:extLst>
          </p:cNvPr>
          <p:cNvSpPr txBox="1"/>
          <p:nvPr/>
        </p:nvSpPr>
        <p:spPr>
          <a:xfrm>
            <a:off x="365343" y="182671"/>
            <a:ext cx="1128386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064DD5"/>
                </a:solidFill>
                <a:latin typeface="Trebuchet MS" panose="020B0703020202090204" pitchFamily="34" charset="0"/>
                <a:cs typeface="Segoe Sans Text Semibold" pitchFamily="2" charset="0"/>
              </a:rPr>
              <a:t>The </a:t>
            </a:r>
            <a:r>
              <a:rPr lang="en-US" sz="2400" b="1" dirty="0" err="1">
                <a:solidFill>
                  <a:srgbClr val="064DD5"/>
                </a:solidFill>
                <a:latin typeface="Trebuchet MS" panose="020B0703020202090204" pitchFamily="34" charset="0"/>
                <a:cs typeface="Segoe Sans Text Semibold" pitchFamily="2" charset="0"/>
              </a:rPr>
              <a:t>Cowork</a:t>
            </a:r>
            <a:r>
              <a:rPr lang="en-US" sz="2400" b="1" dirty="0">
                <a:solidFill>
                  <a:srgbClr val="064DD5"/>
                </a:solidFill>
                <a:latin typeface="Trebuchet MS" panose="020B0703020202090204" pitchFamily="34" charset="0"/>
                <a:cs typeface="Segoe Sans Text Semibold" pitchFamily="2" charset="0"/>
              </a:rPr>
              <a:t> Micro-Learning Series</a:t>
            </a:r>
            <a:r>
              <a:rPr lang="en-US" sz="2400" dirty="0">
                <a:solidFill>
                  <a:srgbClr val="064DD5"/>
                </a:solidFill>
              </a:rPr>
              <a:t> </a:t>
            </a:r>
            <a:r>
              <a:rPr lang="en-US" sz="2400" b="1" i="0" u="none" strike="noStrike" baseline="0" dirty="0">
                <a:solidFill>
                  <a:srgbClr val="1F497D"/>
                </a:solidFill>
                <a:latin typeface="Trebuchet MS"/>
                <a:ea typeface="Segoe UI"/>
                <a:cs typeface="Segoe UI"/>
              </a:rPr>
              <a:t>is the five-week crash course. Each session maps to a capability category in this deck.</a:t>
            </a:r>
            <a:r>
              <a:rPr sz="2400" b="0" i="0" dirty="0">
                <a:solidFill>
                  <a:srgbClr val="000000"/>
                </a:solidFill>
                <a:latin typeface="Trebuchet MS"/>
                <a:ea typeface="Trebuchet MS"/>
                <a:cs typeface="Trebuchet MS"/>
              </a:rPr>
              <a:t>​</a:t>
            </a:r>
            <a:endParaRPr lang="en-GB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411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2" name="Rectangle 14311">
            <a:extLst>
              <a:ext uri="{FF2B5EF4-FFF2-40B4-BE49-F238E27FC236}">
                <a16:creationId xmlns:a16="http://schemas.microsoft.com/office/drawing/2014/main" id="{831909B0-A701-D0F7-CEBC-03E905FA896F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Seven parts make up the Cowork Proof of Value Kit.</a:t>
            </a:r>
            <a:endParaRPr lang="en-US"/>
          </a:p>
        </p:txBody>
      </p:sp>
      <p:sp>
        <p:nvSpPr>
          <p:cNvPr id="14356" name="Rectangle 14355">
            <a:extLst>
              <a:ext uri="{FF2B5EF4-FFF2-40B4-BE49-F238E27FC236}">
                <a16:creationId xmlns:a16="http://schemas.microsoft.com/office/drawing/2014/main" id="{AD0B9912-585C-997A-54D3-1110F859886D}"/>
              </a:ext>
            </a:extLst>
          </p:cNvPr>
          <p:cNvSpPr/>
          <p:nvPr/>
        </p:nvSpPr>
        <p:spPr>
          <a:xfrm>
            <a:off x="457200" y="112776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One download at </a:t>
            </a:r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r>
              <a:rPr lang="en-US" sz="16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. Here is what each part is for.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7F85A065-B350-0B1E-6BFC-518C0B36DEB8}"/>
              </a:ext>
            </a:extLst>
          </p:cNvPr>
          <p:cNvSpPr/>
          <p:nvPr/>
        </p:nvSpPr>
        <p:spPr>
          <a:xfrm>
            <a:off x="457200" y="178308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7" name="Rectangle 14446">
            <a:extLst>
              <a:ext uri="{FF2B5EF4-FFF2-40B4-BE49-F238E27FC236}">
                <a16:creationId xmlns:a16="http://schemas.microsoft.com/office/drawing/2014/main" id="{E73F8018-7A0D-8EFE-AFAC-AD572ED3FDD3}"/>
              </a:ext>
            </a:extLst>
          </p:cNvPr>
          <p:cNvSpPr/>
          <p:nvPr/>
        </p:nvSpPr>
        <p:spPr>
          <a:xfrm>
            <a:off x="457200" y="178308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94" name="Rectangle 14493">
            <a:extLst>
              <a:ext uri="{FF2B5EF4-FFF2-40B4-BE49-F238E27FC236}">
                <a16:creationId xmlns:a16="http://schemas.microsoft.com/office/drawing/2014/main" id="{23170797-9B5E-9085-6DD3-F53BDB837789}"/>
              </a:ext>
            </a:extLst>
          </p:cNvPr>
          <p:cNvSpPr/>
          <p:nvPr/>
        </p:nvSpPr>
        <p:spPr>
          <a:xfrm>
            <a:off x="662940" y="198882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Engagement Delivery Guide</a:t>
            </a:r>
            <a:endParaRPr lang="en-US"/>
          </a:p>
        </p:txBody>
      </p:sp>
      <p:sp>
        <p:nvSpPr>
          <p:cNvPr id="14542" name="Rectangle 14541">
            <a:extLst>
              <a:ext uri="{FF2B5EF4-FFF2-40B4-BE49-F238E27FC236}">
                <a16:creationId xmlns:a16="http://schemas.microsoft.com/office/drawing/2014/main" id="{F76C39DC-BA03-CA30-71A1-9F92EB3E83E2}"/>
              </a:ext>
            </a:extLst>
          </p:cNvPr>
          <p:cNvSpPr/>
          <p:nvPr/>
        </p:nvSpPr>
        <p:spPr>
          <a:xfrm>
            <a:off x="662940" y="262890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How to run the four-step, </a:t>
            </a:r>
            <a:r>
              <a:rPr lang="en-US" sz="14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six-week engagement.</a:t>
            </a: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(See next slide)</a:t>
            </a:r>
            <a:endParaRPr lang="en-US"/>
          </a:p>
        </p:txBody>
      </p:sp>
      <p:sp>
        <p:nvSpPr>
          <p:cNvPr id="14591" name="Rectangle 14590">
            <a:extLst>
              <a:ext uri="{FF2B5EF4-FFF2-40B4-BE49-F238E27FC236}">
                <a16:creationId xmlns:a16="http://schemas.microsoft.com/office/drawing/2014/main" id="{1CE253D6-E531-63DD-B3EC-ECC35B303CBA}"/>
              </a:ext>
            </a:extLst>
          </p:cNvPr>
          <p:cNvSpPr/>
          <p:nvPr/>
        </p:nvSpPr>
        <p:spPr>
          <a:xfrm>
            <a:off x="3333750" y="178308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41" name="Rectangle 14640">
            <a:extLst>
              <a:ext uri="{FF2B5EF4-FFF2-40B4-BE49-F238E27FC236}">
                <a16:creationId xmlns:a16="http://schemas.microsoft.com/office/drawing/2014/main" id="{EADFA730-836C-951F-A2F1-33C9EC092702}"/>
              </a:ext>
            </a:extLst>
          </p:cNvPr>
          <p:cNvSpPr/>
          <p:nvPr/>
        </p:nvSpPr>
        <p:spPr>
          <a:xfrm>
            <a:off x="3333750" y="178308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92" name="Rectangle 14691">
            <a:extLst>
              <a:ext uri="{FF2B5EF4-FFF2-40B4-BE49-F238E27FC236}">
                <a16:creationId xmlns:a16="http://schemas.microsoft.com/office/drawing/2014/main" id="{16300A95-000A-DB93-0ADE-EDD409565787}"/>
              </a:ext>
            </a:extLst>
          </p:cNvPr>
          <p:cNvSpPr/>
          <p:nvPr/>
        </p:nvSpPr>
        <p:spPr>
          <a:xfrm>
            <a:off x="3539490" y="198882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Copilot Cowork Pitch Deck</a:t>
            </a:r>
            <a:endParaRPr lang="en-US"/>
          </a:p>
        </p:txBody>
      </p:sp>
      <p:sp>
        <p:nvSpPr>
          <p:cNvPr id="14744" name="Rectangle 14743">
            <a:extLst>
              <a:ext uri="{FF2B5EF4-FFF2-40B4-BE49-F238E27FC236}">
                <a16:creationId xmlns:a16="http://schemas.microsoft.com/office/drawing/2014/main" id="{1101E875-39AD-019C-1B4C-14B89D9961FA}"/>
              </a:ext>
            </a:extLst>
          </p:cNvPr>
          <p:cNvSpPr/>
          <p:nvPr/>
        </p:nvSpPr>
        <p:spPr>
          <a:xfrm>
            <a:off x="3539490" y="262890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customer-facing envisioning and demo story.</a:t>
            </a:r>
            <a:endParaRPr lang="en-US"/>
          </a:p>
        </p:txBody>
      </p:sp>
      <p:sp>
        <p:nvSpPr>
          <p:cNvPr id="14797" name="Rectangle 14796">
            <a:extLst>
              <a:ext uri="{FF2B5EF4-FFF2-40B4-BE49-F238E27FC236}">
                <a16:creationId xmlns:a16="http://schemas.microsoft.com/office/drawing/2014/main" id="{ADBF6912-A409-E06B-A56E-59AA26CFB257}"/>
              </a:ext>
            </a:extLst>
          </p:cNvPr>
          <p:cNvSpPr/>
          <p:nvPr/>
        </p:nvSpPr>
        <p:spPr>
          <a:xfrm>
            <a:off x="6210300" y="178308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51" name="Rectangle 14850">
            <a:extLst>
              <a:ext uri="{FF2B5EF4-FFF2-40B4-BE49-F238E27FC236}">
                <a16:creationId xmlns:a16="http://schemas.microsoft.com/office/drawing/2014/main" id="{64E5A353-218B-6F53-4D62-75158CAC35E5}"/>
              </a:ext>
            </a:extLst>
          </p:cNvPr>
          <p:cNvSpPr/>
          <p:nvPr/>
        </p:nvSpPr>
        <p:spPr>
          <a:xfrm>
            <a:off x="6210300" y="178308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06" name="Rectangle 14905">
            <a:extLst>
              <a:ext uri="{FF2B5EF4-FFF2-40B4-BE49-F238E27FC236}">
                <a16:creationId xmlns:a16="http://schemas.microsoft.com/office/drawing/2014/main" id="{BC573BAA-BA92-F2AD-B991-8F2FA8486846}"/>
              </a:ext>
            </a:extLst>
          </p:cNvPr>
          <p:cNvSpPr/>
          <p:nvPr/>
        </p:nvSpPr>
        <p:spPr>
          <a:xfrm>
            <a:off x="6416040" y="198882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Cost Management L200</a:t>
            </a:r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565C335B-18DA-3CB2-97B3-DABFD3ABC090}"/>
              </a:ext>
            </a:extLst>
          </p:cNvPr>
          <p:cNvSpPr/>
          <p:nvPr/>
        </p:nvSpPr>
        <p:spPr>
          <a:xfrm>
            <a:off x="6416040" y="262890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Admin walkthrough: policies, limits, alerts.</a:t>
            </a:r>
            <a:endParaRPr lang="en-US"/>
          </a:p>
        </p:txBody>
      </p:sp>
      <p:sp>
        <p:nvSpPr>
          <p:cNvPr id="15019" name="Rectangle 15018">
            <a:extLst>
              <a:ext uri="{FF2B5EF4-FFF2-40B4-BE49-F238E27FC236}">
                <a16:creationId xmlns:a16="http://schemas.microsoft.com/office/drawing/2014/main" id="{D61D39AB-CCA0-292B-5724-8FF5C57D5C7A}"/>
              </a:ext>
            </a:extLst>
          </p:cNvPr>
          <p:cNvSpPr/>
          <p:nvPr/>
        </p:nvSpPr>
        <p:spPr>
          <a:xfrm>
            <a:off x="9086850" y="178308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7" name="Rectangle 15076">
            <a:extLst>
              <a:ext uri="{FF2B5EF4-FFF2-40B4-BE49-F238E27FC236}">
                <a16:creationId xmlns:a16="http://schemas.microsoft.com/office/drawing/2014/main" id="{127DFAE4-1888-89A0-AB13-C7CE61B1AF59}"/>
              </a:ext>
            </a:extLst>
          </p:cNvPr>
          <p:cNvSpPr/>
          <p:nvPr/>
        </p:nvSpPr>
        <p:spPr>
          <a:xfrm>
            <a:off x="9086850" y="178308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36" name="Rectangle 15135">
            <a:extLst>
              <a:ext uri="{FF2B5EF4-FFF2-40B4-BE49-F238E27FC236}">
                <a16:creationId xmlns:a16="http://schemas.microsoft.com/office/drawing/2014/main" id="{5DE7B093-76DB-93C7-08B1-DF7892B1B91B}"/>
              </a:ext>
            </a:extLst>
          </p:cNvPr>
          <p:cNvSpPr/>
          <p:nvPr/>
        </p:nvSpPr>
        <p:spPr>
          <a:xfrm>
            <a:off x="9292590" y="198882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Task Ideation Exercise</a:t>
            </a:r>
            <a:endParaRPr lang="en-US"/>
          </a:p>
        </p:txBody>
      </p:sp>
      <p:sp>
        <p:nvSpPr>
          <p:cNvPr id="15196" name="Rectangle 15195">
            <a:extLst>
              <a:ext uri="{FF2B5EF4-FFF2-40B4-BE49-F238E27FC236}">
                <a16:creationId xmlns:a16="http://schemas.microsoft.com/office/drawing/2014/main" id="{6D9ED559-6005-692C-BC7A-178E39EB5BB4}"/>
              </a:ext>
            </a:extLst>
          </p:cNvPr>
          <p:cNvSpPr/>
          <p:nvPr/>
        </p:nvSpPr>
        <p:spPr>
          <a:xfrm>
            <a:off x="9292590" y="262890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Four exercises from pain points to a costed plan.</a:t>
            </a:r>
            <a:endParaRPr lang="en-US"/>
          </a:p>
        </p:txBody>
      </p:sp>
      <p:sp>
        <p:nvSpPr>
          <p:cNvPr id="15257" name="Rectangle 15256">
            <a:extLst>
              <a:ext uri="{FF2B5EF4-FFF2-40B4-BE49-F238E27FC236}">
                <a16:creationId xmlns:a16="http://schemas.microsoft.com/office/drawing/2014/main" id="{2D366F3E-B33D-14DA-5E10-6A927041085B}"/>
              </a:ext>
            </a:extLst>
          </p:cNvPr>
          <p:cNvSpPr/>
          <p:nvPr/>
        </p:nvSpPr>
        <p:spPr>
          <a:xfrm>
            <a:off x="457200" y="374904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9" name="Rectangle 15318">
            <a:extLst>
              <a:ext uri="{FF2B5EF4-FFF2-40B4-BE49-F238E27FC236}">
                <a16:creationId xmlns:a16="http://schemas.microsoft.com/office/drawing/2014/main" id="{9366CD7C-3C6E-5A2D-D187-DD5E980627B7}"/>
              </a:ext>
            </a:extLst>
          </p:cNvPr>
          <p:cNvSpPr/>
          <p:nvPr/>
        </p:nvSpPr>
        <p:spPr>
          <a:xfrm>
            <a:off x="457200" y="374904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2" name="Rectangle 15381">
            <a:extLst>
              <a:ext uri="{FF2B5EF4-FFF2-40B4-BE49-F238E27FC236}">
                <a16:creationId xmlns:a16="http://schemas.microsoft.com/office/drawing/2014/main" id="{0D15AE0B-F2F4-4A04-5202-5F3065C894D8}"/>
              </a:ext>
            </a:extLst>
          </p:cNvPr>
          <p:cNvSpPr/>
          <p:nvPr/>
        </p:nvSpPr>
        <p:spPr>
          <a:xfrm>
            <a:off x="662940" y="395478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Business Outcomes Workbook</a:t>
            </a:r>
            <a:endParaRPr lang="en-US"/>
          </a:p>
        </p:txBody>
      </p:sp>
      <p:sp>
        <p:nvSpPr>
          <p:cNvPr id="15446" name="Rectangle 15445">
            <a:extLst>
              <a:ext uri="{FF2B5EF4-FFF2-40B4-BE49-F238E27FC236}">
                <a16:creationId xmlns:a16="http://schemas.microsoft.com/office/drawing/2014/main" id="{A7EF3213-A734-86BD-1680-FAA205CF2A43}"/>
              </a:ext>
            </a:extLst>
          </p:cNvPr>
          <p:cNvSpPr/>
          <p:nvPr/>
        </p:nvSpPr>
        <p:spPr>
          <a:xfrm>
            <a:off x="662940" y="459486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ROI calculator by function; hours, value, credits.</a:t>
            </a:r>
            <a:endParaRPr lang="en-US"/>
          </a:p>
        </p:txBody>
      </p:sp>
      <p:sp>
        <p:nvSpPr>
          <p:cNvPr id="15511" name="Rectangle 15510">
            <a:extLst>
              <a:ext uri="{FF2B5EF4-FFF2-40B4-BE49-F238E27FC236}">
                <a16:creationId xmlns:a16="http://schemas.microsoft.com/office/drawing/2014/main" id="{5D2FF44D-350A-178E-A751-AA7A5D27C886}"/>
              </a:ext>
            </a:extLst>
          </p:cNvPr>
          <p:cNvSpPr/>
          <p:nvPr/>
        </p:nvSpPr>
        <p:spPr>
          <a:xfrm>
            <a:off x="3333750" y="374904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77" name="Rectangle 15576">
            <a:extLst>
              <a:ext uri="{FF2B5EF4-FFF2-40B4-BE49-F238E27FC236}">
                <a16:creationId xmlns:a16="http://schemas.microsoft.com/office/drawing/2014/main" id="{1D0177D6-1635-E53C-236D-F1A158047B10}"/>
              </a:ext>
            </a:extLst>
          </p:cNvPr>
          <p:cNvSpPr/>
          <p:nvPr/>
        </p:nvSpPr>
        <p:spPr>
          <a:xfrm>
            <a:off x="3333750" y="374904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44" name="Rectangle 15643">
            <a:extLst>
              <a:ext uri="{FF2B5EF4-FFF2-40B4-BE49-F238E27FC236}">
                <a16:creationId xmlns:a16="http://schemas.microsoft.com/office/drawing/2014/main" id="{4D8490C9-75A9-7304-A732-7622A109BE97}"/>
              </a:ext>
            </a:extLst>
          </p:cNvPr>
          <p:cNvSpPr/>
          <p:nvPr/>
        </p:nvSpPr>
        <p:spPr>
          <a:xfrm>
            <a:off x="3539490" y="3954780"/>
            <a:ext cx="223647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Task Packs</a:t>
            </a:r>
            <a:endParaRPr lang="en-US"/>
          </a:p>
        </p:txBody>
      </p:sp>
      <p:sp>
        <p:nvSpPr>
          <p:cNvPr id="15712" name="Rectangle 15711">
            <a:extLst>
              <a:ext uri="{FF2B5EF4-FFF2-40B4-BE49-F238E27FC236}">
                <a16:creationId xmlns:a16="http://schemas.microsoft.com/office/drawing/2014/main" id="{35B1B5CF-CE87-8EB4-C488-4D60BF51829E}"/>
              </a:ext>
            </a:extLst>
          </p:cNvPr>
          <p:cNvSpPr/>
          <p:nvPr/>
        </p:nvSpPr>
        <p:spPr>
          <a:xfrm>
            <a:off x="3539490" y="459486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Prompts: 20 all-function, 19 sales, 18 marketing.</a:t>
            </a:r>
            <a:endParaRPr lang="en-US"/>
          </a:p>
        </p:txBody>
      </p:sp>
      <p:sp>
        <p:nvSpPr>
          <p:cNvPr id="15781" name="Rectangle 15780">
            <a:extLst>
              <a:ext uri="{FF2B5EF4-FFF2-40B4-BE49-F238E27FC236}">
                <a16:creationId xmlns:a16="http://schemas.microsoft.com/office/drawing/2014/main" id="{4821B051-336B-D5E3-23BD-822719892C52}"/>
              </a:ext>
            </a:extLst>
          </p:cNvPr>
          <p:cNvSpPr/>
          <p:nvPr/>
        </p:nvSpPr>
        <p:spPr>
          <a:xfrm>
            <a:off x="6210300" y="3749040"/>
            <a:ext cx="2647950" cy="17602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51" name="Rectangle 15850">
            <a:extLst>
              <a:ext uri="{FF2B5EF4-FFF2-40B4-BE49-F238E27FC236}">
                <a16:creationId xmlns:a16="http://schemas.microsoft.com/office/drawing/2014/main" id="{585E7E02-AD89-FC86-57CD-E4F713371ED9}"/>
              </a:ext>
            </a:extLst>
          </p:cNvPr>
          <p:cNvSpPr/>
          <p:nvPr/>
        </p:nvSpPr>
        <p:spPr>
          <a:xfrm>
            <a:off x="6210300" y="374904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22" name="Rectangle 15921">
            <a:extLst>
              <a:ext uri="{FF2B5EF4-FFF2-40B4-BE49-F238E27FC236}">
                <a16:creationId xmlns:a16="http://schemas.microsoft.com/office/drawing/2014/main" id="{162088B7-AD88-C436-C8EE-B345165A9827}"/>
              </a:ext>
            </a:extLst>
          </p:cNvPr>
          <p:cNvSpPr/>
          <p:nvPr/>
        </p:nvSpPr>
        <p:spPr>
          <a:xfrm>
            <a:off x="6416040" y="395478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Nifty Fifty Scenarios</a:t>
            </a:r>
            <a:endParaRPr lang="en-US"/>
          </a:p>
        </p:txBody>
      </p:sp>
      <p:sp>
        <p:nvSpPr>
          <p:cNvPr id="15994" name="Rectangle 15993">
            <a:extLst>
              <a:ext uri="{FF2B5EF4-FFF2-40B4-BE49-F238E27FC236}">
                <a16:creationId xmlns:a16="http://schemas.microsoft.com/office/drawing/2014/main" id="{39066247-BF5F-35CA-728C-717665FC4E66}"/>
              </a:ext>
            </a:extLst>
          </p:cNvPr>
          <p:cNvSpPr/>
          <p:nvPr/>
        </p:nvSpPr>
        <p:spPr>
          <a:xfrm>
            <a:off x="6416040" y="459486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Top ten scenarios across five key functions.</a:t>
            </a:r>
            <a:endParaRPr lang="en-US"/>
          </a:p>
        </p:txBody>
      </p:sp>
      <p:sp>
        <p:nvSpPr>
          <p:cNvPr id="16067" name="Rectangle 16066">
            <a:extLst>
              <a:ext uri="{FF2B5EF4-FFF2-40B4-BE49-F238E27FC236}">
                <a16:creationId xmlns:a16="http://schemas.microsoft.com/office/drawing/2014/main" id="{F5173AC7-924B-5A0D-C2FE-0F983AB39D6B}"/>
              </a:ext>
            </a:extLst>
          </p:cNvPr>
          <p:cNvSpPr/>
          <p:nvPr/>
        </p:nvSpPr>
        <p:spPr>
          <a:xfrm>
            <a:off x="9086850" y="3779520"/>
            <a:ext cx="2647950" cy="1729740"/>
          </a:xfrm>
          <a:prstGeom prst="rect">
            <a:avLst/>
          </a:prstGeom>
          <a:solidFill>
            <a:srgbClr val="CB85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5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GET THE KIT</a:t>
            </a:r>
          </a:p>
          <a:p>
            <a:pPr>
              <a:buNone/>
            </a:pPr>
            <a:endParaRPr lang="en-US" sz="1500" b="1" dirty="0">
              <a:solidFill>
                <a:srgbClr val="FFFFFF"/>
              </a:solidFill>
              <a:effectLst/>
              <a:latin typeface="Trebuchet MS" panose="020B0603020202020204" pitchFamily="34" charset="0"/>
            </a:endParaRPr>
          </a:p>
          <a:p>
            <a:r>
              <a:rPr lang="en-US" sz="1500" b="1" dirty="0">
                <a:solidFill>
                  <a:srgbClr val="FFFFFF"/>
                </a:solidFill>
                <a:latin typeface="Trebuchet MS"/>
                <a:hlinkClick r:id="rId3"/>
              </a:rPr>
              <a:t>aka.ms/coworkPartnerKit</a:t>
            </a:r>
            <a:endParaRPr lang="en-US" sz="1500" b="1" dirty="0">
              <a:solidFill>
                <a:srgbClr val="FFFFFF"/>
              </a:solidFill>
              <a:latin typeface="Trebuchet MS"/>
            </a:endParaRPr>
          </a:p>
          <a:p>
            <a:endParaRPr lang="en-US" sz="1500" b="1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35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1" name="Rectangle 34320">
            <a:extLst>
              <a:ext uri="{FF2B5EF4-FFF2-40B4-BE49-F238E27FC236}">
                <a16:creationId xmlns:a16="http://schemas.microsoft.com/office/drawing/2014/main" id="{BE49A2E8-699D-1C01-B5AE-220BF9036DC2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/>
              </a:rPr>
              <a:t>A Cowork engagement runs in four steps over six weeks.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4323" name="Rectangle 34322">
            <a:extLst>
              <a:ext uri="{FF2B5EF4-FFF2-40B4-BE49-F238E27FC236}">
                <a16:creationId xmlns:a16="http://schemas.microsoft.com/office/drawing/2014/main" id="{D071E995-3A16-2D8F-6668-BFFB653483A0}"/>
              </a:ext>
            </a:extLst>
          </p:cNvPr>
          <p:cNvSpPr/>
          <p:nvPr/>
        </p:nvSpPr>
        <p:spPr>
          <a:xfrm>
            <a:off x="196241" y="1138198"/>
            <a:ext cx="11809956" cy="614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Each</a:t>
            </a:r>
            <a:r>
              <a:rPr lang="en-US" sz="16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 step draws on a different group of capability categories.</a:t>
            </a:r>
            <a:r>
              <a:rPr lang="en-US" sz="16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See  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r>
              <a:rPr lang="en-US" sz="16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"Copilot Cowork Engagement Delivery Guide".</a:t>
            </a:r>
          </a:p>
          <a:p>
            <a:pPr algn="ctr"/>
            <a:endParaRPr lang="en-US" sz="1600" dirty="0">
              <a:solidFill>
                <a:srgbClr val="44546A"/>
              </a:solidFill>
              <a:ea typeface="Calibri"/>
              <a:cs typeface="Calibri"/>
            </a:endParaRPr>
          </a:p>
        </p:txBody>
      </p:sp>
      <p:sp>
        <p:nvSpPr>
          <p:cNvPr id="34326" name="Rectangle 34325">
            <a:extLst>
              <a:ext uri="{FF2B5EF4-FFF2-40B4-BE49-F238E27FC236}">
                <a16:creationId xmlns:a16="http://schemas.microsoft.com/office/drawing/2014/main" id="{D4B95129-D180-46B0-FED6-3E4E32424649}"/>
              </a:ext>
            </a:extLst>
          </p:cNvPr>
          <p:cNvSpPr/>
          <p:nvPr/>
        </p:nvSpPr>
        <p:spPr>
          <a:xfrm>
            <a:off x="457200" y="2026920"/>
            <a:ext cx="2562225" cy="28117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30" name="Rectangle 34329">
            <a:extLst>
              <a:ext uri="{FF2B5EF4-FFF2-40B4-BE49-F238E27FC236}">
                <a16:creationId xmlns:a16="http://schemas.microsoft.com/office/drawing/2014/main" id="{031CBE33-610F-4F71-E02C-61598EFDA24B}"/>
              </a:ext>
            </a:extLst>
          </p:cNvPr>
          <p:cNvSpPr/>
          <p:nvPr/>
        </p:nvSpPr>
        <p:spPr>
          <a:xfrm>
            <a:off x="457200" y="2026920"/>
            <a:ext cx="2562225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35" name="Rectangle 34334">
            <a:extLst>
              <a:ext uri="{FF2B5EF4-FFF2-40B4-BE49-F238E27FC236}">
                <a16:creationId xmlns:a16="http://schemas.microsoft.com/office/drawing/2014/main" id="{EE2A1696-34F5-CF64-A670-A59C1F0178E1}"/>
              </a:ext>
            </a:extLst>
          </p:cNvPr>
          <p:cNvSpPr/>
          <p:nvPr/>
        </p:nvSpPr>
        <p:spPr>
          <a:xfrm>
            <a:off x="594360" y="2164080"/>
            <a:ext cx="2287905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STEP 1  ·  WEEK 0–1</a:t>
            </a:r>
          </a:p>
          <a:p>
            <a:r>
              <a:rPr lang="en-US" sz="1500" b="1" dirty="0">
                <a:solidFill>
                  <a:srgbClr val="5B2590"/>
                </a:solidFill>
                <a:latin typeface="Trebuchet MS" panose="020B0603020202020204" pitchFamily="34" charset="0"/>
              </a:rPr>
              <a:t>ASSESS</a:t>
            </a:r>
            <a:endParaRPr lang="en-US" sz="1600" dirty="0"/>
          </a:p>
        </p:txBody>
      </p:sp>
      <p:sp>
        <p:nvSpPr>
          <p:cNvPr id="34341" name="Rectangle 34340">
            <a:extLst>
              <a:ext uri="{FF2B5EF4-FFF2-40B4-BE49-F238E27FC236}">
                <a16:creationId xmlns:a16="http://schemas.microsoft.com/office/drawing/2014/main" id="{B961D112-0630-A5DE-0FB4-E4309AEE8D33}"/>
              </a:ext>
            </a:extLst>
          </p:cNvPr>
          <p:cNvSpPr/>
          <p:nvPr/>
        </p:nvSpPr>
        <p:spPr>
          <a:xfrm>
            <a:off x="594360" y="3055620"/>
            <a:ext cx="2287905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Agree objectives, cohorts, success metrics and the credit budget before any task runs.</a:t>
            </a:r>
            <a:endParaRPr lang="en-US"/>
          </a:p>
        </p:txBody>
      </p:sp>
      <p:sp>
        <p:nvSpPr>
          <p:cNvPr id="34348" name="Rectangle 34347">
            <a:extLst>
              <a:ext uri="{FF2B5EF4-FFF2-40B4-BE49-F238E27FC236}">
                <a16:creationId xmlns:a16="http://schemas.microsoft.com/office/drawing/2014/main" id="{F12DBE59-AE8B-C237-EE24-7CA1F2CBB0E7}"/>
              </a:ext>
            </a:extLst>
          </p:cNvPr>
          <p:cNvSpPr/>
          <p:nvPr/>
        </p:nvSpPr>
        <p:spPr>
          <a:xfrm>
            <a:off x="594360" y="4351020"/>
            <a:ext cx="2287905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1, 2, 4</a:t>
            </a:r>
            <a:endParaRPr lang="en-US"/>
          </a:p>
        </p:txBody>
      </p:sp>
      <p:sp>
        <p:nvSpPr>
          <p:cNvPr id="34356" name="Arrow: Right 34355">
            <a:extLst>
              <a:ext uri="{FF2B5EF4-FFF2-40B4-BE49-F238E27FC236}">
                <a16:creationId xmlns:a16="http://schemas.microsoft.com/office/drawing/2014/main" id="{8CA95C25-FAF3-F4C0-6E37-65587A6D929B}"/>
              </a:ext>
            </a:extLst>
          </p:cNvPr>
          <p:cNvSpPr/>
          <p:nvPr/>
        </p:nvSpPr>
        <p:spPr>
          <a:xfrm>
            <a:off x="3088005" y="3364230"/>
            <a:ext cx="205740" cy="137160"/>
          </a:xfrm>
          <a:prstGeom prst="rightArrow">
            <a:avLst/>
          </a:prstGeom>
          <a:solidFill>
            <a:srgbClr val="0E2A5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65" name="Rectangle 34364">
            <a:extLst>
              <a:ext uri="{FF2B5EF4-FFF2-40B4-BE49-F238E27FC236}">
                <a16:creationId xmlns:a16="http://schemas.microsoft.com/office/drawing/2014/main" id="{79D483CE-C2F7-6FD0-2D4C-8C13AE88B16A}"/>
              </a:ext>
            </a:extLst>
          </p:cNvPr>
          <p:cNvSpPr/>
          <p:nvPr/>
        </p:nvSpPr>
        <p:spPr>
          <a:xfrm>
            <a:off x="3362325" y="2026920"/>
            <a:ext cx="2562225" cy="28117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75" name="Rectangle 34374">
            <a:extLst>
              <a:ext uri="{FF2B5EF4-FFF2-40B4-BE49-F238E27FC236}">
                <a16:creationId xmlns:a16="http://schemas.microsoft.com/office/drawing/2014/main" id="{8A8ED6AD-B9FB-4052-8524-84CF4F9CE88D}"/>
              </a:ext>
            </a:extLst>
          </p:cNvPr>
          <p:cNvSpPr/>
          <p:nvPr/>
        </p:nvSpPr>
        <p:spPr>
          <a:xfrm>
            <a:off x="3362325" y="2026920"/>
            <a:ext cx="2562225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86" name="Rectangle 34385">
            <a:extLst>
              <a:ext uri="{FF2B5EF4-FFF2-40B4-BE49-F238E27FC236}">
                <a16:creationId xmlns:a16="http://schemas.microsoft.com/office/drawing/2014/main" id="{4295B173-4E74-C33D-0EAA-3D5CE5223165}"/>
              </a:ext>
            </a:extLst>
          </p:cNvPr>
          <p:cNvSpPr/>
          <p:nvPr/>
        </p:nvSpPr>
        <p:spPr>
          <a:xfrm>
            <a:off x="3499485" y="2164080"/>
            <a:ext cx="2287905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STEP 2  ·  WEEK 1–2</a:t>
            </a:r>
          </a:p>
          <a:p>
            <a:r>
              <a:rPr lang="en-US" sz="1500" b="1" dirty="0">
                <a:solidFill>
                  <a:srgbClr val="5B2590"/>
                </a:solidFill>
                <a:latin typeface="Trebuchet MS" panose="020B0603020202020204" pitchFamily="34" charset="0"/>
              </a:rPr>
              <a:t>Identify</a:t>
            </a:r>
            <a:endParaRPr lang="en-US" sz="1600" dirty="0"/>
          </a:p>
        </p:txBody>
      </p:sp>
      <p:sp>
        <p:nvSpPr>
          <p:cNvPr id="34398" name="Rectangle 34397">
            <a:extLst>
              <a:ext uri="{FF2B5EF4-FFF2-40B4-BE49-F238E27FC236}">
                <a16:creationId xmlns:a16="http://schemas.microsoft.com/office/drawing/2014/main" id="{903F8BDE-0352-2D4B-3CFE-FCEA8F6C1102}"/>
              </a:ext>
            </a:extLst>
          </p:cNvPr>
          <p:cNvSpPr/>
          <p:nvPr/>
        </p:nvSpPr>
        <p:spPr>
          <a:xfrm>
            <a:off x="3499485" y="3055620"/>
            <a:ext cx="2287905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Turn the cohort's day-to-day work into a short, measurable, costed task list.</a:t>
            </a:r>
            <a:endParaRPr lang="en-US"/>
          </a:p>
        </p:txBody>
      </p:sp>
      <p:sp>
        <p:nvSpPr>
          <p:cNvPr id="34411" name="Rectangle 34410">
            <a:extLst>
              <a:ext uri="{FF2B5EF4-FFF2-40B4-BE49-F238E27FC236}">
                <a16:creationId xmlns:a16="http://schemas.microsoft.com/office/drawing/2014/main" id="{8FAEDD65-B298-4666-F441-29FC2356460D}"/>
              </a:ext>
            </a:extLst>
          </p:cNvPr>
          <p:cNvSpPr/>
          <p:nvPr/>
        </p:nvSpPr>
        <p:spPr>
          <a:xfrm>
            <a:off x="3499485" y="4351020"/>
            <a:ext cx="2287905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5, 6</a:t>
            </a:r>
            <a:endParaRPr lang="en-US"/>
          </a:p>
        </p:txBody>
      </p:sp>
      <p:sp>
        <p:nvSpPr>
          <p:cNvPr id="34425" name="Arrow: Right 34424">
            <a:extLst>
              <a:ext uri="{FF2B5EF4-FFF2-40B4-BE49-F238E27FC236}">
                <a16:creationId xmlns:a16="http://schemas.microsoft.com/office/drawing/2014/main" id="{C3AF1FCE-37CB-D856-F5C2-DDEE72155A1E}"/>
              </a:ext>
            </a:extLst>
          </p:cNvPr>
          <p:cNvSpPr/>
          <p:nvPr/>
        </p:nvSpPr>
        <p:spPr>
          <a:xfrm>
            <a:off x="5993130" y="3364230"/>
            <a:ext cx="205740" cy="137160"/>
          </a:xfrm>
          <a:prstGeom prst="rightArrow">
            <a:avLst/>
          </a:prstGeom>
          <a:solidFill>
            <a:srgbClr val="0E2A5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40" name="Rectangle 34439">
            <a:extLst>
              <a:ext uri="{FF2B5EF4-FFF2-40B4-BE49-F238E27FC236}">
                <a16:creationId xmlns:a16="http://schemas.microsoft.com/office/drawing/2014/main" id="{9A334F4B-C19B-E08B-E2B0-EA6A58ACEA8A}"/>
              </a:ext>
            </a:extLst>
          </p:cNvPr>
          <p:cNvSpPr/>
          <p:nvPr/>
        </p:nvSpPr>
        <p:spPr>
          <a:xfrm>
            <a:off x="6267450" y="2026920"/>
            <a:ext cx="2562225" cy="28117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56" name="Rectangle 34455">
            <a:extLst>
              <a:ext uri="{FF2B5EF4-FFF2-40B4-BE49-F238E27FC236}">
                <a16:creationId xmlns:a16="http://schemas.microsoft.com/office/drawing/2014/main" id="{FF05F76D-72EC-61A6-EE07-217CE5A99E02}"/>
              </a:ext>
            </a:extLst>
          </p:cNvPr>
          <p:cNvSpPr/>
          <p:nvPr/>
        </p:nvSpPr>
        <p:spPr>
          <a:xfrm>
            <a:off x="6267450" y="2026920"/>
            <a:ext cx="2562225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73" name="Rectangle 34472">
            <a:extLst>
              <a:ext uri="{FF2B5EF4-FFF2-40B4-BE49-F238E27FC236}">
                <a16:creationId xmlns:a16="http://schemas.microsoft.com/office/drawing/2014/main" id="{DD2D983F-D8BE-7459-E0C2-AC5A8FEAA118}"/>
              </a:ext>
            </a:extLst>
          </p:cNvPr>
          <p:cNvSpPr/>
          <p:nvPr/>
        </p:nvSpPr>
        <p:spPr>
          <a:xfrm>
            <a:off x="6404610" y="2164080"/>
            <a:ext cx="2287905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STEP 3  ·  WEEK 3–4</a:t>
            </a:r>
          </a:p>
          <a:p>
            <a:pPr>
              <a:buNone/>
            </a:pPr>
            <a:r>
              <a:rPr lang="en-US" sz="1500" b="1" dirty="0">
                <a:solidFill>
                  <a:srgbClr val="5B2590"/>
                </a:solidFill>
                <a:latin typeface="Trebuchet MS" panose="020B0603020202020204" pitchFamily="34" charset="0"/>
              </a:rPr>
              <a:t>Implement + Prove</a:t>
            </a:r>
            <a:endParaRPr lang="en-US" sz="1600" dirty="0"/>
          </a:p>
        </p:txBody>
      </p:sp>
      <p:sp>
        <p:nvSpPr>
          <p:cNvPr id="34491" name="Rectangle 34490">
            <a:extLst>
              <a:ext uri="{FF2B5EF4-FFF2-40B4-BE49-F238E27FC236}">
                <a16:creationId xmlns:a16="http://schemas.microsoft.com/office/drawing/2014/main" id="{31BCAD91-8BAF-07BA-C666-9C33899FB44B}"/>
              </a:ext>
            </a:extLst>
          </p:cNvPr>
          <p:cNvSpPr/>
          <p:nvPr/>
        </p:nvSpPr>
        <p:spPr>
          <a:xfrm>
            <a:off x="6404610" y="3055620"/>
            <a:ext cx="2287905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Set policies and limits, run the tasks live, and capture before-and-after evidence.</a:t>
            </a:r>
            <a:endParaRPr lang="en-US"/>
          </a:p>
        </p:txBody>
      </p:sp>
      <p:sp>
        <p:nvSpPr>
          <p:cNvPr id="34510" name="Rectangle 34509">
            <a:extLst>
              <a:ext uri="{FF2B5EF4-FFF2-40B4-BE49-F238E27FC236}">
                <a16:creationId xmlns:a16="http://schemas.microsoft.com/office/drawing/2014/main" id="{D452EF00-FD30-A4D1-FCA3-4A72FB08C512}"/>
              </a:ext>
            </a:extLst>
          </p:cNvPr>
          <p:cNvSpPr/>
          <p:nvPr/>
        </p:nvSpPr>
        <p:spPr>
          <a:xfrm>
            <a:off x="6404610" y="4351020"/>
            <a:ext cx="2287905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8, 9</a:t>
            </a:r>
            <a:endParaRPr lang="en-US"/>
          </a:p>
        </p:txBody>
      </p:sp>
      <p:sp>
        <p:nvSpPr>
          <p:cNvPr id="34530" name="Arrow: Right 34529">
            <a:extLst>
              <a:ext uri="{FF2B5EF4-FFF2-40B4-BE49-F238E27FC236}">
                <a16:creationId xmlns:a16="http://schemas.microsoft.com/office/drawing/2014/main" id="{5F12CE11-786D-0E08-AD68-1A45D286F7AD}"/>
              </a:ext>
            </a:extLst>
          </p:cNvPr>
          <p:cNvSpPr/>
          <p:nvPr/>
        </p:nvSpPr>
        <p:spPr>
          <a:xfrm>
            <a:off x="8898255" y="3364230"/>
            <a:ext cx="205740" cy="137160"/>
          </a:xfrm>
          <a:prstGeom prst="rightArrow">
            <a:avLst/>
          </a:prstGeom>
          <a:solidFill>
            <a:srgbClr val="0E2A5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51" name="Rectangle 34550">
            <a:extLst>
              <a:ext uri="{FF2B5EF4-FFF2-40B4-BE49-F238E27FC236}">
                <a16:creationId xmlns:a16="http://schemas.microsoft.com/office/drawing/2014/main" id="{F60A15E3-3D6B-B9F5-EF7C-55D8B16846AF}"/>
              </a:ext>
            </a:extLst>
          </p:cNvPr>
          <p:cNvSpPr/>
          <p:nvPr/>
        </p:nvSpPr>
        <p:spPr>
          <a:xfrm>
            <a:off x="9172575" y="2026920"/>
            <a:ext cx="2562225" cy="28117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73" name="Rectangle 34572">
            <a:extLst>
              <a:ext uri="{FF2B5EF4-FFF2-40B4-BE49-F238E27FC236}">
                <a16:creationId xmlns:a16="http://schemas.microsoft.com/office/drawing/2014/main" id="{D20E5577-BEDB-102D-C1D1-2061785F4AC3}"/>
              </a:ext>
            </a:extLst>
          </p:cNvPr>
          <p:cNvSpPr/>
          <p:nvPr/>
        </p:nvSpPr>
        <p:spPr>
          <a:xfrm>
            <a:off x="9172575" y="2026920"/>
            <a:ext cx="2562225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96" name="Rectangle 34595">
            <a:extLst>
              <a:ext uri="{FF2B5EF4-FFF2-40B4-BE49-F238E27FC236}">
                <a16:creationId xmlns:a16="http://schemas.microsoft.com/office/drawing/2014/main" id="{6BD42CA8-86FE-043A-2339-0CB018C66798}"/>
              </a:ext>
            </a:extLst>
          </p:cNvPr>
          <p:cNvSpPr/>
          <p:nvPr/>
        </p:nvSpPr>
        <p:spPr>
          <a:xfrm>
            <a:off x="9309735" y="2164080"/>
            <a:ext cx="2287905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STEP 4  ·  WEEK 4–6</a:t>
            </a:r>
          </a:p>
          <a:p>
            <a:pPr>
              <a:buNone/>
            </a:pPr>
            <a:r>
              <a:rPr lang="en-US" sz="1500" b="1" dirty="0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Scale</a:t>
            </a:r>
            <a:endParaRPr lang="en-US" dirty="0"/>
          </a:p>
        </p:txBody>
      </p:sp>
      <p:sp>
        <p:nvSpPr>
          <p:cNvPr id="34620" name="Rectangle 34619">
            <a:extLst>
              <a:ext uri="{FF2B5EF4-FFF2-40B4-BE49-F238E27FC236}">
                <a16:creationId xmlns:a16="http://schemas.microsoft.com/office/drawing/2014/main" id="{9973F528-C9B1-A7E4-8ACB-E4B7389A9F91}"/>
              </a:ext>
            </a:extLst>
          </p:cNvPr>
          <p:cNvSpPr/>
          <p:nvPr/>
        </p:nvSpPr>
        <p:spPr>
          <a:xfrm>
            <a:off x="9309735" y="3055620"/>
            <a:ext cx="2287905" cy="1203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Deliver the value and cost readout, then plan the next cohorts and the governance model.</a:t>
            </a:r>
            <a:endParaRPr lang="en-US"/>
          </a:p>
        </p:txBody>
      </p:sp>
      <p:sp>
        <p:nvSpPr>
          <p:cNvPr id="34645" name="Rectangle 34644">
            <a:extLst>
              <a:ext uri="{FF2B5EF4-FFF2-40B4-BE49-F238E27FC236}">
                <a16:creationId xmlns:a16="http://schemas.microsoft.com/office/drawing/2014/main" id="{76EE02D1-6DC0-572A-0AD1-275C3880C27A}"/>
              </a:ext>
            </a:extLst>
          </p:cNvPr>
          <p:cNvSpPr/>
          <p:nvPr/>
        </p:nvSpPr>
        <p:spPr>
          <a:xfrm>
            <a:off x="9309735" y="4351020"/>
            <a:ext cx="2287905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→ Categories 7, 10</a:t>
            </a:r>
            <a:endParaRPr lang="en-US"/>
          </a:p>
        </p:txBody>
      </p:sp>
      <p:sp>
        <p:nvSpPr>
          <p:cNvPr id="34671" name="Rectangle 34670">
            <a:extLst>
              <a:ext uri="{FF2B5EF4-FFF2-40B4-BE49-F238E27FC236}">
                <a16:creationId xmlns:a16="http://schemas.microsoft.com/office/drawing/2014/main" id="{1B72C372-3A56-4C1B-E817-B87FCBD3D3F9}"/>
              </a:ext>
            </a:extLst>
          </p:cNvPr>
          <p:cNvSpPr/>
          <p:nvPr/>
        </p:nvSpPr>
        <p:spPr>
          <a:xfrm>
            <a:off x="457200" y="5181600"/>
            <a:ext cx="11277600" cy="807720"/>
          </a:xfrm>
          <a:prstGeom prst="rect">
            <a:avLst/>
          </a:prstGeom>
          <a:noFill/>
          <a:ln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The engagement is a business-value story: led by cohort leaders, enabled by IT for cost governance.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D31083-79AB-A628-7DEA-DA13512AAF39}"/>
              </a:ext>
            </a:extLst>
          </p:cNvPr>
          <p:cNvSpPr/>
          <p:nvPr/>
        </p:nvSpPr>
        <p:spPr>
          <a:xfrm>
            <a:off x="352816" y="1555733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600" dirty="0">
              <a:solidFill>
                <a:srgbClr val="44546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F152B0E1-9009-BB54-CE1A-64836E1E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646420" y="-54992"/>
            <a:ext cx="899160" cy="11277600"/>
          </a:xfrm>
          <a:prstGeom prst="roundRect">
            <a:avLst>
              <a:gd name="adj" fmla="val 3633"/>
            </a:avLst>
          </a:prstGeom>
          <a:noFill/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1225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2" name="Rectangle 16141">
            <a:extLst>
              <a:ext uri="{FF2B5EF4-FFF2-40B4-BE49-F238E27FC236}">
                <a16:creationId xmlns:a16="http://schemas.microsoft.com/office/drawing/2014/main" id="{A55D30F5-BE82-5297-C1CB-9BA4CC3A4AAF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600" b="1" dirty="0">
                <a:solidFill>
                  <a:srgbClr val="FF32A3">
                    <a:lumMod val="75000"/>
                  </a:srgbClr>
                </a:solidFill>
                <a:latin typeface="Trebuchet MS" panose="020B0703020202090204" pitchFamily="34" charset="0"/>
                <a:cs typeface="Segoe Sans Text Semibold" pitchFamily="2" charset="0"/>
              </a:rPr>
              <a:t>Index 1 of 2:</a:t>
            </a:r>
            <a:r>
              <a:rPr lang="en-US" sz="2600" dirty="0">
                <a:solidFill>
                  <a:srgbClr val="C4006B"/>
                </a:solidFill>
                <a:cs typeface="Segoe Sans Text Semibold" pitchFamily="2" charset="0"/>
              </a:rPr>
              <a:t> </a:t>
            </a:r>
            <a:r>
              <a:rPr lang="en-US" sz="2600" b="1" dirty="0">
                <a:solidFill>
                  <a:srgbClr val="0E2A5C"/>
                </a:solidFill>
                <a:effectLst/>
                <a:latin typeface="Trebuchet MS"/>
              </a:rPr>
              <a:t>plan, forecast and govern the spend.</a:t>
            </a:r>
            <a:endParaRPr lang="en-US" dirty="0">
              <a:latin typeface="Trebuchet MS"/>
            </a:endParaRPr>
          </a:p>
        </p:txBody>
      </p:sp>
      <p:sp>
        <p:nvSpPr>
          <p:cNvPr id="16144" name="Rectangle 16143">
            <a:extLst>
              <a:ext uri="{FF2B5EF4-FFF2-40B4-BE49-F238E27FC236}">
                <a16:creationId xmlns:a16="http://schemas.microsoft.com/office/drawing/2014/main" id="{056BF43E-0183-A47B-0C73-947736ED7FC9}"/>
              </a:ext>
            </a:extLst>
          </p:cNvPr>
          <p:cNvSpPr/>
          <p:nvPr/>
        </p:nvSpPr>
        <p:spPr>
          <a:xfrm>
            <a:off x="457200" y="1127760"/>
            <a:ext cx="1127760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Eight links that cover credit modelling, licensing and cost management, with what each one gives you.</a:t>
            </a:r>
            <a:endParaRPr lang="en-US" dirty="0"/>
          </a:p>
        </p:txBody>
      </p:sp>
      <p:sp>
        <p:nvSpPr>
          <p:cNvPr id="16151" name="Rectangle 16150">
            <a:extLst>
              <a:ext uri="{FF2B5EF4-FFF2-40B4-BE49-F238E27FC236}">
                <a16:creationId xmlns:a16="http://schemas.microsoft.com/office/drawing/2014/main" id="{1A059697-3E57-656A-E83E-0A6C42E62469}"/>
              </a:ext>
            </a:extLst>
          </p:cNvPr>
          <p:cNvSpPr/>
          <p:nvPr/>
        </p:nvSpPr>
        <p:spPr>
          <a:xfrm>
            <a:off x="2377092" y="2214532"/>
            <a:ext cx="371475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COPILOT CREDIT PLANNING MODEL</a:t>
            </a:r>
          </a:p>
          <a:p>
            <a:pPr>
              <a:buNone/>
            </a:pP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Model credit spend by persona and scenario.</a:t>
            </a:r>
          </a:p>
          <a:p>
            <a:pPr>
              <a:buNone/>
            </a:pP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2"/>
              </a:rPr>
              <a:t>aka.ms/CopilotCreditPlanningModel</a:t>
            </a:r>
            <a:endParaRPr lang="en-US" sz="1600" dirty="0"/>
          </a:p>
        </p:txBody>
      </p:sp>
      <p:sp>
        <p:nvSpPr>
          <p:cNvPr id="16162" name="Rectangle 16161">
            <a:extLst>
              <a:ext uri="{FF2B5EF4-FFF2-40B4-BE49-F238E27FC236}">
                <a16:creationId xmlns:a16="http://schemas.microsoft.com/office/drawing/2014/main" id="{F813EC39-318F-5864-5824-F7E9F793CBBD}"/>
              </a:ext>
            </a:extLst>
          </p:cNvPr>
          <p:cNvSpPr/>
          <p:nvPr/>
        </p:nvSpPr>
        <p:spPr>
          <a:xfrm>
            <a:off x="2377092" y="3424929"/>
            <a:ext cx="3704312" cy="10590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BUSINESS OUTCOMES WORKBOOK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
ROI by function: hours, value and credits.
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
Excel template for per-customer estimation.
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aka.ms/CustomerCoworkEstimator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6177" name="Rectangle 16176">
            <a:extLst>
              <a:ext uri="{FF2B5EF4-FFF2-40B4-BE49-F238E27FC236}">
                <a16:creationId xmlns:a16="http://schemas.microsoft.com/office/drawing/2014/main" id="{2947E2B5-7CD4-0AE1-DF43-27C424007E10}"/>
              </a:ext>
            </a:extLst>
          </p:cNvPr>
          <p:cNvSpPr/>
          <p:nvPr/>
        </p:nvSpPr>
        <p:spPr>
          <a:xfrm>
            <a:off x="2387530" y="4957523"/>
            <a:ext cx="371475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COPILOT CREDITS LICENSING GUIDE</a:t>
            </a:r>
          </a:p>
          <a:p>
            <a:pPr>
              <a:buNone/>
            </a:pP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How credits are bought: PAYG versus P3.</a:t>
            </a:r>
          </a:p>
          <a:p>
            <a:pPr>
              <a:buNone/>
            </a:pP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aka.ms/CopilotCredits/LicensingGuide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6196" name="Rectangle 16195">
            <a:extLst>
              <a:ext uri="{FF2B5EF4-FFF2-40B4-BE49-F238E27FC236}">
                <a16:creationId xmlns:a16="http://schemas.microsoft.com/office/drawing/2014/main" id="{9ABC8F9C-7627-A6BE-F908-2188CD209518}"/>
              </a:ext>
            </a:extLst>
          </p:cNvPr>
          <p:cNvSpPr/>
          <p:nvPr/>
        </p:nvSpPr>
        <p:spPr>
          <a:xfrm>
            <a:off x="6688133" y="4957627"/>
            <a:ext cx="371475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COPILOT CREDITS ON LEARN</a:t>
            </a:r>
          </a:p>
          <a:p>
            <a:pPr>
              <a:buNone/>
            </a:pP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Purchase, set-up and cost-management docs.</a:t>
            </a:r>
          </a:p>
          <a:p>
            <a:pPr>
              <a:buNone/>
            </a:pP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aka.ms/CopilotCredits/Learn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6294" name="Rectangle 16293">
            <a:extLst>
              <a:ext uri="{FF2B5EF4-FFF2-40B4-BE49-F238E27FC236}">
                <a16:creationId xmlns:a16="http://schemas.microsoft.com/office/drawing/2014/main" id="{DF9E2198-D1B9-0D56-5D44-ACEB003F75DC}"/>
              </a:ext>
            </a:extLst>
          </p:cNvPr>
          <p:cNvSpPr/>
          <p:nvPr/>
        </p:nvSpPr>
        <p:spPr>
          <a:xfrm>
            <a:off x="6557636" y="2252945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312" name="Rectangle 16311">
            <a:extLst>
              <a:ext uri="{FF2B5EF4-FFF2-40B4-BE49-F238E27FC236}">
                <a16:creationId xmlns:a16="http://schemas.microsoft.com/office/drawing/2014/main" id="{623D63E0-7A6E-94E7-01B3-459F190AE40B}"/>
              </a:ext>
            </a:extLst>
          </p:cNvPr>
          <p:cNvSpPr/>
          <p:nvPr/>
        </p:nvSpPr>
        <p:spPr>
          <a:xfrm>
            <a:off x="6643996" y="2197065"/>
            <a:ext cx="2759710" cy="787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COST MANAGEMENT GUIDED DEMOS</a:t>
            </a:r>
          </a:p>
          <a:p>
            <a:pPr>
              <a:buNone/>
            </a:pPr>
            <a:r>
              <a:rPr lang="en-US" sz="12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Click-through demos of the admin tools.</a:t>
            </a:r>
          </a:p>
          <a:p>
            <a:pPr>
              <a:buNone/>
            </a:pPr>
            <a:r>
              <a:rPr lang="en-US" sz="12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aka.ms/CostManagementDemo</a:t>
            </a:r>
            <a:endParaRPr lang="en-US" sz="1600" dirty="0"/>
          </a:p>
        </p:txBody>
      </p:sp>
      <p:sp>
        <p:nvSpPr>
          <p:cNvPr id="16331" name="Rectangle 16330">
            <a:extLst>
              <a:ext uri="{FF2B5EF4-FFF2-40B4-BE49-F238E27FC236}">
                <a16:creationId xmlns:a16="http://schemas.microsoft.com/office/drawing/2014/main" id="{A823EF56-EF56-5580-9AA0-FBBD8651F8CA}"/>
              </a:ext>
            </a:extLst>
          </p:cNvPr>
          <p:cNvSpPr/>
          <p:nvPr/>
        </p:nvSpPr>
        <p:spPr>
          <a:xfrm>
            <a:off x="6557636" y="3174965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351" name="Rectangle 16350">
            <a:extLst>
              <a:ext uri="{FF2B5EF4-FFF2-40B4-BE49-F238E27FC236}">
                <a16:creationId xmlns:a16="http://schemas.microsoft.com/office/drawing/2014/main" id="{2F97CF3B-6419-2FFB-810A-C885ADCEE9A4}"/>
              </a:ext>
            </a:extLst>
          </p:cNvPr>
          <p:cNvSpPr/>
          <p:nvPr/>
        </p:nvSpPr>
        <p:spPr>
          <a:xfrm>
            <a:off x="6654156" y="3068285"/>
            <a:ext cx="2759710" cy="797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MANAGE COPILOT COWORK</a:t>
            </a:r>
          </a:p>
          <a:p>
            <a:pPr>
              <a:buNone/>
            </a:pPr>
            <a:r>
              <a:rPr lang="en-US" sz="12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Admin and governance documentation.</a:t>
            </a:r>
          </a:p>
          <a:p>
            <a:pPr>
              <a:buNone/>
            </a:pPr>
            <a:r>
              <a:rPr lang="en-US" sz="12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8"/>
              </a:rPr>
              <a:t>aka.ms/CopilotCoworkDocs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6372" name="Rectangle 16371">
            <a:extLst>
              <a:ext uri="{FF2B5EF4-FFF2-40B4-BE49-F238E27FC236}">
                <a16:creationId xmlns:a16="http://schemas.microsoft.com/office/drawing/2014/main" id="{4477E6D4-4715-057C-0443-6642F059DF74}"/>
              </a:ext>
            </a:extLst>
          </p:cNvPr>
          <p:cNvSpPr/>
          <p:nvPr/>
        </p:nvSpPr>
        <p:spPr>
          <a:xfrm>
            <a:off x="6557636" y="4076665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394" name="Rectangle 16393">
            <a:extLst>
              <a:ext uri="{FF2B5EF4-FFF2-40B4-BE49-F238E27FC236}">
                <a16:creationId xmlns:a16="http://schemas.microsoft.com/office/drawing/2014/main" id="{A9D33C8A-1F77-1185-E026-9429F6EBBB5C}"/>
              </a:ext>
            </a:extLst>
          </p:cNvPr>
          <p:cNvSpPr/>
          <p:nvPr/>
        </p:nvSpPr>
        <p:spPr>
          <a:xfrm>
            <a:off x="6664316" y="4041105"/>
            <a:ext cx="274955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None/>
            </a:pPr>
            <a:r>
              <a:rPr lang="en-US" sz="1200" b="1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ANALYTICS HUB — COWORK BILLING</a:t>
            </a:r>
          </a:p>
          <a:p>
            <a:pPr>
              <a:buNone/>
            </a:pPr>
            <a:r>
              <a:rPr lang="en-US" sz="12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What is being built for UBB reporting.</a:t>
            </a:r>
          </a:p>
          <a:p>
            <a:pPr>
              <a:buNone/>
            </a:pPr>
            <a:r>
              <a:rPr lang="en-US" sz="120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</a:rPr>
              <a:t>↗  </a:t>
            </a:r>
            <a:r>
              <a:rPr lang="en-US" sz="1200" dirty="0">
                <a:solidFill>
                  <a:srgbClr val="44546A"/>
                </a:solidFill>
                <a:effectLst/>
                <a:latin typeface="Calibri"/>
                <a:ea typeface="Calibri"/>
                <a:cs typeface="Calibri"/>
                <a:hlinkClick r:id="rId9"/>
              </a:rPr>
              <a:t>microsoft.github.io/Analytics-Hub</a:t>
            </a:r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0E73F4-07A3-78EF-4A43-DD8EAED4BF94}"/>
              </a:ext>
            </a:extLst>
          </p:cNvPr>
          <p:cNvSpPr/>
          <p:nvPr/>
        </p:nvSpPr>
        <p:spPr>
          <a:xfrm>
            <a:off x="6557636" y="5044440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3986D0-B2BC-5293-A507-4851415CC6B2}"/>
              </a:ext>
            </a:extLst>
          </p:cNvPr>
          <p:cNvSpPr/>
          <p:nvPr/>
        </p:nvSpPr>
        <p:spPr>
          <a:xfrm>
            <a:off x="2225739" y="2287173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8DE1F5-F04F-356E-E04B-20B3CE8DA2B5}"/>
              </a:ext>
            </a:extLst>
          </p:cNvPr>
          <p:cNvSpPr/>
          <p:nvPr/>
        </p:nvSpPr>
        <p:spPr>
          <a:xfrm>
            <a:off x="2225739" y="3611566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ED752-57D2-8410-C512-C3EE0F106F80}"/>
              </a:ext>
            </a:extLst>
          </p:cNvPr>
          <p:cNvSpPr/>
          <p:nvPr/>
        </p:nvSpPr>
        <p:spPr>
          <a:xfrm>
            <a:off x="2223425" y="5003243"/>
            <a:ext cx="66040" cy="68580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8143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3" name="Rectangle 27092">
            <a:extLst>
              <a:ext uri="{FF2B5EF4-FFF2-40B4-BE49-F238E27FC236}">
                <a16:creationId xmlns:a16="http://schemas.microsoft.com/office/drawing/2014/main" id="{B59C0CCD-204A-5D27-B7ED-6D9B5FC3D51B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600" b="1" dirty="0">
                <a:solidFill>
                  <a:srgbClr val="FF32A3">
                    <a:lumMod val="75000"/>
                  </a:srgbClr>
                </a:solidFill>
                <a:latin typeface="Trebuchet MS" panose="020B0703020202090204" pitchFamily="34" charset="0"/>
                <a:cs typeface="Segoe Sans Text Semibold" pitchFamily="2" charset="0"/>
              </a:rPr>
              <a:t>Index 2 of 2:</a:t>
            </a:r>
            <a:r>
              <a:rPr lang="en-US" sz="2600" dirty="0">
                <a:solidFill>
                  <a:srgbClr val="C4006B"/>
                </a:solidFill>
                <a:cs typeface="Segoe Sans Text Semibold" pitchFamily="2" charset="0"/>
              </a:rPr>
              <a:t> </a:t>
            </a:r>
            <a:r>
              <a:rPr lang="en-US" sz="2600" b="1" dirty="0">
                <a:solidFill>
                  <a:srgbClr val="0E2A5C"/>
                </a:solidFill>
                <a:effectLst/>
                <a:latin typeface="Trebuchet MS"/>
              </a:rPr>
              <a:t>build the practice, sell and compete.</a:t>
            </a:r>
            <a:endParaRPr lang="en-US" dirty="0">
              <a:latin typeface="Trebuchet MS"/>
            </a:endParaRPr>
          </a:p>
        </p:txBody>
      </p:sp>
      <p:sp>
        <p:nvSpPr>
          <p:cNvPr id="27095" name="Rectangle 27094">
            <a:extLst>
              <a:ext uri="{FF2B5EF4-FFF2-40B4-BE49-F238E27FC236}">
                <a16:creationId xmlns:a16="http://schemas.microsoft.com/office/drawing/2014/main" id="{E75BDC00-DF76-C925-EB16-22433ED48B4E}"/>
              </a:ext>
            </a:extLst>
          </p:cNvPr>
          <p:cNvSpPr/>
          <p:nvPr/>
        </p:nvSpPr>
        <p:spPr>
          <a:xfrm>
            <a:off x="457200" y="887678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Kits, playbooks and skilling that turn the capability into an offer you can take to market.</a:t>
            </a:r>
            <a:endParaRPr lang="en-US"/>
          </a:p>
        </p:txBody>
      </p:sp>
      <p:sp>
        <p:nvSpPr>
          <p:cNvPr id="27098" name="Rounded Rectangle 27097">
            <a:extLst>
              <a:ext uri="{FF2B5EF4-FFF2-40B4-BE49-F238E27FC236}">
                <a16:creationId xmlns:a16="http://schemas.microsoft.com/office/drawing/2014/main" id="{49A3618D-2A52-CE35-E4F8-F6A233DFBFD0}"/>
              </a:ext>
            </a:extLst>
          </p:cNvPr>
          <p:cNvSpPr/>
          <p:nvPr/>
        </p:nvSpPr>
        <p:spPr>
          <a:xfrm>
            <a:off x="457200" y="1866587"/>
            <a:ext cx="11277600" cy="441960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02" name="Rectangle 27101">
            <a:extLst>
              <a:ext uri="{FF2B5EF4-FFF2-40B4-BE49-F238E27FC236}">
                <a16:creationId xmlns:a16="http://schemas.microsoft.com/office/drawing/2014/main" id="{3A0AE0E3-EAB3-52DA-3EFB-F6864D7E78A4}"/>
              </a:ext>
            </a:extLst>
          </p:cNvPr>
          <p:cNvSpPr/>
          <p:nvPr/>
        </p:nvSpPr>
        <p:spPr>
          <a:xfrm>
            <a:off x="457200" y="186658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07" name="Rectangle 27106">
            <a:extLst>
              <a:ext uri="{FF2B5EF4-FFF2-40B4-BE49-F238E27FC236}">
                <a16:creationId xmlns:a16="http://schemas.microsoft.com/office/drawing/2014/main" id="{3E56D750-0C2E-53F2-4B4B-B397DF34B9B2}"/>
              </a:ext>
            </a:extLst>
          </p:cNvPr>
          <p:cNvSpPr/>
          <p:nvPr/>
        </p:nvSpPr>
        <p:spPr>
          <a:xfrm>
            <a:off x="685800" y="191230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Cowork Proof of Value Kit</a:t>
            </a:r>
            <a:endParaRPr lang="en-US"/>
          </a:p>
        </p:txBody>
      </p:sp>
      <p:sp>
        <p:nvSpPr>
          <p:cNvPr id="27113" name="Rectangle 27112">
            <a:extLst>
              <a:ext uri="{FF2B5EF4-FFF2-40B4-BE49-F238E27FC236}">
                <a16:creationId xmlns:a16="http://schemas.microsoft.com/office/drawing/2014/main" id="{41BF6EDA-F58F-4714-DE3A-D5788CB6F2DE}"/>
              </a:ext>
            </a:extLst>
          </p:cNvPr>
          <p:cNvSpPr/>
          <p:nvPr/>
        </p:nvSpPr>
        <p:spPr>
          <a:xfrm>
            <a:off x="4114800" y="191230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Guide, task packs, ROI.</a:t>
            </a:r>
            <a:endParaRPr lang="en-US"/>
          </a:p>
        </p:txBody>
      </p:sp>
      <p:sp>
        <p:nvSpPr>
          <p:cNvPr id="27120" name="Rectangle 27119">
            <a:extLst>
              <a:ext uri="{FF2B5EF4-FFF2-40B4-BE49-F238E27FC236}">
                <a16:creationId xmlns:a16="http://schemas.microsoft.com/office/drawing/2014/main" id="{826DA858-2EF9-F2A3-5BE5-27558B25AFAD}"/>
              </a:ext>
            </a:extLst>
          </p:cNvPr>
          <p:cNvSpPr/>
          <p:nvPr/>
        </p:nvSpPr>
        <p:spPr>
          <a:xfrm>
            <a:off x="7315200" y="191230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  <a:hlinkClick r:id="rId3"/>
              </a:rPr>
              <a:t>aka.ms/CoworkPartnerKit</a:t>
            </a:r>
            <a:endParaRPr lang="en-US" dirty="0"/>
          </a:p>
        </p:txBody>
      </p:sp>
      <p:sp>
        <p:nvSpPr>
          <p:cNvPr id="27128" name="Rounded Rectangle 27127">
            <a:extLst>
              <a:ext uri="{FF2B5EF4-FFF2-40B4-BE49-F238E27FC236}">
                <a16:creationId xmlns:a16="http://schemas.microsoft.com/office/drawing/2014/main" id="{FA3D2569-C5AD-3C04-8799-15E953CAC7AC}"/>
              </a:ext>
            </a:extLst>
          </p:cNvPr>
          <p:cNvSpPr/>
          <p:nvPr/>
        </p:nvSpPr>
        <p:spPr>
          <a:xfrm>
            <a:off x="457200" y="235426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37" name="Rectangle 27136">
            <a:extLst>
              <a:ext uri="{FF2B5EF4-FFF2-40B4-BE49-F238E27FC236}">
                <a16:creationId xmlns:a16="http://schemas.microsoft.com/office/drawing/2014/main" id="{81FA98DE-C92B-7907-47E4-38ABFFA080C1}"/>
              </a:ext>
            </a:extLst>
          </p:cNvPr>
          <p:cNvSpPr/>
          <p:nvPr/>
        </p:nvSpPr>
        <p:spPr>
          <a:xfrm>
            <a:off x="457200" y="235426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47" name="Rectangle 27146">
            <a:extLst>
              <a:ext uri="{FF2B5EF4-FFF2-40B4-BE49-F238E27FC236}">
                <a16:creationId xmlns:a16="http://schemas.microsoft.com/office/drawing/2014/main" id="{0F61A454-7EDB-2130-B76C-E6D50E2D0969}"/>
              </a:ext>
            </a:extLst>
          </p:cNvPr>
          <p:cNvSpPr/>
          <p:nvPr/>
        </p:nvSpPr>
        <p:spPr>
          <a:xfrm>
            <a:off x="685800" y="239998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Cowork Partner Launch Kit</a:t>
            </a:r>
            <a:endParaRPr lang="en-US"/>
          </a:p>
        </p:txBody>
      </p:sp>
      <p:sp>
        <p:nvSpPr>
          <p:cNvPr id="27158" name="Rectangle 27157">
            <a:extLst>
              <a:ext uri="{FF2B5EF4-FFF2-40B4-BE49-F238E27FC236}">
                <a16:creationId xmlns:a16="http://schemas.microsoft.com/office/drawing/2014/main" id="{28560C95-61B7-4E24-8614-DE263B888535}"/>
              </a:ext>
            </a:extLst>
          </p:cNvPr>
          <p:cNvSpPr/>
          <p:nvPr/>
        </p:nvSpPr>
        <p:spPr>
          <a:xfrm>
            <a:off x="4114800" y="239998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Ready-to-use launch assets</a:t>
            </a:r>
            <a:endParaRPr lang="en-US"/>
          </a:p>
        </p:txBody>
      </p:sp>
      <p:sp>
        <p:nvSpPr>
          <p:cNvPr id="27170" name="Rectangle 27169">
            <a:extLst>
              <a:ext uri="{FF2B5EF4-FFF2-40B4-BE49-F238E27FC236}">
                <a16:creationId xmlns:a16="http://schemas.microsoft.com/office/drawing/2014/main" id="{68B83527-F575-4EA2-678F-41E6D17ECB59}"/>
              </a:ext>
            </a:extLst>
          </p:cNvPr>
          <p:cNvSpPr/>
          <p:nvPr/>
        </p:nvSpPr>
        <p:spPr>
          <a:xfrm>
            <a:off x="7315200" y="239998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  <a:hlinkClick r:id="rId4"/>
              </a:rPr>
              <a:t>aka.ms/CoworkPartnerLaunchKit</a:t>
            </a:r>
            <a:endParaRPr lang="en-US" dirty="0"/>
          </a:p>
        </p:txBody>
      </p:sp>
      <p:sp>
        <p:nvSpPr>
          <p:cNvPr id="27183" name="Rounded Rectangle 27182">
            <a:extLst>
              <a:ext uri="{FF2B5EF4-FFF2-40B4-BE49-F238E27FC236}">
                <a16:creationId xmlns:a16="http://schemas.microsoft.com/office/drawing/2014/main" id="{9DEB0413-B21F-5411-C3FB-0769B2AC340F}"/>
              </a:ext>
            </a:extLst>
          </p:cNvPr>
          <p:cNvSpPr/>
          <p:nvPr/>
        </p:nvSpPr>
        <p:spPr>
          <a:xfrm>
            <a:off x="457200" y="284194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97" name="Rectangle 27196">
            <a:extLst>
              <a:ext uri="{FF2B5EF4-FFF2-40B4-BE49-F238E27FC236}">
                <a16:creationId xmlns:a16="http://schemas.microsoft.com/office/drawing/2014/main" id="{8ACFEADC-8037-E8BA-AEF8-AD9BE8AE9DAD}"/>
              </a:ext>
            </a:extLst>
          </p:cNvPr>
          <p:cNvSpPr/>
          <p:nvPr/>
        </p:nvSpPr>
        <p:spPr>
          <a:xfrm>
            <a:off x="457200" y="284194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12" name="Rectangle 27211">
            <a:extLst>
              <a:ext uri="{FF2B5EF4-FFF2-40B4-BE49-F238E27FC236}">
                <a16:creationId xmlns:a16="http://schemas.microsoft.com/office/drawing/2014/main" id="{4C20DB95-D071-9D20-8D49-17830B6DC31B}"/>
              </a:ext>
            </a:extLst>
          </p:cNvPr>
          <p:cNvSpPr/>
          <p:nvPr/>
        </p:nvSpPr>
        <p:spPr>
          <a:xfrm>
            <a:off x="685800" y="288766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Practice Development Guide</a:t>
            </a:r>
            <a:endParaRPr lang="en-US"/>
          </a:p>
        </p:txBody>
      </p:sp>
      <p:sp>
        <p:nvSpPr>
          <p:cNvPr id="27228" name="Rectangle 27227">
            <a:extLst>
              <a:ext uri="{FF2B5EF4-FFF2-40B4-BE49-F238E27FC236}">
                <a16:creationId xmlns:a16="http://schemas.microsoft.com/office/drawing/2014/main" id="{968DE51C-A1D6-3550-9243-9457856F188B}"/>
              </a:ext>
            </a:extLst>
          </p:cNvPr>
          <p:cNvSpPr/>
          <p:nvPr/>
        </p:nvSpPr>
        <p:spPr>
          <a:xfrm>
            <a:off x="4114800" y="288766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Build a Copilot practice.</a:t>
            </a:r>
            <a:endParaRPr lang="en-US"/>
          </a:p>
        </p:txBody>
      </p:sp>
      <p:sp>
        <p:nvSpPr>
          <p:cNvPr id="27245" name="Rectangle 27244">
            <a:extLst>
              <a:ext uri="{FF2B5EF4-FFF2-40B4-BE49-F238E27FC236}">
                <a16:creationId xmlns:a16="http://schemas.microsoft.com/office/drawing/2014/main" id="{F21CDB32-DC90-7DD9-1F83-CF9130182A2F}"/>
              </a:ext>
            </a:extLst>
          </p:cNvPr>
          <p:cNvSpPr/>
          <p:nvPr/>
        </p:nvSpPr>
        <p:spPr>
          <a:xfrm>
            <a:off x="7315200" y="288766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  <a:hlinkClick r:id="rId5"/>
              </a:rPr>
              <a:t>aka.ms/CopilotPartnerGuide</a:t>
            </a:r>
            <a:endParaRPr lang="en-US" dirty="0"/>
          </a:p>
        </p:txBody>
      </p:sp>
      <p:sp>
        <p:nvSpPr>
          <p:cNvPr id="27263" name="Rounded Rectangle 27262">
            <a:extLst>
              <a:ext uri="{FF2B5EF4-FFF2-40B4-BE49-F238E27FC236}">
                <a16:creationId xmlns:a16="http://schemas.microsoft.com/office/drawing/2014/main" id="{6B47CE39-AADC-547E-6AD0-C43F336BC7AB}"/>
              </a:ext>
            </a:extLst>
          </p:cNvPr>
          <p:cNvSpPr/>
          <p:nvPr/>
        </p:nvSpPr>
        <p:spPr>
          <a:xfrm>
            <a:off x="457200" y="332962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82" name="Rectangle 27281">
            <a:extLst>
              <a:ext uri="{FF2B5EF4-FFF2-40B4-BE49-F238E27FC236}">
                <a16:creationId xmlns:a16="http://schemas.microsoft.com/office/drawing/2014/main" id="{E350F25A-9299-BCA7-59FC-8AB82D28DFF3}"/>
              </a:ext>
            </a:extLst>
          </p:cNvPr>
          <p:cNvSpPr/>
          <p:nvPr/>
        </p:nvSpPr>
        <p:spPr>
          <a:xfrm>
            <a:off x="457200" y="3329627"/>
            <a:ext cx="45720" cy="441960"/>
          </a:xfrm>
          <a:prstGeom prst="rect">
            <a:avLst/>
          </a:prstGeom>
          <a:solidFill>
            <a:srgbClr val="A224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02" name="Rectangle 27301">
            <a:extLst>
              <a:ext uri="{FF2B5EF4-FFF2-40B4-BE49-F238E27FC236}">
                <a16:creationId xmlns:a16="http://schemas.microsoft.com/office/drawing/2014/main" id="{70719E96-3EB5-0BE8-C796-19BA0A9A6F87}"/>
              </a:ext>
            </a:extLst>
          </p:cNvPr>
          <p:cNvSpPr/>
          <p:nvPr/>
        </p:nvSpPr>
        <p:spPr>
          <a:xfrm>
            <a:off x="685800" y="337534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FY27 Commercial GTM Playbook</a:t>
            </a:r>
            <a:endParaRPr lang="en-US"/>
          </a:p>
        </p:txBody>
      </p:sp>
      <p:sp>
        <p:nvSpPr>
          <p:cNvPr id="27323" name="Rectangle 27322">
            <a:extLst>
              <a:ext uri="{FF2B5EF4-FFF2-40B4-BE49-F238E27FC236}">
                <a16:creationId xmlns:a16="http://schemas.microsoft.com/office/drawing/2014/main" id="{736C6868-9EF7-29BF-BB37-2659FA8FCBCB}"/>
              </a:ext>
            </a:extLst>
          </p:cNvPr>
          <p:cNvSpPr/>
          <p:nvPr/>
        </p:nvSpPr>
        <p:spPr>
          <a:xfrm>
            <a:off x="4114800" y="337534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Frontier GTM playbook.</a:t>
            </a:r>
            <a:endParaRPr lang="en-US"/>
          </a:p>
        </p:txBody>
      </p:sp>
      <p:sp>
        <p:nvSpPr>
          <p:cNvPr id="27345" name="Rectangle 27344">
            <a:extLst>
              <a:ext uri="{FF2B5EF4-FFF2-40B4-BE49-F238E27FC236}">
                <a16:creationId xmlns:a16="http://schemas.microsoft.com/office/drawing/2014/main" id="{155AD2A2-D468-1847-769B-86AF97DB45F8}"/>
              </a:ext>
            </a:extLst>
          </p:cNvPr>
          <p:cNvSpPr/>
          <p:nvPr/>
        </p:nvSpPr>
        <p:spPr>
          <a:xfrm>
            <a:off x="7315200" y="337534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  <a:hlinkClick r:id="rId6"/>
              </a:rPr>
              <a:t>aka.ms/FY27PartnerGTMPlaybooks</a:t>
            </a:r>
            <a:endParaRPr lang="en-US" dirty="0"/>
          </a:p>
        </p:txBody>
      </p:sp>
      <p:sp>
        <p:nvSpPr>
          <p:cNvPr id="27368" name="Rounded Rectangle 27367">
            <a:extLst>
              <a:ext uri="{FF2B5EF4-FFF2-40B4-BE49-F238E27FC236}">
                <a16:creationId xmlns:a16="http://schemas.microsoft.com/office/drawing/2014/main" id="{EFA8A89C-C87F-C3F7-C2DE-96BBF5970621}"/>
              </a:ext>
            </a:extLst>
          </p:cNvPr>
          <p:cNvSpPr/>
          <p:nvPr/>
        </p:nvSpPr>
        <p:spPr>
          <a:xfrm>
            <a:off x="457200" y="3817307"/>
            <a:ext cx="11277600" cy="441960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92" name="Rectangle 27391">
            <a:extLst>
              <a:ext uri="{FF2B5EF4-FFF2-40B4-BE49-F238E27FC236}">
                <a16:creationId xmlns:a16="http://schemas.microsoft.com/office/drawing/2014/main" id="{C99F06A3-8D4E-BBB2-3139-71FEFAAA831D}"/>
              </a:ext>
            </a:extLst>
          </p:cNvPr>
          <p:cNvSpPr/>
          <p:nvPr/>
        </p:nvSpPr>
        <p:spPr>
          <a:xfrm>
            <a:off x="457200" y="381730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17" name="Rectangle 27416">
            <a:extLst>
              <a:ext uri="{FF2B5EF4-FFF2-40B4-BE49-F238E27FC236}">
                <a16:creationId xmlns:a16="http://schemas.microsoft.com/office/drawing/2014/main" id="{8110C19E-3F20-E14D-3D67-15FB8DCDAB09}"/>
              </a:ext>
            </a:extLst>
          </p:cNvPr>
          <p:cNvSpPr/>
          <p:nvPr/>
        </p:nvSpPr>
        <p:spPr>
          <a:xfrm>
            <a:off x="685800" y="386302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FY27 SMB GTM Playbook</a:t>
            </a:r>
            <a:endParaRPr lang="en-US"/>
          </a:p>
        </p:txBody>
      </p:sp>
      <p:sp>
        <p:nvSpPr>
          <p:cNvPr id="27443" name="Rectangle 27442">
            <a:extLst>
              <a:ext uri="{FF2B5EF4-FFF2-40B4-BE49-F238E27FC236}">
                <a16:creationId xmlns:a16="http://schemas.microsoft.com/office/drawing/2014/main" id="{A6425D30-CA63-64D8-0563-6E7B9EEACD4F}"/>
              </a:ext>
            </a:extLst>
          </p:cNvPr>
          <p:cNvSpPr/>
          <p:nvPr/>
        </p:nvSpPr>
        <p:spPr>
          <a:xfrm>
            <a:off x="4114800" y="386302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The SMB edition.</a:t>
            </a:r>
            <a:endParaRPr lang="en-US"/>
          </a:p>
        </p:txBody>
      </p:sp>
      <p:sp>
        <p:nvSpPr>
          <p:cNvPr id="27470" name="Rectangle 27469">
            <a:extLst>
              <a:ext uri="{FF2B5EF4-FFF2-40B4-BE49-F238E27FC236}">
                <a16:creationId xmlns:a16="http://schemas.microsoft.com/office/drawing/2014/main" id="{780DD944-DFE3-A53B-4A73-1F6D034536FC}"/>
              </a:ext>
            </a:extLst>
          </p:cNvPr>
          <p:cNvSpPr/>
          <p:nvPr/>
        </p:nvSpPr>
        <p:spPr>
          <a:xfrm>
            <a:off x="7315200" y="386302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  <a:hlinkClick r:id="rId7"/>
              </a:rPr>
              <a:t>aka.ms/SMBPartnerPlaybook</a:t>
            </a:r>
            <a:endParaRPr lang="en-US" dirty="0"/>
          </a:p>
        </p:txBody>
      </p:sp>
      <p:sp>
        <p:nvSpPr>
          <p:cNvPr id="27498" name="Rounded Rectangle 27497">
            <a:extLst>
              <a:ext uri="{FF2B5EF4-FFF2-40B4-BE49-F238E27FC236}">
                <a16:creationId xmlns:a16="http://schemas.microsoft.com/office/drawing/2014/main" id="{44802BD0-CC55-A429-FECD-0939D2C5AE63}"/>
              </a:ext>
            </a:extLst>
          </p:cNvPr>
          <p:cNvSpPr/>
          <p:nvPr/>
        </p:nvSpPr>
        <p:spPr>
          <a:xfrm>
            <a:off x="457200" y="430498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27" name="Rectangle 27526">
            <a:extLst>
              <a:ext uri="{FF2B5EF4-FFF2-40B4-BE49-F238E27FC236}">
                <a16:creationId xmlns:a16="http://schemas.microsoft.com/office/drawing/2014/main" id="{59DAEA14-2947-14F8-6F80-00ED90309B1D}"/>
              </a:ext>
            </a:extLst>
          </p:cNvPr>
          <p:cNvSpPr/>
          <p:nvPr/>
        </p:nvSpPr>
        <p:spPr>
          <a:xfrm>
            <a:off x="457200" y="430498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57" name="Rectangle 27556">
            <a:extLst>
              <a:ext uri="{FF2B5EF4-FFF2-40B4-BE49-F238E27FC236}">
                <a16:creationId xmlns:a16="http://schemas.microsoft.com/office/drawing/2014/main" id="{280A9E5C-9B9C-EEE5-7793-EA96119F2E7C}"/>
              </a:ext>
            </a:extLst>
          </p:cNvPr>
          <p:cNvSpPr/>
          <p:nvPr/>
        </p:nvSpPr>
        <p:spPr>
          <a:xfrm>
            <a:off x="685800" y="435070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Microskilling: Cowork</a:t>
            </a:r>
            <a:endParaRPr lang="en-US"/>
          </a:p>
        </p:txBody>
      </p:sp>
      <p:sp>
        <p:nvSpPr>
          <p:cNvPr id="27588" name="Rectangle 27587">
            <a:extLst>
              <a:ext uri="{FF2B5EF4-FFF2-40B4-BE49-F238E27FC236}">
                <a16:creationId xmlns:a16="http://schemas.microsoft.com/office/drawing/2014/main" id="{FB915080-BD95-8D66-04F4-7649240FECDF}"/>
              </a:ext>
            </a:extLst>
          </p:cNvPr>
          <p:cNvSpPr/>
          <p:nvPr/>
        </p:nvSpPr>
        <p:spPr>
          <a:xfrm>
            <a:off x="4114800" y="435070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On-demand sales &amp; tech.</a:t>
            </a:r>
            <a:endParaRPr lang="en-US"/>
          </a:p>
        </p:txBody>
      </p:sp>
      <p:sp>
        <p:nvSpPr>
          <p:cNvPr id="27620" name="Rectangle 27619">
            <a:extLst>
              <a:ext uri="{FF2B5EF4-FFF2-40B4-BE49-F238E27FC236}">
                <a16:creationId xmlns:a16="http://schemas.microsoft.com/office/drawing/2014/main" id="{B13E4FDA-3CAE-457D-8FA2-60FD1CAF3BDC}"/>
              </a:ext>
            </a:extLst>
          </p:cNvPr>
          <p:cNvSpPr/>
          <p:nvPr/>
        </p:nvSpPr>
        <p:spPr>
          <a:xfrm>
            <a:off x="7315200" y="435070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  <a:hlinkClick r:id="rId8"/>
              </a:rPr>
              <a:t>aka.ms/MicroSkillingCowork</a:t>
            </a:r>
            <a:endParaRPr lang="en-US" dirty="0"/>
          </a:p>
        </p:txBody>
      </p:sp>
      <p:sp>
        <p:nvSpPr>
          <p:cNvPr id="27653" name="Rounded Rectangle 27652">
            <a:extLst>
              <a:ext uri="{FF2B5EF4-FFF2-40B4-BE49-F238E27FC236}">
                <a16:creationId xmlns:a16="http://schemas.microsoft.com/office/drawing/2014/main" id="{A0DF2792-7FB6-5C82-00A1-29A3E5CBDE45}"/>
              </a:ext>
            </a:extLst>
          </p:cNvPr>
          <p:cNvSpPr/>
          <p:nvPr/>
        </p:nvSpPr>
        <p:spPr>
          <a:xfrm>
            <a:off x="457200" y="479266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87" name="Rectangle 27686">
            <a:extLst>
              <a:ext uri="{FF2B5EF4-FFF2-40B4-BE49-F238E27FC236}">
                <a16:creationId xmlns:a16="http://schemas.microsoft.com/office/drawing/2014/main" id="{054FC164-1BAB-FEF4-F143-852FCEE17BAE}"/>
              </a:ext>
            </a:extLst>
          </p:cNvPr>
          <p:cNvSpPr/>
          <p:nvPr/>
        </p:nvSpPr>
        <p:spPr>
          <a:xfrm>
            <a:off x="457200" y="479266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22" name="Rectangle 27721">
            <a:extLst>
              <a:ext uri="{FF2B5EF4-FFF2-40B4-BE49-F238E27FC236}">
                <a16:creationId xmlns:a16="http://schemas.microsoft.com/office/drawing/2014/main" id="{F322CAC8-AF41-63DA-CC6B-D948803EF34D}"/>
              </a:ext>
            </a:extLst>
          </p:cNvPr>
          <p:cNvSpPr/>
          <p:nvPr/>
        </p:nvSpPr>
        <p:spPr>
          <a:xfrm>
            <a:off x="685800" y="483838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/>
                <a:ea typeface="Calibri"/>
                <a:cs typeface="Calibri"/>
              </a:rPr>
              <a:t>Partner Skilling </a:t>
            </a:r>
            <a:r>
              <a:rPr lang="en-US" sz="1400" b="1">
                <a:solidFill>
                  <a:srgbClr val="0E2A5C"/>
                </a:solidFill>
                <a:latin typeface="Calibri"/>
                <a:ea typeface="Calibri"/>
                <a:cs typeface="Calibri"/>
              </a:rPr>
              <a:t>Hub</a:t>
            </a:r>
            <a:endParaRPr lang="en-US"/>
          </a:p>
        </p:txBody>
      </p:sp>
      <p:sp>
        <p:nvSpPr>
          <p:cNvPr id="27758" name="Rectangle 27757">
            <a:extLst>
              <a:ext uri="{FF2B5EF4-FFF2-40B4-BE49-F238E27FC236}">
                <a16:creationId xmlns:a16="http://schemas.microsoft.com/office/drawing/2014/main" id="{1AA2A386-A20A-084C-B1F0-2D63D67D09E3}"/>
              </a:ext>
            </a:extLst>
          </p:cNvPr>
          <p:cNvSpPr/>
          <p:nvPr/>
        </p:nvSpPr>
        <p:spPr>
          <a:xfrm>
            <a:off x="4114800" y="483838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Trainings and journeys.</a:t>
            </a:r>
            <a:endParaRPr lang="en-US"/>
          </a:p>
        </p:txBody>
      </p:sp>
      <p:sp>
        <p:nvSpPr>
          <p:cNvPr id="27795" name="Rectangle 27794">
            <a:extLst>
              <a:ext uri="{FF2B5EF4-FFF2-40B4-BE49-F238E27FC236}">
                <a16:creationId xmlns:a16="http://schemas.microsoft.com/office/drawing/2014/main" id="{28E9FA59-109E-5FA1-85AC-24E7E52DCCEE}"/>
              </a:ext>
            </a:extLst>
          </p:cNvPr>
          <p:cNvSpPr/>
          <p:nvPr/>
        </p:nvSpPr>
        <p:spPr>
          <a:xfrm>
            <a:off x="7315200" y="483838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B5394"/>
                </a:solidFill>
                <a:effectLst/>
                <a:latin typeface="Calibri"/>
                <a:ea typeface="Calibri"/>
                <a:cs typeface="Calibri"/>
                <a:hlinkClick r:id="rId9"/>
              </a:rPr>
              <a:t>aka.ms/PartnerSkilling</a:t>
            </a:r>
            <a:endParaRPr lang="en-US" dirty="0"/>
          </a:p>
        </p:txBody>
      </p:sp>
      <p:sp>
        <p:nvSpPr>
          <p:cNvPr id="27833" name="Rounded Rectangle 27832">
            <a:extLst>
              <a:ext uri="{FF2B5EF4-FFF2-40B4-BE49-F238E27FC236}">
                <a16:creationId xmlns:a16="http://schemas.microsoft.com/office/drawing/2014/main" id="{50261675-D700-519D-4896-D38AC11D3DA1}"/>
              </a:ext>
            </a:extLst>
          </p:cNvPr>
          <p:cNvSpPr/>
          <p:nvPr/>
        </p:nvSpPr>
        <p:spPr>
          <a:xfrm>
            <a:off x="457200" y="528034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72" name="Rectangle 27871">
            <a:extLst>
              <a:ext uri="{FF2B5EF4-FFF2-40B4-BE49-F238E27FC236}">
                <a16:creationId xmlns:a16="http://schemas.microsoft.com/office/drawing/2014/main" id="{A45AA956-36EF-E719-84EC-0F692DBF5958}"/>
              </a:ext>
            </a:extLst>
          </p:cNvPr>
          <p:cNvSpPr/>
          <p:nvPr/>
        </p:nvSpPr>
        <p:spPr>
          <a:xfrm>
            <a:off x="457200" y="528034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12" name="Rectangle 27911">
            <a:extLst>
              <a:ext uri="{FF2B5EF4-FFF2-40B4-BE49-F238E27FC236}">
                <a16:creationId xmlns:a16="http://schemas.microsoft.com/office/drawing/2014/main" id="{436DA0D9-B9CC-7C56-FCF6-4FD774947611}"/>
              </a:ext>
            </a:extLst>
          </p:cNvPr>
          <p:cNvSpPr/>
          <p:nvPr/>
        </p:nvSpPr>
        <p:spPr>
          <a:xfrm>
            <a:off x="685800" y="532606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Why Microsoft for Partners</a:t>
            </a:r>
            <a:endParaRPr lang="en-US"/>
          </a:p>
        </p:txBody>
      </p:sp>
      <p:sp>
        <p:nvSpPr>
          <p:cNvPr id="27953" name="Rectangle 27952">
            <a:extLst>
              <a:ext uri="{FF2B5EF4-FFF2-40B4-BE49-F238E27FC236}">
                <a16:creationId xmlns:a16="http://schemas.microsoft.com/office/drawing/2014/main" id="{E1F10CCC-B641-7DFF-05B6-288A8FE87B8A}"/>
              </a:ext>
            </a:extLst>
          </p:cNvPr>
          <p:cNvSpPr/>
          <p:nvPr/>
        </p:nvSpPr>
        <p:spPr>
          <a:xfrm>
            <a:off x="4114800" y="532606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Compete battlecards.</a:t>
            </a:r>
            <a:endParaRPr lang="en-US"/>
          </a:p>
        </p:txBody>
      </p:sp>
      <p:sp>
        <p:nvSpPr>
          <p:cNvPr id="27995" name="Rectangle 27994">
            <a:extLst>
              <a:ext uri="{FF2B5EF4-FFF2-40B4-BE49-F238E27FC236}">
                <a16:creationId xmlns:a16="http://schemas.microsoft.com/office/drawing/2014/main" id="{A25F44A5-E27B-4EC6-AAA1-4B41CF2E08A0}"/>
              </a:ext>
            </a:extLst>
          </p:cNvPr>
          <p:cNvSpPr/>
          <p:nvPr/>
        </p:nvSpPr>
        <p:spPr>
          <a:xfrm>
            <a:off x="7315200" y="532606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5B2590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5B2590"/>
                </a:solidFill>
                <a:effectLst/>
                <a:latin typeface="Calibri"/>
                <a:ea typeface="Calibri"/>
                <a:cs typeface="Calibri"/>
                <a:hlinkClick r:id="rId10"/>
              </a:rPr>
              <a:t>aka.ms/WhyMicrosoftForPartners</a:t>
            </a:r>
            <a:endParaRPr lang="en-US" dirty="0"/>
          </a:p>
        </p:txBody>
      </p:sp>
      <p:sp>
        <p:nvSpPr>
          <p:cNvPr id="28038" name="Rounded Rectangle 28037">
            <a:extLst>
              <a:ext uri="{FF2B5EF4-FFF2-40B4-BE49-F238E27FC236}">
                <a16:creationId xmlns:a16="http://schemas.microsoft.com/office/drawing/2014/main" id="{08A97A3F-5C22-A816-2B88-F861FE1DD7E1}"/>
              </a:ext>
            </a:extLst>
          </p:cNvPr>
          <p:cNvSpPr/>
          <p:nvPr/>
        </p:nvSpPr>
        <p:spPr>
          <a:xfrm>
            <a:off x="457200" y="576802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82" name="Rectangle 28081">
            <a:extLst>
              <a:ext uri="{FF2B5EF4-FFF2-40B4-BE49-F238E27FC236}">
                <a16:creationId xmlns:a16="http://schemas.microsoft.com/office/drawing/2014/main" id="{22450752-4D65-3557-087F-A8F4BAAD78F4}"/>
              </a:ext>
            </a:extLst>
          </p:cNvPr>
          <p:cNvSpPr/>
          <p:nvPr/>
        </p:nvSpPr>
        <p:spPr>
          <a:xfrm>
            <a:off x="457200" y="576802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27" name="Rectangle 28126">
            <a:extLst>
              <a:ext uri="{FF2B5EF4-FFF2-40B4-BE49-F238E27FC236}">
                <a16:creationId xmlns:a16="http://schemas.microsoft.com/office/drawing/2014/main" id="{7B3371EE-C80E-D9C0-32C3-3DFAEBD9DC7A}"/>
              </a:ext>
            </a:extLst>
          </p:cNvPr>
          <p:cNvSpPr/>
          <p:nvPr/>
        </p:nvSpPr>
        <p:spPr>
          <a:xfrm>
            <a:off x="685800" y="581374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Partner-led Customer Trials</a:t>
            </a:r>
            <a:endParaRPr lang="en-US"/>
          </a:p>
        </p:txBody>
      </p:sp>
      <p:sp>
        <p:nvSpPr>
          <p:cNvPr id="28173" name="Rectangle 28172">
            <a:extLst>
              <a:ext uri="{FF2B5EF4-FFF2-40B4-BE49-F238E27FC236}">
                <a16:creationId xmlns:a16="http://schemas.microsoft.com/office/drawing/2014/main" id="{C478A7C4-75BD-4067-E5E0-F2921521CDCF}"/>
              </a:ext>
            </a:extLst>
          </p:cNvPr>
          <p:cNvSpPr/>
          <p:nvPr/>
        </p:nvSpPr>
        <p:spPr>
          <a:xfrm>
            <a:off x="4114800" y="581374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Trials for engagements.</a:t>
            </a:r>
            <a:endParaRPr lang="en-US"/>
          </a:p>
        </p:txBody>
      </p:sp>
      <p:sp>
        <p:nvSpPr>
          <p:cNvPr id="28220" name="Rectangle 28219">
            <a:extLst>
              <a:ext uri="{FF2B5EF4-FFF2-40B4-BE49-F238E27FC236}">
                <a16:creationId xmlns:a16="http://schemas.microsoft.com/office/drawing/2014/main" id="{E3DA01B3-CEDC-FD72-5702-19227A653297}"/>
              </a:ext>
            </a:extLst>
          </p:cNvPr>
          <p:cNvSpPr/>
          <p:nvPr/>
        </p:nvSpPr>
        <p:spPr>
          <a:xfrm>
            <a:off x="7315200" y="581374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5B2590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5B2590"/>
                </a:solidFill>
                <a:effectLst/>
                <a:latin typeface="Calibri"/>
                <a:ea typeface="Calibri"/>
                <a:cs typeface="Calibri"/>
                <a:hlinkClick r:id="rId11"/>
              </a:rPr>
              <a:t>aka.ms/ABSTrialsRequest</a:t>
            </a:r>
            <a:endParaRPr lang="en-US" dirty="0"/>
          </a:p>
        </p:txBody>
      </p:sp>
      <p:sp>
        <p:nvSpPr>
          <p:cNvPr id="35827" name="Rounded Rectangle 35826">
            <a:extLst>
              <a:ext uri="{FF2B5EF4-FFF2-40B4-BE49-F238E27FC236}">
                <a16:creationId xmlns:a16="http://schemas.microsoft.com/office/drawing/2014/main" id="{733F3FD6-A7C1-EBE0-E4A2-ED8198CB5D62}"/>
              </a:ext>
            </a:extLst>
          </p:cNvPr>
          <p:cNvSpPr/>
          <p:nvPr/>
        </p:nvSpPr>
        <p:spPr>
          <a:xfrm>
            <a:off x="457200" y="6255707"/>
            <a:ext cx="11277600" cy="44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29" name="Rectangle 35828">
            <a:extLst>
              <a:ext uri="{FF2B5EF4-FFF2-40B4-BE49-F238E27FC236}">
                <a16:creationId xmlns:a16="http://schemas.microsoft.com/office/drawing/2014/main" id="{E1A1A6E7-0DF2-C3AB-C4C7-7B0A165A1E03}"/>
              </a:ext>
            </a:extLst>
          </p:cNvPr>
          <p:cNvSpPr/>
          <p:nvPr/>
        </p:nvSpPr>
        <p:spPr>
          <a:xfrm>
            <a:off x="457200" y="6255707"/>
            <a:ext cx="45720" cy="4419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32" name="Rectangle 35831">
            <a:extLst>
              <a:ext uri="{FF2B5EF4-FFF2-40B4-BE49-F238E27FC236}">
                <a16:creationId xmlns:a16="http://schemas.microsoft.com/office/drawing/2014/main" id="{47C44328-FC62-2129-FD61-816326CA3837}"/>
              </a:ext>
            </a:extLst>
          </p:cNvPr>
          <p:cNvSpPr/>
          <p:nvPr/>
        </p:nvSpPr>
        <p:spPr>
          <a:xfrm>
            <a:off x="685800" y="6301427"/>
            <a:ext cx="3429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Cowork Offer Templates</a:t>
            </a:r>
            <a:endParaRPr lang="en-US"/>
          </a:p>
        </p:txBody>
      </p:sp>
      <p:sp>
        <p:nvSpPr>
          <p:cNvPr id="35836" name="Rectangle 35835">
            <a:extLst>
              <a:ext uri="{FF2B5EF4-FFF2-40B4-BE49-F238E27FC236}">
                <a16:creationId xmlns:a16="http://schemas.microsoft.com/office/drawing/2014/main" id="{9BC31DE9-9ADE-90B8-00A8-806A8820907D}"/>
              </a:ext>
            </a:extLst>
          </p:cNvPr>
          <p:cNvSpPr/>
          <p:nvPr/>
        </p:nvSpPr>
        <p:spPr>
          <a:xfrm>
            <a:off x="4114800" y="6301427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Three ready-made offers.</a:t>
            </a:r>
            <a:endParaRPr lang="en-US"/>
          </a:p>
        </p:txBody>
      </p:sp>
      <p:sp>
        <p:nvSpPr>
          <p:cNvPr id="35841" name="Rectangle 35840">
            <a:extLst>
              <a:ext uri="{FF2B5EF4-FFF2-40B4-BE49-F238E27FC236}">
                <a16:creationId xmlns:a16="http://schemas.microsoft.com/office/drawing/2014/main" id="{A7611DB7-D51F-902E-B805-1B48DEC84773}"/>
              </a:ext>
            </a:extLst>
          </p:cNvPr>
          <p:cNvSpPr/>
          <p:nvPr/>
        </p:nvSpPr>
        <p:spPr>
          <a:xfrm>
            <a:off x="7315200" y="6301427"/>
            <a:ext cx="41910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  <a:latin typeface="Calibri"/>
                <a:ea typeface="Calibri"/>
                <a:cs typeface="Calibri"/>
              </a:rPr>
              <a:t>↗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</a:rPr>
              <a:t>  </a:t>
            </a:r>
            <a:r>
              <a:rPr lang="en-US" sz="1400" dirty="0">
                <a:solidFill>
                  <a:srgbClr val="0F7B6C"/>
                </a:solidFill>
                <a:effectLst/>
                <a:latin typeface="Calibri"/>
                <a:ea typeface="Calibri"/>
                <a:cs typeface="Calibri"/>
                <a:hlinkClick r:id="rId12"/>
              </a:rPr>
              <a:t>aka.ms/CoworkOfferTemplates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53026B-905A-884F-1DEC-08520ED90C07}"/>
              </a:ext>
            </a:extLst>
          </p:cNvPr>
          <p:cNvSpPr/>
          <p:nvPr/>
        </p:nvSpPr>
        <p:spPr>
          <a:xfrm>
            <a:off x="1052185" y="1407090"/>
            <a:ext cx="2561573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u="sng" dirty="0">
                <a:solidFill>
                  <a:srgbClr val="0E2A5C"/>
                </a:solidFill>
                <a:latin typeface="Trebuchet MS"/>
              </a:rPr>
              <a:t>WHAT?</a:t>
            </a:r>
            <a:endParaRPr lang="en-US" sz="1100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153E1-0A5D-56A7-9F05-CC22FE25339B}"/>
              </a:ext>
            </a:extLst>
          </p:cNvPr>
          <p:cNvSpPr/>
          <p:nvPr/>
        </p:nvSpPr>
        <p:spPr>
          <a:xfrm>
            <a:off x="4319390" y="1407089"/>
            <a:ext cx="2561573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u="sng">
                <a:solidFill>
                  <a:srgbClr val="0E2A5C"/>
                </a:solidFill>
                <a:latin typeface="Trebuchet MS"/>
              </a:rPr>
              <a:t>WHAT'S IN IT?</a:t>
            </a:r>
            <a:endParaRPr lang="en-US" sz="1100" u="sn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1E32D-80D8-3DF9-C7BA-5549FE67D1F2}"/>
              </a:ext>
            </a:extLst>
          </p:cNvPr>
          <p:cNvSpPr/>
          <p:nvPr/>
        </p:nvSpPr>
        <p:spPr>
          <a:xfrm>
            <a:off x="8265089" y="1407089"/>
            <a:ext cx="2561573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u="sng">
                <a:solidFill>
                  <a:srgbClr val="0E2A5C"/>
                </a:solidFill>
                <a:latin typeface="Trebuchet MS"/>
              </a:rPr>
              <a:t>LINK</a:t>
            </a:r>
            <a:endParaRPr lang="en-US" sz="1600" u="sng"/>
          </a:p>
        </p:txBody>
      </p:sp>
    </p:spTree>
    <p:extLst>
      <p:ext uri="{BB962C8B-B14F-4D97-AF65-F5344CB8AC3E}">
        <p14:creationId xmlns:p14="http://schemas.microsoft.com/office/powerpoint/2010/main" val="245258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3F499-0F84-0235-FE3C-84A2EBC2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F4B5DC-6A42-9858-D77E-2A5AF36144C7}"/>
              </a:ext>
            </a:extLst>
          </p:cNvPr>
          <p:cNvSpPr/>
          <p:nvPr/>
        </p:nvSpPr>
        <p:spPr>
          <a:xfrm>
            <a:off x="569468" y="2621359"/>
            <a:ext cx="8387245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Trebuchet MS"/>
              </a:rPr>
              <a:t>APPENDIX: Build your advisory team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74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3" name="Rectangle 23522">
            <a:extLst>
              <a:ext uri="{FF2B5EF4-FFF2-40B4-BE49-F238E27FC236}">
                <a16:creationId xmlns:a16="http://schemas.microsoft.com/office/drawing/2014/main" id="{5AE9B8E9-C817-C6D3-836E-49B9073851AC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No single profile covers the practice — build a bench.</a:t>
            </a:r>
            <a:endParaRPr lang="en-US"/>
          </a:p>
        </p:txBody>
      </p:sp>
      <p:sp>
        <p:nvSpPr>
          <p:cNvPr id="23525" name="Rectangle 23524">
            <a:extLst>
              <a:ext uri="{FF2B5EF4-FFF2-40B4-BE49-F238E27FC236}">
                <a16:creationId xmlns:a16="http://schemas.microsoft.com/office/drawing/2014/main" id="{698819C6-A14F-592B-9ECF-794F3DA85277}"/>
              </a:ext>
            </a:extLst>
          </p:cNvPr>
          <p:cNvSpPr/>
          <p:nvPr/>
        </p:nvSpPr>
        <p:spPr>
          <a:xfrm>
            <a:off x="457200" y="1127760"/>
            <a:ext cx="11277600" cy="624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Five skill families, one shared value language. The core expectation: translate evidence into decisions, not report activity.</a:t>
            </a:r>
            <a:endParaRPr lang="en-US"/>
          </a:p>
        </p:txBody>
      </p:sp>
      <p:sp>
        <p:nvSpPr>
          <p:cNvPr id="23528" name="Rounded Rectangle 23527">
            <a:extLst>
              <a:ext uri="{FF2B5EF4-FFF2-40B4-BE49-F238E27FC236}">
                <a16:creationId xmlns:a16="http://schemas.microsoft.com/office/drawing/2014/main" id="{137DE897-6C13-9763-EB71-FA648E35490E}"/>
              </a:ext>
            </a:extLst>
          </p:cNvPr>
          <p:cNvSpPr/>
          <p:nvPr/>
        </p:nvSpPr>
        <p:spPr>
          <a:xfrm>
            <a:off x="457200" y="202692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32" name="Rectangle 23531">
            <a:extLst>
              <a:ext uri="{FF2B5EF4-FFF2-40B4-BE49-F238E27FC236}">
                <a16:creationId xmlns:a16="http://schemas.microsoft.com/office/drawing/2014/main" id="{75B1DCAD-1857-81F8-01F9-0FF3212CA560}"/>
              </a:ext>
            </a:extLst>
          </p:cNvPr>
          <p:cNvSpPr/>
          <p:nvPr/>
        </p:nvSpPr>
        <p:spPr>
          <a:xfrm>
            <a:off x="457200" y="2026920"/>
            <a:ext cx="45720" cy="7467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37" name="Rectangle 23536">
            <a:extLst>
              <a:ext uri="{FF2B5EF4-FFF2-40B4-BE49-F238E27FC236}">
                <a16:creationId xmlns:a16="http://schemas.microsoft.com/office/drawing/2014/main" id="{CF99F42B-B382-A1ED-B2F2-30F0C828ED78}"/>
              </a:ext>
            </a:extLst>
          </p:cNvPr>
          <p:cNvSpPr/>
          <p:nvPr/>
        </p:nvSpPr>
        <p:spPr>
          <a:xfrm>
            <a:off x="685800" y="2118360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7030A0"/>
                </a:solidFill>
                <a:effectLst/>
                <a:latin typeface="Trebuchet MS" panose="020B0603020202020204" pitchFamily="34" charset="0"/>
              </a:rPr>
              <a:t>BUSINESS &amp; CONSULTING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3543" name="Rectangle 23542">
            <a:extLst>
              <a:ext uri="{FF2B5EF4-FFF2-40B4-BE49-F238E27FC236}">
                <a16:creationId xmlns:a16="http://schemas.microsoft.com/office/drawing/2014/main" id="{74A09988-0680-B5C7-C5F0-E272B1BBAAAF}"/>
              </a:ext>
            </a:extLst>
          </p:cNvPr>
          <p:cNvSpPr/>
          <p:nvPr/>
        </p:nvSpPr>
        <p:spPr>
          <a:xfrm>
            <a:off x="3657600" y="2118360"/>
            <a:ext cx="7848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Executive facilitation  ·  discovery and workshop design  ·  business strategy and industry expertise  ·  process and operating-model redesign</a:t>
            </a:r>
            <a:endParaRPr lang="en-US"/>
          </a:p>
        </p:txBody>
      </p:sp>
      <p:sp>
        <p:nvSpPr>
          <p:cNvPr id="23550" name="Rounded Rectangle 23549">
            <a:extLst>
              <a:ext uri="{FF2B5EF4-FFF2-40B4-BE49-F238E27FC236}">
                <a16:creationId xmlns:a16="http://schemas.microsoft.com/office/drawing/2014/main" id="{27C656B7-420F-7E70-D5D7-DD2221E18D45}"/>
              </a:ext>
            </a:extLst>
          </p:cNvPr>
          <p:cNvSpPr/>
          <p:nvPr/>
        </p:nvSpPr>
        <p:spPr>
          <a:xfrm>
            <a:off x="457200" y="286512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8" name="Rectangle 23557">
            <a:extLst>
              <a:ext uri="{FF2B5EF4-FFF2-40B4-BE49-F238E27FC236}">
                <a16:creationId xmlns:a16="http://schemas.microsoft.com/office/drawing/2014/main" id="{F0A2D063-4293-1C13-0059-46F5E562EFF6}"/>
              </a:ext>
            </a:extLst>
          </p:cNvPr>
          <p:cNvSpPr/>
          <p:nvPr/>
        </p:nvSpPr>
        <p:spPr>
          <a:xfrm>
            <a:off x="457200" y="2865120"/>
            <a:ext cx="45720" cy="7467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67" name="Rectangle 23566">
            <a:extLst>
              <a:ext uri="{FF2B5EF4-FFF2-40B4-BE49-F238E27FC236}">
                <a16:creationId xmlns:a16="http://schemas.microsoft.com/office/drawing/2014/main" id="{3CAC8823-47B5-9A3D-5F15-9C3C9CACA953}"/>
              </a:ext>
            </a:extLst>
          </p:cNvPr>
          <p:cNvSpPr/>
          <p:nvPr/>
        </p:nvSpPr>
        <p:spPr>
          <a:xfrm>
            <a:off x="685800" y="2956560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7030A0"/>
                </a:solidFill>
                <a:effectLst/>
                <a:latin typeface="Trebuchet MS" panose="020B0603020202020204" pitchFamily="34" charset="0"/>
              </a:rPr>
              <a:t>VALUE &amp; FINANCE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3577" name="Rectangle 23576">
            <a:extLst>
              <a:ext uri="{FF2B5EF4-FFF2-40B4-BE49-F238E27FC236}">
                <a16:creationId xmlns:a16="http://schemas.microsoft.com/office/drawing/2014/main" id="{E3FBC797-362A-81F5-1AF0-8CEF45BB1656}"/>
              </a:ext>
            </a:extLst>
          </p:cNvPr>
          <p:cNvSpPr/>
          <p:nvPr/>
        </p:nvSpPr>
        <p:spPr>
          <a:xfrm>
            <a:off x="3657600" y="2956560"/>
            <a:ext cx="7848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ROI and business cases  ·  KPI and benefits frameworks  ·  AI economics and unit economics  ·  value realisation and FinOps</a:t>
            </a:r>
            <a:endParaRPr lang="en-US"/>
          </a:p>
        </p:txBody>
      </p:sp>
      <p:sp>
        <p:nvSpPr>
          <p:cNvPr id="23588" name="Rounded Rectangle 23587">
            <a:extLst>
              <a:ext uri="{FF2B5EF4-FFF2-40B4-BE49-F238E27FC236}">
                <a16:creationId xmlns:a16="http://schemas.microsoft.com/office/drawing/2014/main" id="{D61FD10E-A051-37A6-3634-8540241E77A5}"/>
              </a:ext>
            </a:extLst>
          </p:cNvPr>
          <p:cNvSpPr/>
          <p:nvPr/>
        </p:nvSpPr>
        <p:spPr>
          <a:xfrm>
            <a:off x="457200" y="370332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00" name="Rectangle 23599">
            <a:extLst>
              <a:ext uri="{FF2B5EF4-FFF2-40B4-BE49-F238E27FC236}">
                <a16:creationId xmlns:a16="http://schemas.microsoft.com/office/drawing/2014/main" id="{CDC14FD4-28C9-1115-812B-C4562E4D116A}"/>
              </a:ext>
            </a:extLst>
          </p:cNvPr>
          <p:cNvSpPr/>
          <p:nvPr/>
        </p:nvSpPr>
        <p:spPr>
          <a:xfrm>
            <a:off x="457200" y="3703320"/>
            <a:ext cx="45720" cy="7467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13" name="Rectangle 23612">
            <a:extLst>
              <a:ext uri="{FF2B5EF4-FFF2-40B4-BE49-F238E27FC236}">
                <a16:creationId xmlns:a16="http://schemas.microsoft.com/office/drawing/2014/main" id="{B556EF11-EC48-A643-2632-43A6F418E604}"/>
              </a:ext>
            </a:extLst>
          </p:cNvPr>
          <p:cNvSpPr/>
          <p:nvPr/>
        </p:nvSpPr>
        <p:spPr>
          <a:xfrm>
            <a:off x="685800" y="3794760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7030A0"/>
                </a:solidFill>
                <a:effectLst/>
                <a:latin typeface="Trebuchet MS" panose="020B0603020202020204" pitchFamily="34" charset="0"/>
              </a:rPr>
              <a:t>AI TRANSFORMATION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3627" name="Rectangle 23626">
            <a:extLst>
              <a:ext uri="{FF2B5EF4-FFF2-40B4-BE49-F238E27FC236}">
                <a16:creationId xmlns:a16="http://schemas.microsoft.com/office/drawing/2014/main" id="{0B563184-7C6D-8F3F-8C42-FBC881BB23CF}"/>
              </a:ext>
            </a:extLst>
          </p:cNvPr>
          <p:cNvSpPr/>
          <p:nvPr/>
        </p:nvSpPr>
        <p:spPr>
          <a:xfrm>
            <a:off x="3657600" y="3794760"/>
            <a:ext cx="7848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AI strategy and readiness  ·  workflow and agent opportunity mapping  ·  transformation roadmaps  ·  technology-to-outcome translation</a:t>
            </a:r>
            <a:endParaRPr lang="en-US"/>
          </a:p>
        </p:txBody>
      </p:sp>
      <p:sp>
        <p:nvSpPr>
          <p:cNvPr id="23642" name="Rounded Rectangle 23641">
            <a:extLst>
              <a:ext uri="{FF2B5EF4-FFF2-40B4-BE49-F238E27FC236}">
                <a16:creationId xmlns:a16="http://schemas.microsoft.com/office/drawing/2014/main" id="{E962214C-9A80-EAAE-6FA4-1D6D785541DB}"/>
              </a:ext>
            </a:extLst>
          </p:cNvPr>
          <p:cNvSpPr/>
          <p:nvPr/>
        </p:nvSpPr>
        <p:spPr>
          <a:xfrm>
            <a:off x="457200" y="454152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58" name="Rectangle 23657">
            <a:extLst>
              <a:ext uri="{FF2B5EF4-FFF2-40B4-BE49-F238E27FC236}">
                <a16:creationId xmlns:a16="http://schemas.microsoft.com/office/drawing/2014/main" id="{6966825A-CFBF-BAD1-C6EA-EBCE37A6FCF3}"/>
              </a:ext>
            </a:extLst>
          </p:cNvPr>
          <p:cNvSpPr/>
          <p:nvPr/>
        </p:nvSpPr>
        <p:spPr>
          <a:xfrm>
            <a:off x="457200" y="4541520"/>
            <a:ext cx="45720" cy="7467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75" name="Rectangle 23674">
            <a:extLst>
              <a:ext uri="{FF2B5EF4-FFF2-40B4-BE49-F238E27FC236}">
                <a16:creationId xmlns:a16="http://schemas.microsoft.com/office/drawing/2014/main" id="{26ED04A8-8E62-A314-64BA-BC6EE6865DF7}"/>
              </a:ext>
            </a:extLst>
          </p:cNvPr>
          <p:cNvSpPr/>
          <p:nvPr/>
        </p:nvSpPr>
        <p:spPr>
          <a:xfrm>
            <a:off x="685800" y="4632960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7030A0"/>
                </a:solidFill>
                <a:effectLst/>
                <a:latin typeface="Trebuchet MS" panose="020B0603020202020204" pitchFamily="34" charset="0"/>
              </a:rPr>
              <a:t>CHANGE &amp; ADOPTION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3693" name="Rectangle 23692">
            <a:extLst>
              <a:ext uri="{FF2B5EF4-FFF2-40B4-BE49-F238E27FC236}">
                <a16:creationId xmlns:a16="http://schemas.microsoft.com/office/drawing/2014/main" id="{863938D8-6C60-8FEF-E00A-64BC383D7750}"/>
              </a:ext>
            </a:extLst>
          </p:cNvPr>
          <p:cNvSpPr/>
          <p:nvPr/>
        </p:nvSpPr>
        <p:spPr>
          <a:xfrm>
            <a:off x="3657600" y="4632960"/>
            <a:ext cx="7848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Change strategy and communications  ·  learning and champion programmes  ·  behavioural adoption  ·  culture and leadership alignment</a:t>
            </a:r>
            <a:endParaRPr lang="en-US"/>
          </a:p>
        </p:txBody>
      </p:sp>
      <p:sp>
        <p:nvSpPr>
          <p:cNvPr id="23712" name="Rounded Rectangle 23711">
            <a:extLst>
              <a:ext uri="{FF2B5EF4-FFF2-40B4-BE49-F238E27FC236}">
                <a16:creationId xmlns:a16="http://schemas.microsoft.com/office/drawing/2014/main" id="{1582CCAC-5553-9031-957A-F8D4469706C7}"/>
              </a:ext>
            </a:extLst>
          </p:cNvPr>
          <p:cNvSpPr/>
          <p:nvPr/>
        </p:nvSpPr>
        <p:spPr>
          <a:xfrm>
            <a:off x="457200" y="5379720"/>
            <a:ext cx="11277600" cy="746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32" name="Rectangle 23731">
            <a:extLst>
              <a:ext uri="{FF2B5EF4-FFF2-40B4-BE49-F238E27FC236}">
                <a16:creationId xmlns:a16="http://schemas.microsoft.com/office/drawing/2014/main" id="{614BB971-5459-D233-70EC-0041663DAF73}"/>
              </a:ext>
            </a:extLst>
          </p:cNvPr>
          <p:cNvSpPr/>
          <p:nvPr/>
        </p:nvSpPr>
        <p:spPr>
          <a:xfrm>
            <a:off x="457200" y="5379720"/>
            <a:ext cx="45720" cy="74676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53" name="Rectangle 23752">
            <a:extLst>
              <a:ext uri="{FF2B5EF4-FFF2-40B4-BE49-F238E27FC236}">
                <a16:creationId xmlns:a16="http://schemas.microsoft.com/office/drawing/2014/main" id="{A157FC58-E42C-6C81-F7F4-4E4FC1DC0368}"/>
              </a:ext>
            </a:extLst>
          </p:cNvPr>
          <p:cNvSpPr/>
          <p:nvPr/>
        </p:nvSpPr>
        <p:spPr>
          <a:xfrm>
            <a:off x="685800" y="5471160"/>
            <a:ext cx="29718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5B2590"/>
                </a:solidFill>
                <a:effectLst/>
                <a:latin typeface="Trebuchet MS" panose="020B0603020202020204" pitchFamily="34" charset="0"/>
              </a:rPr>
              <a:t>DATA &amp; </a:t>
            </a:r>
            <a:r>
              <a:rPr lang="en-US" sz="1400" b="1" dirty="0">
                <a:solidFill>
                  <a:srgbClr val="7030A0"/>
                </a:solidFill>
                <a:effectLst/>
                <a:latin typeface="Trebuchet MS" panose="020B0603020202020204" pitchFamily="34" charset="0"/>
              </a:rPr>
              <a:t>ANALYTICS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3775" name="Rectangle 23774">
            <a:extLst>
              <a:ext uri="{FF2B5EF4-FFF2-40B4-BE49-F238E27FC236}">
                <a16:creationId xmlns:a16="http://schemas.microsoft.com/office/drawing/2014/main" id="{1BBF8731-65F7-0758-43BE-CD594D49C8AD}"/>
              </a:ext>
            </a:extLst>
          </p:cNvPr>
          <p:cNvSpPr/>
          <p:nvPr/>
        </p:nvSpPr>
        <p:spPr>
          <a:xfrm>
            <a:off x="3657600" y="5471160"/>
            <a:ext cx="7848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Telemetry interpretation  ·  Copilot Analytics and dashboards  ·  impact tracking  ·  executive insight storytelling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54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8" name="Rectangle 23797">
            <a:extLst>
              <a:ext uri="{FF2B5EF4-FFF2-40B4-BE49-F238E27FC236}">
                <a16:creationId xmlns:a16="http://schemas.microsoft.com/office/drawing/2014/main" id="{F9F748D6-00BD-9DBB-178E-9C8211C9BE5A}"/>
              </a:ext>
            </a:extLst>
          </p:cNvPr>
          <p:cNvSpPr/>
          <p:nvPr/>
        </p:nvSpPr>
        <p:spPr>
          <a:xfrm>
            <a:off x="457200" y="457200"/>
            <a:ext cx="11277600" cy="929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 lean core team, drawing on specialists as pipeline grows.</a:t>
            </a:r>
            <a:endParaRPr lang="en-US"/>
          </a:p>
        </p:txBody>
      </p:sp>
      <p:sp>
        <p:nvSpPr>
          <p:cNvPr id="23822" name="Rectangle 23821">
            <a:extLst>
              <a:ext uri="{FF2B5EF4-FFF2-40B4-BE49-F238E27FC236}">
                <a16:creationId xmlns:a16="http://schemas.microsoft.com/office/drawing/2014/main" id="{E79AA5AD-824C-DBD6-0505-2F36358ADAE8}"/>
              </a:ext>
            </a:extLst>
          </p:cNvPr>
          <p:cNvSpPr/>
          <p:nvPr/>
        </p:nvSpPr>
        <p:spPr>
          <a:xfrm>
            <a:off x="457200" y="152400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Seven seats cover the advisory engine. Start with the first three and borrow the rest.</a:t>
            </a:r>
            <a:endParaRPr lang="en-US"/>
          </a:p>
        </p:txBody>
      </p:sp>
      <p:sp>
        <p:nvSpPr>
          <p:cNvPr id="23847" name="Rectangle 23846">
            <a:extLst>
              <a:ext uri="{FF2B5EF4-FFF2-40B4-BE49-F238E27FC236}">
                <a16:creationId xmlns:a16="http://schemas.microsoft.com/office/drawing/2014/main" id="{E2BA90F0-E9BE-144B-3B8F-F7439D17DF83}"/>
              </a:ext>
            </a:extLst>
          </p:cNvPr>
          <p:cNvSpPr/>
          <p:nvPr/>
        </p:nvSpPr>
        <p:spPr>
          <a:xfrm>
            <a:off x="457200" y="217932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73" name="Rectangle 23872">
            <a:extLst>
              <a:ext uri="{FF2B5EF4-FFF2-40B4-BE49-F238E27FC236}">
                <a16:creationId xmlns:a16="http://schemas.microsoft.com/office/drawing/2014/main" id="{7D6698E4-4F05-C2B6-D9C3-DA2BED460833}"/>
              </a:ext>
            </a:extLst>
          </p:cNvPr>
          <p:cNvSpPr/>
          <p:nvPr/>
        </p:nvSpPr>
        <p:spPr>
          <a:xfrm>
            <a:off x="457200" y="217932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00" name="Rectangle 23899">
            <a:extLst>
              <a:ext uri="{FF2B5EF4-FFF2-40B4-BE49-F238E27FC236}">
                <a16:creationId xmlns:a16="http://schemas.microsoft.com/office/drawing/2014/main" id="{583FBE64-7E4A-0D0B-97A4-E7201EF0E683}"/>
              </a:ext>
            </a:extLst>
          </p:cNvPr>
          <p:cNvSpPr/>
          <p:nvPr/>
        </p:nvSpPr>
        <p:spPr>
          <a:xfrm>
            <a:off x="662940" y="2385060"/>
            <a:ext cx="223647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AI Advisory Lead</a:t>
            </a:r>
            <a:endParaRPr lang="en-US"/>
          </a:p>
        </p:txBody>
      </p:sp>
      <p:sp>
        <p:nvSpPr>
          <p:cNvPr id="23928" name="Rectangle 23927">
            <a:extLst>
              <a:ext uri="{FF2B5EF4-FFF2-40B4-BE49-F238E27FC236}">
                <a16:creationId xmlns:a16="http://schemas.microsoft.com/office/drawing/2014/main" id="{C3CBBE1E-5C3D-8043-1B8A-B4F2AC168C0B}"/>
              </a:ext>
            </a:extLst>
          </p:cNvPr>
          <p:cNvSpPr/>
          <p:nvPr/>
        </p:nvSpPr>
        <p:spPr>
          <a:xfrm>
            <a:off x="662940" y="302514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Executive dialogue, strategy and account transformation.</a:t>
            </a:r>
            <a:endParaRPr lang="en-US"/>
          </a:p>
        </p:txBody>
      </p:sp>
      <p:sp>
        <p:nvSpPr>
          <p:cNvPr id="23957" name="Rectangle 23956">
            <a:extLst>
              <a:ext uri="{FF2B5EF4-FFF2-40B4-BE49-F238E27FC236}">
                <a16:creationId xmlns:a16="http://schemas.microsoft.com/office/drawing/2014/main" id="{6A8A5EAA-6E32-CF26-052D-060D93256383}"/>
              </a:ext>
            </a:extLst>
          </p:cNvPr>
          <p:cNvSpPr/>
          <p:nvPr/>
        </p:nvSpPr>
        <p:spPr>
          <a:xfrm>
            <a:off x="3333750" y="217932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87" name="Rectangle 23986">
            <a:extLst>
              <a:ext uri="{FF2B5EF4-FFF2-40B4-BE49-F238E27FC236}">
                <a16:creationId xmlns:a16="http://schemas.microsoft.com/office/drawing/2014/main" id="{A9F00947-0318-9122-2B53-B5CAC32AF3C2}"/>
              </a:ext>
            </a:extLst>
          </p:cNvPr>
          <p:cNvSpPr/>
          <p:nvPr/>
        </p:nvSpPr>
        <p:spPr>
          <a:xfrm>
            <a:off x="3333750" y="217932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18" name="Rectangle 24017">
            <a:extLst>
              <a:ext uri="{FF2B5EF4-FFF2-40B4-BE49-F238E27FC236}">
                <a16:creationId xmlns:a16="http://schemas.microsoft.com/office/drawing/2014/main" id="{550D13E5-D265-90AE-63BF-6021E1FABD69}"/>
              </a:ext>
            </a:extLst>
          </p:cNvPr>
          <p:cNvSpPr/>
          <p:nvPr/>
        </p:nvSpPr>
        <p:spPr>
          <a:xfrm>
            <a:off x="3539490" y="238506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Business Value Consultant</a:t>
            </a:r>
            <a:endParaRPr lang="en-US"/>
          </a:p>
        </p:txBody>
      </p:sp>
      <p:sp>
        <p:nvSpPr>
          <p:cNvPr id="24050" name="Rectangle 24049">
            <a:extLst>
              <a:ext uri="{FF2B5EF4-FFF2-40B4-BE49-F238E27FC236}">
                <a16:creationId xmlns:a16="http://schemas.microsoft.com/office/drawing/2014/main" id="{335266F1-173F-4056-6303-CFE5E46C9637}"/>
              </a:ext>
            </a:extLst>
          </p:cNvPr>
          <p:cNvSpPr/>
          <p:nvPr/>
        </p:nvSpPr>
        <p:spPr>
          <a:xfrm>
            <a:off x="3539490" y="302514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Baseline, ROI, KPIs and benefits realisation.</a:t>
            </a:r>
            <a:endParaRPr lang="en-US"/>
          </a:p>
        </p:txBody>
      </p:sp>
      <p:sp>
        <p:nvSpPr>
          <p:cNvPr id="24083" name="Rectangle 24082">
            <a:extLst>
              <a:ext uri="{FF2B5EF4-FFF2-40B4-BE49-F238E27FC236}">
                <a16:creationId xmlns:a16="http://schemas.microsoft.com/office/drawing/2014/main" id="{6A48D8D7-D04F-0FC5-02E9-393F7CBA7CE4}"/>
              </a:ext>
            </a:extLst>
          </p:cNvPr>
          <p:cNvSpPr/>
          <p:nvPr/>
        </p:nvSpPr>
        <p:spPr>
          <a:xfrm>
            <a:off x="6210300" y="217932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17" name="Rectangle 24116">
            <a:extLst>
              <a:ext uri="{FF2B5EF4-FFF2-40B4-BE49-F238E27FC236}">
                <a16:creationId xmlns:a16="http://schemas.microsoft.com/office/drawing/2014/main" id="{E54F49DE-8135-58BB-0C87-690171597A41}"/>
              </a:ext>
            </a:extLst>
          </p:cNvPr>
          <p:cNvSpPr/>
          <p:nvPr/>
        </p:nvSpPr>
        <p:spPr>
          <a:xfrm>
            <a:off x="6210300" y="217932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52" name="Rectangle 24151">
            <a:extLst>
              <a:ext uri="{FF2B5EF4-FFF2-40B4-BE49-F238E27FC236}">
                <a16:creationId xmlns:a16="http://schemas.microsoft.com/office/drawing/2014/main" id="{719F5C42-DA66-A73E-9B4B-5492A4E9579D}"/>
              </a:ext>
            </a:extLst>
          </p:cNvPr>
          <p:cNvSpPr/>
          <p:nvPr/>
        </p:nvSpPr>
        <p:spPr>
          <a:xfrm>
            <a:off x="6416040" y="2385060"/>
            <a:ext cx="223647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Industry SME</a:t>
            </a:r>
            <a:endParaRPr lang="en-US"/>
          </a:p>
        </p:txBody>
      </p:sp>
      <p:sp>
        <p:nvSpPr>
          <p:cNvPr id="24188" name="Rectangle 24187">
            <a:extLst>
              <a:ext uri="{FF2B5EF4-FFF2-40B4-BE49-F238E27FC236}">
                <a16:creationId xmlns:a16="http://schemas.microsoft.com/office/drawing/2014/main" id="{DFC09E9E-8608-CBCF-7163-F62F5AC40607}"/>
              </a:ext>
            </a:extLst>
          </p:cNvPr>
          <p:cNvSpPr/>
          <p:nvPr/>
        </p:nvSpPr>
        <p:spPr>
          <a:xfrm>
            <a:off x="6416040" y="3025140"/>
            <a:ext cx="223647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Industry context, process credibility, priority scenarios.</a:t>
            </a:r>
            <a:endParaRPr lang="en-US"/>
          </a:p>
        </p:txBody>
      </p:sp>
      <p:sp>
        <p:nvSpPr>
          <p:cNvPr id="24225" name="Rectangle 24224">
            <a:extLst>
              <a:ext uri="{FF2B5EF4-FFF2-40B4-BE49-F238E27FC236}">
                <a16:creationId xmlns:a16="http://schemas.microsoft.com/office/drawing/2014/main" id="{C51372EA-0A54-33C4-3373-007D3C0EF292}"/>
              </a:ext>
            </a:extLst>
          </p:cNvPr>
          <p:cNvSpPr/>
          <p:nvPr/>
        </p:nvSpPr>
        <p:spPr>
          <a:xfrm>
            <a:off x="9086850" y="217932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63" name="Rectangle 24262">
            <a:extLst>
              <a:ext uri="{FF2B5EF4-FFF2-40B4-BE49-F238E27FC236}">
                <a16:creationId xmlns:a16="http://schemas.microsoft.com/office/drawing/2014/main" id="{253A932F-3399-9B6C-561D-AE3241DCFDBE}"/>
              </a:ext>
            </a:extLst>
          </p:cNvPr>
          <p:cNvSpPr/>
          <p:nvPr/>
        </p:nvSpPr>
        <p:spPr>
          <a:xfrm>
            <a:off x="9086850" y="217932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02" name="Rectangle 24301">
            <a:extLst>
              <a:ext uri="{FF2B5EF4-FFF2-40B4-BE49-F238E27FC236}">
                <a16:creationId xmlns:a16="http://schemas.microsoft.com/office/drawing/2014/main" id="{08F06D6D-A328-DD00-FFE6-AD92BA0B107A}"/>
              </a:ext>
            </a:extLst>
          </p:cNvPr>
          <p:cNvSpPr/>
          <p:nvPr/>
        </p:nvSpPr>
        <p:spPr>
          <a:xfrm>
            <a:off x="9292590" y="238506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Process Transformation Lead</a:t>
            </a:r>
            <a:endParaRPr lang="en-US"/>
          </a:p>
        </p:txBody>
      </p:sp>
      <p:sp>
        <p:nvSpPr>
          <p:cNvPr id="24342" name="Rectangle 24341">
            <a:extLst>
              <a:ext uri="{FF2B5EF4-FFF2-40B4-BE49-F238E27FC236}">
                <a16:creationId xmlns:a16="http://schemas.microsoft.com/office/drawing/2014/main" id="{941E873F-27B2-6997-544F-EBE04A1960BD}"/>
              </a:ext>
            </a:extLst>
          </p:cNvPr>
          <p:cNvSpPr/>
          <p:nvPr/>
        </p:nvSpPr>
        <p:spPr>
          <a:xfrm>
            <a:off x="9292590" y="302514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Workflow redesign and operating-model change.</a:t>
            </a:r>
            <a:endParaRPr lang="en-US"/>
          </a:p>
        </p:txBody>
      </p:sp>
      <p:sp>
        <p:nvSpPr>
          <p:cNvPr id="24383" name="Rectangle 24382">
            <a:extLst>
              <a:ext uri="{FF2B5EF4-FFF2-40B4-BE49-F238E27FC236}">
                <a16:creationId xmlns:a16="http://schemas.microsoft.com/office/drawing/2014/main" id="{F30C692F-CE7B-D270-8B8E-EA735227655F}"/>
              </a:ext>
            </a:extLst>
          </p:cNvPr>
          <p:cNvSpPr/>
          <p:nvPr/>
        </p:nvSpPr>
        <p:spPr>
          <a:xfrm>
            <a:off x="457200" y="435864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25" name="Rectangle 24424">
            <a:extLst>
              <a:ext uri="{FF2B5EF4-FFF2-40B4-BE49-F238E27FC236}">
                <a16:creationId xmlns:a16="http://schemas.microsoft.com/office/drawing/2014/main" id="{AFE2F7FB-547B-8B27-0A0F-64900884EBF8}"/>
              </a:ext>
            </a:extLst>
          </p:cNvPr>
          <p:cNvSpPr/>
          <p:nvPr/>
        </p:nvSpPr>
        <p:spPr>
          <a:xfrm>
            <a:off x="457200" y="435864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68" name="Rectangle 24467">
            <a:extLst>
              <a:ext uri="{FF2B5EF4-FFF2-40B4-BE49-F238E27FC236}">
                <a16:creationId xmlns:a16="http://schemas.microsoft.com/office/drawing/2014/main" id="{825806FD-07B3-93D3-94F0-308A99FFC8F2}"/>
              </a:ext>
            </a:extLst>
          </p:cNvPr>
          <p:cNvSpPr/>
          <p:nvPr/>
        </p:nvSpPr>
        <p:spPr>
          <a:xfrm>
            <a:off x="662940" y="456438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Adoption &amp; Change Lead</a:t>
            </a:r>
            <a:endParaRPr lang="en-US"/>
          </a:p>
        </p:txBody>
      </p:sp>
      <p:sp>
        <p:nvSpPr>
          <p:cNvPr id="24512" name="Rectangle 24511">
            <a:extLst>
              <a:ext uri="{FF2B5EF4-FFF2-40B4-BE49-F238E27FC236}">
                <a16:creationId xmlns:a16="http://schemas.microsoft.com/office/drawing/2014/main" id="{55C2234A-ACD9-9F2B-A8F0-E3EF814892EF}"/>
              </a:ext>
            </a:extLst>
          </p:cNvPr>
          <p:cNvSpPr/>
          <p:nvPr/>
        </p:nvSpPr>
        <p:spPr>
          <a:xfrm>
            <a:off x="662940" y="520446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Behaviour, communications, learning and adoption.</a:t>
            </a:r>
            <a:endParaRPr lang="en-US"/>
          </a:p>
        </p:txBody>
      </p:sp>
      <p:sp>
        <p:nvSpPr>
          <p:cNvPr id="24557" name="Rectangle 24556">
            <a:extLst>
              <a:ext uri="{FF2B5EF4-FFF2-40B4-BE49-F238E27FC236}">
                <a16:creationId xmlns:a16="http://schemas.microsoft.com/office/drawing/2014/main" id="{9B9C9641-F86A-5CC0-258A-C1086981E568}"/>
              </a:ext>
            </a:extLst>
          </p:cNvPr>
          <p:cNvSpPr/>
          <p:nvPr/>
        </p:nvSpPr>
        <p:spPr>
          <a:xfrm>
            <a:off x="3333750" y="435864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03" name="Rectangle 24602">
            <a:extLst>
              <a:ext uri="{FF2B5EF4-FFF2-40B4-BE49-F238E27FC236}">
                <a16:creationId xmlns:a16="http://schemas.microsoft.com/office/drawing/2014/main" id="{151780B8-5B0E-A330-F5C4-016594567775}"/>
              </a:ext>
            </a:extLst>
          </p:cNvPr>
          <p:cNvSpPr/>
          <p:nvPr/>
        </p:nvSpPr>
        <p:spPr>
          <a:xfrm>
            <a:off x="3333750" y="435864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50" name="Rectangle 24649">
            <a:extLst>
              <a:ext uri="{FF2B5EF4-FFF2-40B4-BE49-F238E27FC236}">
                <a16:creationId xmlns:a16="http://schemas.microsoft.com/office/drawing/2014/main" id="{1FB2E102-F17B-CB13-4667-9F34E92E565A}"/>
              </a:ext>
            </a:extLst>
          </p:cNvPr>
          <p:cNvSpPr/>
          <p:nvPr/>
        </p:nvSpPr>
        <p:spPr>
          <a:xfrm>
            <a:off x="3539490" y="4564380"/>
            <a:ext cx="223647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Analytics Lead</a:t>
            </a:r>
            <a:endParaRPr lang="en-US"/>
          </a:p>
        </p:txBody>
      </p:sp>
      <p:sp>
        <p:nvSpPr>
          <p:cNvPr id="24698" name="Rectangle 24697">
            <a:extLst>
              <a:ext uri="{FF2B5EF4-FFF2-40B4-BE49-F238E27FC236}">
                <a16:creationId xmlns:a16="http://schemas.microsoft.com/office/drawing/2014/main" id="{033AD2F4-CB22-D137-87DF-372C655A0DD5}"/>
              </a:ext>
            </a:extLst>
          </p:cNvPr>
          <p:cNvSpPr/>
          <p:nvPr/>
        </p:nvSpPr>
        <p:spPr>
          <a:xfrm>
            <a:off x="3539490" y="520446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Measurement architecture, interpretation, reporting.</a:t>
            </a:r>
            <a:endParaRPr lang="en-US"/>
          </a:p>
        </p:txBody>
      </p:sp>
      <p:sp>
        <p:nvSpPr>
          <p:cNvPr id="24747" name="Rectangle 24746">
            <a:extLst>
              <a:ext uri="{FF2B5EF4-FFF2-40B4-BE49-F238E27FC236}">
                <a16:creationId xmlns:a16="http://schemas.microsoft.com/office/drawing/2014/main" id="{1E078F7E-C5AD-9E68-63E1-3BAFAA95AEB8}"/>
              </a:ext>
            </a:extLst>
          </p:cNvPr>
          <p:cNvSpPr/>
          <p:nvPr/>
        </p:nvSpPr>
        <p:spPr>
          <a:xfrm>
            <a:off x="6210300" y="4358640"/>
            <a:ext cx="2647950" cy="19735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97" name="Rectangle 24796">
            <a:extLst>
              <a:ext uri="{FF2B5EF4-FFF2-40B4-BE49-F238E27FC236}">
                <a16:creationId xmlns:a16="http://schemas.microsoft.com/office/drawing/2014/main" id="{1B649C31-0F03-7D9F-5DCC-61930FE4DC59}"/>
              </a:ext>
            </a:extLst>
          </p:cNvPr>
          <p:cNvSpPr/>
          <p:nvPr/>
        </p:nvSpPr>
        <p:spPr>
          <a:xfrm>
            <a:off x="6210300" y="4358640"/>
            <a:ext cx="2647950" cy="68580"/>
          </a:xfrm>
          <a:prstGeom prst="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48" name="Rectangle 24847">
            <a:extLst>
              <a:ext uri="{FF2B5EF4-FFF2-40B4-BE49-F238E27FC236}">
                <a16:creationId xmlns:a16="http://schemas.microsoft.com/office/drawing/2014/main" id="{38201715-4156-AD4A-E982-5EA57D559B58}"/>
              </a:ext>
            </a:extLst>
          </p:cNvPr>
          <p:cNvSpPr/>
          <p:nvPr/>
        </p:nvSpPr>
        <p:spPr>
          <a:xfrm>
            <a:off x="6416040" y="4564380"/>
            <a:ext cx="2236470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Solution Architect</a:t>
            </a:r>
            <a:endParaRPr lang="en-US"/>
          </a:p>
        </p:txBody>
      </p:sp>
      <p:sp>
        <p:nvSpPr>
          <p:cNvPr id="24900" name="Rectangle 24899">
            <a:extLst>
              <a:ext uri="{FF2B5EF4-FFF2-40B4-BE49-F238E27FC236}">
                <a16:creationId xmlns:a16="http://schemas.microsoft.com/office/drawing/2014/main" id="{5F877698-0BBE-8B40-9884-FC21B9B207E7}"/>
              </a:ext>
            </a:extLst>
          </p:cNvPr>
          <p:cNvSpPr/>
          <p:nvPr/>
        </p:nvSpPr>
        <p:spPr>
          <a:xfrm>
            <a:off x="6416040" y="5204460"/>
            <a:ext cx="2236470" cy="7772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Connects advice to a secure, feasible solution path.</a:t>
            </a:r>
            <a:endParaRPr lang="en-US"/>
          </a:p>
        </p:txBody>
      </p:sp>
      <p:sp>
        <p:nvSpPr>
          <p:cNvPr id="24953" name="Rectangle 24952">
            <a:extLst>
              <a:ext uri="{FF2B5EF4-FFF2-40B4-BE49-F238E27FC236}">
                <a16:creationId xmlns:a16="http://schemas.microsoft.com/office/drawing/2014/main" id="{577D3EC0-E832-B66A-07E3-BF4BEA33C0FF}"/>
              </a:ext>
            </a:extLst>
          </p:cNvPr>
          <p:cNvSpPr/>
          <p:nvPr/>
        </p:nvSpPr>
        <p:spPr>
          <a:xfrm>
            <a:off x="9086850" y="4358640"/>
            <a:ext cx="2647950" cy="1973580"/>
          </a:xfrm>
          <a:prstGeom prst="rect">
            <a:avLst/>
          </a:prstGeom>
          <a:solidFill>
            <a:srgbClr val="7030A0"/>
          </a:solidFill>
          <a:ln>
            <a:solidFill>
              <a:srgbClr val="FFFFFF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Team design is a recommended operating model, not a hiring plan. Borrow specialists before you hire them.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60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7" name="Rectangle 25006">
            <a:extLst>
              <a:ext uri="{FF2B5EF4-FFF2-40B4-BE49-F238E27FC236}">
                <a16:creationId xmlns:a16="http://schemas.microsoft.com/office/drawing/2014/main" id="{2C39E253-4595-D553-E772-69C237CD80E6}"/>
              </a:ext>
            </a:extLst>
          </p:cNvPr>
          <p:cNvSpPr/>
          <p:nvPr/>
        </p:nvSpPr>
        <p:spPr>
          <a:xfrm>
            <a:off x="457200" y="457200"/>
            <a:ext cx="11277600" cy="533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0E2A5C"/>
                </a:solidFill>
                <a:effectLst/>
                <a:latin typeface="Trebuchet MS" panose="020B0603020202020204" pitchFamily="34" charset="0"/>
              </a:rPr>
              <a:t>Three levels mark the path to transformation-centric.</a:t>
            </a:r>
            <a:endParaRPr lang="en-US"/>
          </a:p>
        </p:txBody>
      </p:sp>
      <p:sp>
        <p:nvSpPr>
          <p:cNvPr id="25062" name="Rectangle 25061">
            <a:extLst>
              <a:ext uri="{FF2B5EF4-FFF2-40B4-BE49-F238E27FC236}">
                <a16:creationId xmlns:a16="http://schemas.microsoft.com/office/drawing/2014/main" id="{36E360B3-F48D-9ED5-848E-1D5E1F3C2D4A}"/>
              </a:ext>
            </a:extLst>
          </p:cNvPr>
          <p:cNvSpPr/>
          <p:nvPr/>
        </p:nvSpPr>
        <p:spPr>
          <a:xfrm>
            <a:off x="457200" y="1127760"/>
            <a:ext cx="112776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Shift the centre of gravity from the product to the customer's transformation.</a:t>
            </a:r>
            <a:endParaRPr lang="en-US"/>
          </a:p>
        </p:txBody>
      </p:sp>
      <p:sp>
        <p:nvSpPr>
          <p:cNvPr id="25118" name="Rounded Rectangle 25117">
            <a:extLst>
              <a:ext uri="{FF2B5EF4-FFF2-40B4-BE49-F238E27FC236}">
                <a16:creationId xmlns:a16="http://schemas.microsoft.com/office/drawing/2014/main" id="{018F37A5-017C-9626-550B-6EA85216B48B}"/>
              </a:ext>
            </a:extLst>
          </p:cNvPr>
          <p:cNvSpPr/>
          <p:nvPr/>
        </p:nvSpPr>
        <p:spPr>
          <a:xfrm>
            <a:off x="457200" y="1783080"/>
            <a:ext cx="1127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75" name="Rounded Rectangle 25174">
            <a:extLst>
              <a:ext uri="{FF2B5EF4-FFF2-40B4-BE49-F238E27FC236}">
                <a16:creationId xmlns:a16="http://schemas.microsoft.com/office/drawing/2014/main" id="{3D6CC069-59E8-3BBD-4416-C41852B67E82}"/>
              </a:ext>
            </a:extLst>
          </p:cNvPr>
          <p:cNvSpPr/>
          <p:nvPr/>
        </p:nvSpPr>
        <p:spPr>
          <a:xfrm>
            <a:off x="457200" y="1783080"/>
            <a:ext cx="2697480" cy="960120"/>
          </a:xfrm>
          <a:prstGeom prst="roundRect">
            <a:avLst/>
          </a:prstGeom>
          <a:solidFill>
            <a:srgbClr val="064DD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LEVEL 1</a:t>
            </a:r>
          </a:p>
          <a:p>
            <a:pPr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Product-centric</a:t>
            </a:r>
            <a:endParaRPr lang="en-US"/>
          </a:p>
        </p:txBody>
      </p:sp>
      <p:sp>
        <p:nvSpPr>
          <p:cNvPr id="25233" name="Rectangle 25232">
            <a:extLst>
              <a:ext uri="{FF2B5EF4-FFF2-40B4-BE49-F238E27FC236}">
                <a16:creationId xmlns:a16="http://schemas.microsoft.com/office/drawing/2014/main" id="{0139CCD7-247C-A988-835F-0910FC3EFCFC}"/>
              </a:ext>
            </a:extLst>
          </p:cNvPr>
          <p:cNvSpPr/>
          <p:nvPr/>
        </p:nvSpPr>
        <p:spPr>
          <a:xfrm>
            <a:off x="3383280" y="1897380"/>
            <a:ext cx="812292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Readiness workshops, licensing talks and use-case lists.</a:t>
            </a:r>
            <a:endParaRPr lang="en-US"/>
          </a:p>
        </p:txBody>
      </p:sp>
      <p:sp>
        <p:nvSpPr>
          <p:cNvPr id="25292" name="Rectangle 25291">
            <a:extLst>
              <a:ext uri="{FF2B5EF4-FFF2-40B4-BE49-F238E27FC236}">
                <a16:creationId xmlns:a16="http://schemas.microsoft.com/office/drawing/2014/main" id="{C7B1B151-4484-4449-9B46-FCE257CE9B5F}"/>
              </a:ext>
            </a:extLst>
          </p:cNvPr>
          <p:cNvSpPr/>
          <p:nvPr/>
        </p:nvSpPr>
        <p:spPr>
          <a:xfrm>
            <a:off x="3383280" y="2278380"/>
            <a:ext cx="8122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Evidence: product activity and one-off engagements.</a:t>
            </a:r>
            <a:endParaRPr lang="en-US"/>
          </a:p>
        </p:txBody>
      </p:sp>
      <p:sp>
        <p:nvSpPr>
          <p:cNvPr id="25352" name="Rounded Rectangle 25351">
            <a:extLst>
              <a:ext uri="{FF2B5EF4-FFF2-40B4-BE49-F238E27FC236}">
                <a16:creationId xmlns:a16="http://schemas.microsoft.com/office/drawing/2014/main" id="{80DF0779-822A-2857-2D16-2F47C512C118}"/>
              </a:ext>
            </a:extLst>
          </p:cNvPr>
          <p:cNvSpPr/>
          <p:nvPr/>
        </p:nvSpPr>
        <p:spPr>
          <a:xfrm>
            <a:off x="457200" y="2880360"/>
            <a:ext cx="1127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13" name="Rounded Rectangle 25412">
            <a:extLst>
              <a:ext uri="{FF2B5EF4-FFF2-40B4-BE49-F238E27FC236}">
                <a16:creationId xmlns:a16="http://schemas.microsoft.com/office/drawing/2014/main" id="{3BE18283-77E3-A2E1-5769-E80D90EBF600}"/>
              </a:ext>
            </a:extLst>
          </p:cNvPr>
          <p:cNvSpPr/>
          <p:nvPr/>
        </p:nvSpPr>
        <p:spPr>
          <a:xfrm>
            <a:off x="457200" y="2880360"/>
            <a:ext cx="2697480" cy="960120"/>
          </a:xfrm>
          <a:prstGeom prst="roundRect">
            <a:avLst/>
          </a:prstGeom>
          <a:solidFill>
            <a:srgbClr val="00B397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LEVEL 2</a:t>
            </a:r>
          </a:p>
          <a:p>
            <a:pPr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Process-centric</a:t>
            </a:r>
            <a:endParaRPr lang="en-US"/>
          </a:p>
        </p:txBody>
      </p:sp>
      <p:sp>
        <p:nvSpPr>
          <p:cNvPr id="25475" name="Rectangle 25474">
            <a:extLst>
              <a:ext uri="{FF2B5EF4-FFF2-40B4-BE49-F238E27FC236}">
                <a16:creationId xmlns:a16="http://schemas.microsoft.com/office/drawing/2014/main" id="{FB1BCA7E-30A9-EE9A-F643-74597D0B5819}"/>
              </a:ext>
            </a:extLst>
          </p:cNvPr>
          <p:cNvSpPr/>
          <p:nvPr/>
        </p:nvSpPr>
        <p:spPr>
          <a:xfrm>
            <a:off x="3383280" y="2994660"/>
            <a:ext cx="812292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Workflow redesign, prioritised roadmaps, defendable cases.</a:t>
            </a:r>
            <a:endParaRPr lang="en-US"/>
          </a:p>
        </p:txBody>
      </p:sp>
      <p:sp>
        <p:nvSpPr>
          <p:cNvPr id="25538" name="Rectangle 25537">
            <a:extLst>
              <a:ext uri="{FF2B5EF4-FFF2-40B4-BE49-F238E27FC236}">
                <a16:creationId xmlns:a16="http://schemas.microsoft.com/office/drawing/2014/main" id="{FCFD20D6-8DAF-8D7C-D0AF-755ADD177C07}"/>
              </a:ext>
            </a:extLst>
          </p:cNvPr>
          <p:cNvSpPr/>
          <p:nvPr/>
        </p:nvSpPr>
        <p:spPr>
          <a:xfrm>
            <a:off x="3383280" y="3375660"/>
            <a:ext cx="8122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Evidence: repeatable offers, KPI baselines, adoption plans.</a:t>
            </a:r>
            <a:endParaRPr lang="en-US"/>
          </a:p>
        </p:txBody>
      </p:sp>
      <p:sp>
        <p:nvSpPr>
          <p:cNvPr id="25602" name="Rounded Rectangle 25601">
            <a:extLst>
              <a:ext uri="{FF2B5EF4-FFF2-40B4-BE49-F238E27FC236}">
                <a16:creationId xmlns:a16="http://schemas.microsoft.com/office/drawing/2014/main" id="{4B1B8EB0-D3CD-66B0-FFA3-EC1F7837ABE5}"/>
              </a:ext>
            </a:extLst>
          </p:cNvPr>
          <p:cNvSpPr/>
          <p:nvPr/>
        </p:nvSpPr>
        <p:spPr>
          <a:xfrm>
            <a:off x="457200" y="3977640"/>
            <a:ext cx="11277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2A5C">
                <a:alpha val="3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67" name="Rounded Rectangle 25666">
            <a:extLst>
              <a:ext uri="{FF2B5EF4-FFF2-40B4-BE49-F238E27FC236}">
                <a16:creationId xmlns:a16="http://schemas.microsoft.com/office/drawing/2014/main" id="{0BA8C8EE-AB94-09E8-0F04-B4AC5BBE9780}"/>
              </a:ext>
            </a:extLst>
          </p:cNvPr>
          <p:cNvSpPr/>
          <p:nvPr/>
        </p:nvSpPr>
        <p:spPr>
          <a:xfrm>
            <a:off x="457200" y="3977640"/>
            <a:ext cx="2697480" cy="960120"/>
          </a:xfrm>
          <a:prstGeom prst="roundRect">
            <a:avLst/>
          </a:prstGeom>
          <a:solidFill>
            <a:srgbClr val="A224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LEVEL 3</a:t>
            </a:r>
          </a:p>
          <a:p>
            <a:pPr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Trebuchet MS" panose="020B0603020202020204" pitchFamily="34" charset="0"/>
              </a:rPr>
              <a:t>Transformation-centric</a:t>
            </a:r>
            <a:endParaRPr lang="en-US"/>
          </a:p>
        </p:txBody>
      </p:sp>
      <p:sp>
        <p:nvSpPr>
          <p:cNvPr id="25733" name="Rectangle 25732">
            <a:extLst>
              <a:ext uri="{FF2B5EF4-FFF2-40B4-BE49-F238E27FC236}">
                <a16:creationId xmlns:a16="http://schemas.microsoft.com/office/drawing/2014/main" id="{7B231FFC-1397-1268-AD04-BE5061A3BC18}"/>
              </a:ext>
            </a:extLst>
          </p:cNvPr>
          <p:cNvSpPr/>
          <p:nvPr/>
        </p:nvSpPr>
        <p:spPr>
          <a:xfrm>
            <a:off x="3383280" y="4091940"/>
            <a:ext cx="812292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E2A5C"/>
                </a:solidFill>
                <a:effectLst/>
                <a:latin typeface="Calibri" panose="020F0502020204030204" pitchFamily="34" charset="0"/>
              </a:rPr>
              <a:t>Executive AI strategy, operating model and value services.</a:t>
            </a:r>
            <a:endParaRPr lang="en-US"/>
          </a:p>
        </p:txBody>
      </p:sp>
      <p:sp>
        <p:nvSpPr>
          <p:cNvPr id="25800" name="Rectangle 25799">
            <a:extLst>
              <a:ext uri="{FF2B5EF4-FFF2-40B4-BE49-F238E27FC236}">
                <a16:creationId xmlns:a16="http://schemas.microsoft.com/office/drawing/2014/main" id="{97E39C15-6329-F298-C389-E76C278C256A}"/>
              </a:ext>
            </a:extLst>
          </p:cNvPr>
          <p:cNvSpPr/>
          <p:nvPr/>
        </p:nvSpPr>
        <p:spPr>
          <a:xfrm>
            <a:off x="3383280" y="4472940"/>
            <a:ext cx="812292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4546A"/>
                </a:solidFill>
                <a:effectLst/>
                <a:latin typeface="Calibri" panose="020F0502020204030204" pitchFamily="34" charset="0"/>
              </a:rPr>
              <a:t>Evidence: industry plays, value cadence, managed advisory.</a:t>
            </a:r>
            <a:endParaRPr lang="en-US"/>
          </a:p>
        </p:txBody>
      </p:sp>
      <p:sp>
        <p:nvSpPr>
          <p:cNvPr id="25868" name="Rectangle 25867">
            <a:extLst>
              <a:ext uri="{FF2B5EF4-FFF2-40B4-BE49-F238E27FC236}">
                <a16:creationId xmlns:a16="http://schemas.microsoft.com/office/drawing/2014/main" id="{2E4331A8-6461-A912-1629-5D698FFDBA38}"/>
              </a:ext>
            </a:extLst>
          </p:cNvPr>
          <p:cNvSpPr/>
          <p:nvPr/>
        </p:nvSpPr>
        <p:spPr>
          <a:xfrm>
            <a:off x="457200" y="5148090"/>
            <a:ext cx="11277600" cy="80772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Next step: </a:t>
            </a:r>
            <a:r>
              <a:rPr lang="en-US" sz="160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assess your offers, skills, evidence and operating model against the level you are aiming for.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07FB6369-01C8-E221-58F4-4DEDE1419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646420" y="-86850"/>
            <a:ext cx="899160" cy="11277600"/>
          </a:xfrm>
          <a:prstGeom prst="roundRect">
            <a:avLst>
              <a:gd name="adj" fmla="val 3633"/>
            </a:avLst>
          </a:prstGeom>
          <a:noFill/>
          <a:ln w="15875">
            <a:gradFill flip="none" rotWithShape="1">
              <a:gsLst>
                <a:gs pos="92000">
                  <a:srgbClr val="064DD5"/>
                </a:gs>
                <a:gs pos="60000">
                  <a:srgbClr val="00B291"/>
                </a:gs>
                <a:gs pos="38000">
                  <a:srgbClr val="155185"/>
                </a:gs>
                <a:gs pos="3000">
                  <a:srgbClr val="16876A"/>
                </a:gs>
                <a:gs pos="75000">
                  <a:srgbClr val="FFA200"/>
                </a:gs>
                <a:gs pos="20000">
                  <a:srgbClr val="CB85FF"/>
                </a:gs>
              </a:gsLst>
              <a:lin ang="2700000" scaled="1"/>
              <a:tileRect/>
            </a:gradFill>
            <a:headEnd type="none" w="lg" len="med"/>
            <a:tailEnd type="none" w="lg" len="med"/>
          </a:ln>
          <a:effectLst>
            <a:outerShdw blurRad="63500" dist="635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2742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02318573722628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AITP-GTM - Diamond Edition 8.5.26 ">
  <a:themeElements>
    <a:clrScheme name="AITP-GTM August 2026">
      <a:dk1>
        <a:srgbClr val="1A1A1A"/>
      </a:dk1>
      <a:lt1>
        <a:srgbClr val="FFFFFF"/>
      </a:lt1>
      <a:dk2>
        <a:srgbClr val="00599F"/>
      </a:dk2>
      <a:lt2>
        <a:srgbClr val="E6E6E6"/>
      </a:lt2>
      <a:accent1>
        <a:srgbClr val="7846C0"/>
      </a:accent1>
      <a:accent2>
        <a:srgbClr val="E099D5"/>
      </a:accent2>
      <a:accent3>
        <a:srgbClr val="C763BB"/>
      </a:accent3>
      <a:accent4>
        <a:srgbClr val="BEBCF6"/>
      </a:accent4>
      <a:accent5>
        <a:srgbClr val="8581FD"/>
      </a:accent5>
      <a:accent6>
        <a:srgbClr val="52C4E6"/>
      </a:accent6>
      <a:hlink>
        <a:srgbClr val="0070C0"/>
      </a:hlink>
      <a:folHlink>
        <a:srgbClr val="4CB1FE"/>
      </a:folHlink>
    </a:clrScheme>
    <a:fontScheme name="Microsoft Brand 2026">
      <a:majorFont>
        <a:latin typeface="Segoe Sans Display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+mn-ea"/>
            <a:cs typeface="+mn-cs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(P27) - AITP-GTM Look and Feel - Template (v3.0 MA).potx" id="{A9B233F6-71CC-4E92-A5BB-5701AF65ECAC}" vid="{F28FE32F-348B-476B-81A7-53D69725F56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Presenters xmlns="ff412b23-9985-4381-b4de-71908f498541">
      <UserInfo>
        <DisplayName/>
        <AccountId xsi:nil="true"/>
        <AccountType/>
      </UserInfo>
    </Presenters>
    <SummaryofCall xmlns="ff412b23-9985-4381-b4de-71908f498541" xsi:nil="true"/>
    <CATPartnerOwner xmlns="ff412b23-9985-4381-b4de-71908f498541">
      <UserInfo>
        <DisplayName/>
        <AccountId xsi:nil="true"/>
        <AccountType/>
      </UserInfo>
    </CATPartnerOwner>
    <Tags xmlns="ff412b23-9985-4381-b4de-71908f498541" xsi:nil="true"/>
    <TaxCatchAll xmlns="2467c575-9e02-4fb5-a9ec-797ff966d791" xsi:nil="true"/>
    <lcf76f155ced4ddcb4097134ff3c332f xmlns="ff412b23-9985-4381-b4de-71908f49854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99158747E674CAB7E1ADB02FE4797" ma:contentTypeVersion="20" ma:contentTypeDescription="Create a new document." ma:contentTypeScope="" ma:versionID="702ea2e40dcd4c7f2d6cf6c8c7443bd0">
  <xsd:schema xmlns:xsd="http://www.w3.org/2001/XMLSchema" xmlns:xs="http://www.w3.org/2001/XMLSchema" xmlns:p="http://schemas.microsoft.com/office/2006/metadata/properties" xmlns:ns1="http://schemas.microsoft.com/sharepoint/v3" xmlns:ns2="ff412b23-9985-4381-b4de-71908f498541" xmlns:ns3="2467c575-9e02-4fb5-a9ec-797ff966d791" targetNamespace="http://schemas.microsoft.com/office/2006/metadata/properties" ma:root="true" ma:fieldsID="00016ba4bf8e65e967f41e564a072037" ns1:_="" ns2:_="" ns3:_="">
    <xsd:import namespace="http://schemas.microsoft.com/sharepoint/v3"/>
    <xsd:import namespace="ff412b23-9985-4381-b4de-71908f498541"/>
    <xsd:import namespace="2467c575-9e02-4fb5-a9ec-797ff966d791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HasDigitalSignature" minOccurs="0"/>
                <xsd:element ref="ns2:DigitalSignatureProvider" minOccurs="0"/>
                <xsd:element ref="ns1:_ip_UnifiedCompliancePolicyProperties" minOccurs="0"/>
                <xsd:element ref="ns1:_ip_UnifiedCompliancePolicyUIAction" minOccurs="0"/>
                <xsd:element ref="ns2:Tags" minOccurs="0"/>
                <xsd:element ref="ns2:Presenter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SummaryofCall" minOccurs="0"/>
                <xsd:element ref="ns2:CATPartnerOwner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12b23-9985-4381-b4de-71908f498541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asDigitalSignature" ma:index="12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13" nillable="true" ma:displayName="Signature provider" ma:internalName="DigitalSignatureProvider" ma:readOnly="true">
      <xsd:simpleType>
        <xsd:restriction base="dms:Text"/>
      </xsd:simpleType>
    </xsd:element>
    <xsd:element name="Tags" ma:index="16" nillable="true" ma:displayName="Tags" ma:description="Describes the content" ma:format="Dropdown" ma:internalName="Tags">
      <xsd:simpleType>
        <xsd:union memberTypes="dms:Text">
          <xsd:simpleType>
            <xsd:restriction base="dms:Choice">
              <xsd:enumeration value="A365"/>
              <xsd:enumeration value="M365"/>
              <xsd:enumeration value="Cowork"/>
              <xsd:enumeration value="Copilot Studio"/>
              <xsd:enumeration value="Community"/>
              <xsd:enumeration value="Copilot Agent Kit"/>
              <xsd:enumeration value="AMA Session"/>
              <xsd:enumeration value="Governance"/>
              <xsd:enumeration value="Other"/>
            </xsd:restriction>
          </xsd:simpleType>
        </xsd:union>
      </xsd:simpleType>
    </xsd:element>
    <xsd:element name="Presenters" ma:index="17" nillable="true" ma:displayName="Presenters" ma:description="Presenters" ma:format="Dropdown" ma:list="UserInfo" ma:SharePointGroup="0" ma:internalName="Present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ummaryofCall" ma:index="22" nillable="true" ma:displayName="Summary of Call" ma:format="Dropdown" ma:internalName="SummaryofCall">
      <xsd:simpleType>
        <xsd:restriction base="dms:Note"/>
      </xsd:simpleType>
    </xsd:element>
    <xsd:element name="CATPartnerOwner" ma:index="23" nillable="true" ma:displayName="CAT Partner Owner" ma:format="Dropdown" ma:list="UserInfo" ma:SharePointGroup="0" ma:internalName="CATPartner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67c575-9e02-4fb5-a9ec-797ff966d791" elementFormDefault="qualified">
    <xsd:import namespace="http://schemas.microsoft.com/office/2006/documentManagement/types"/>
    <xsd:import namespace="http://schemas.microsoft.com/office/infopath/2007/PartnerControls"/>
    <xsd:element name="TaxCatchAll" ma:index="26" nillable="true" ma:displayName="Taxonomy Catch All Column" ma:hidden="true" ma:list="{5da3174c-bcf8-41d5-a253-2eb5edf8dd9d}" ma:internalName="TaxCatchAll" ma:showField="CatchAllData" ma:web="2467c575-9e02-4fb5-a9ec-797ff966d7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B7AE9B-84C6-433F-9E6A-A0C4032AC88E}">
  <ds:schemaRefs>
    <ds:schemaRef ds:uri="0f2bd40b-fb03-40e7-b79f-5fd54442dfa3"/>
    <ds:schemaRef ds:uri="5779077b-4133-4972-85b9-8f65bd61099a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9964D712-EA15-4890-A641-72BA02037FF7}"/>
</file>

<file path=customXml/itemProps3.xml><?xml version="1.0" encoding="utf-8"?>
<ds:datastoreItem xmlns:ds="http://schemas.openxmlformats.org/officeDocument/2006/customXml" ds:itemID="{1220CE15-950B-4005-8EB9-4C04B72FBD5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4181</Words>
  <Application>Microsoft Macintosh PowerPoint</Application>
  <PresentationFormat>Widescreen</PresentationFormat>
  <Paragraphs>641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Segoe Sans Display Semibold</vt:lpstr>
      <vt:lpstr>Segoe Sans Text</vt:lpstr>
      <vt:lpstr>Segoe Sans Text Semibold</vt:lpstr>
      <vt:lpstr>Trebuchet MS</vt:lpstr>
      <vt:lpstr>Wingdings</vt:lpstr>
      <vt:lpstr>Office Theme</vt:lpstr>
      <vt:lpstr>1_AITP-GTM - Diamond Edition 8.5.26 </vt:lpstr>
      <vt:lpstr>FRONTIER PARTNER INCUBATION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Dina Zukic</cp:lastModifiedBy>
  <cp:revision>232</cp:revision>
  <dcterms:created xsi:type="dcterms:W3CDTF">2026-09-14T08:38:41Z</dcterms:created>
  <dcterms:modified xsi:type="dcterms:W3CDTF">2026-10-14T08:22:40Z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0x01010060899158747E674CAB7E1ADB02FE4797</vt:lpwstr>
  </property>
  <property fmtid="{D5CDD505-2E9C-101B-9397-08002B2CF9AE}" pid="3" name="MediaServiceImageTags">
    <vt:lpwstr/>
  </property>
</Properties>
</file>